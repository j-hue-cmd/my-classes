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5" r:id="rId12"/>
    <p:sldId id="296" r:id="rId13"/>
    <p:sldId id="299" r:id="rId14"/>
    <p:sldId id="300" r:id="rId15"/>
    <p:sldId id="301" r:id="rId16"/>
    <p:sldId id="292" r:id="rId17"/>
    <p:sldId id="298" r:id="rId18"/>
    <p:sldId id="297" r:id="rId19"/>
    <p:sldId id="293" r:id="rId20"/>
    <p:sldId id="29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38" autoAdjust="0"/>
  </p:normalViewPr>
  <p:slideViewPr>
    <p:cSldViewPr snapToGrid="0">
      <p:cViewPr>
        <p:scale>
          <a:sx n="50" d="100"/>
          <a:sy n="50" d="100"/>
        </p:scale>
        <p:origin x="1934" y="8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453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3890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213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54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464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854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35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940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6086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693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7619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352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0458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604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5815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3560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831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3400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BE6EF5-D501-45B9-BF1D-4F3958A2C023}" type="datetimeFigureOut">
              <a:rPr lang="en-AU" smtClean="0"/>
              <a:t>30/01/2021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609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6A14-583D-428B-BCEA-39BC26517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0918" y="0"/>
            <a:ext cx="8574622" cy="2616199"/>
          </a:xfrm>
        </p:spPr>
        <p:txBody>
          <a:bodyPr/>
          <a:lstStyle/>
          <a:p>
            <a:pPr algn="ctr"/>
            <a:r>
              <a:rPr lang="en-AU" dirty="0"/>
              <a:t>Database Systems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53E97-050B-432A-8023-71AA641A2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8863" y="2782682"/>
            <a:ext cx="6481012" cy="384270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Dr. Rasool Hisham</a:t>
            </a:r>
          </a:p>
          <a:p>
            <a:pPr algn="ctr"/>
            <a:r>
              <a:rPr lang="en-US" b="1" dirty="0"/>
              <a:t>For 3</a:t>
            </a:r>
            <a:r>
              <a:rPr lang="en-US" b="1" baseline="30000" dirty="0"/>
              <a:t>rd</a:t>
            </a:r>
            <a:r>
              <a:rPr lang="en-US" b="1" dirty="0"/>
              <a:t> year students, 1</a:t>
            </a:r>
            <a:r>
              <a:rPr lang="en-US" b="1" baseline="30000" dirty="0"/>
              <a:t>st</a:t>
            </a:r>
            <a:r>
              <a:rPr lang="en-US" b="1" dirty="0"/>
              <a:t> semester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Al-</a:t>
            </a:r>
            <a:r>
              <a:rPr lang="en-US" b="1" dirty="0" err="1"/>
              <a:t>Nahrain</a:t>
            </a:r>
            <a:r>
              <a:rPr lang="en-US" b="1" dirty="0"/>
              <a:t> University</a:t>
            </a:r>
          </a:p>
          <a:p>
            <a:pPr algn="l"/>
            <a:r>
              <a:rPr lang="en-US" b="1" dirty="0"/>
              <a:t>College of Science</a:t>
            </a:r>
          </a:p>
          <a:p>
            <a:pPr algn="l"/>
            <a:r>
              <a:rPr lang="en-US" b="1" dirty="0"/>
              <a:t>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2563199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Cartesian Product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654342"/>
            <a:ext cx="9877894" cy="3832058"/>
          </a:xfrm>
        </p:spPr>
        <p:txBody>
          <a:bodyPr>
            <a:normAutofit/>
          </a:bodyPr>
          <a:lstStyle/>
          <a:p>
            <a:r>
              <a:rPr lang="en-US" sz="2800" dirty="0"/>
              <a:t>The Cartesian product operation defines a relation that is the concatenation of every tuples of relation R with every tuples of relation S. </a:t>
            </a:r>
          </a:p>
          <a:p>
            <a:r>
              <a:rPr lang="en-US" sz="2800" dirty="0"/>
              <a:t>The result of Cartesian product contains all attributes from both relations R and S.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60455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Relational Algebra Symbol for Cartesian Product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654341"/>
            <a:ext cx="9877894" cy="4217069"/>
          </a:xfrm>
        </p:spPr>
        <p:txBody>
          <a:bodyPr>
            <a:normAutofit/>
          </a:bodyPr>
          <a:lstStyle/>
          <a:p>
            <a:r>
              <a:rPr lang="en-US" sz="2800" dirty="0"/>
              <a:t>The Cartesian product between the two relations R and S is denoted by  R × S.</a:t>
            </a:r>
          </a:p>
          <a:p>
            <a:r>
              <a:rPr lang="en-US" sz="2800" dirty="0"/>
              <a:t>Note: If there are n1 tuples in relation R and n2 tuples in S, then the number of tuples in R × S is n1* n2.</a:t>
            </a:r>
          </a:p>
          <a:p>
            <a:r>
              <a:rPr lang="en-US" sz="2800" dirty="0"/>
              <a:t>Example: If there are 5 tuples in relation “R” and 2 tuples in relation “S” then the number of tuples in R × S is 5 * 2 = 10.</a:t>
            </a:r>
          </a:p>
        </p:txBody>
      </p:sp>
    </p:spTree>
    <p:extLst>
      <p:ext uri="{BB962C8B-B14F-4D97-AF65-F5344CB8AC3E}">
        <p14:creationId xmlns:p14="http://schemas.microsoft.com/office/powerpoint/2010/main" val="141293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Cartesian Product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654341"/>
            <a:ext cx="9877894" cy="5003133"/>
          </a:xfrm>
        </p:spPr>
        <p:txBody>
          <a:bodyPr>
            <a:normAutofit/>
          </a:bodyPr>
          <a:lstStyle/>
          <a:p>
            <a:r>
              <a:rPr lang="en-US" sz="2800" dirty="0"/>
              <a:t>To illustrate Cartesian product operation, consider two relations R and S as given later: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Determine R × S:</a:t>
            </a:r>
          </a:p>
          <a:p>
            <a:r>
              <a:rPr lang="en-US" sz="2800" dirty="0"/>
              <a:t>Note: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No. of tuples in R ×S = 2* 3 = 6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No. of attributes in R ×S = 2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15A93CB9-F539-41B7-A284-8E37B1DE2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858" y="2278144"/>
            <a:ext cx="4430402" cy="112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>
            <a:extLst>
              <a:ext uri="{FF2B5EF4-FFF2-40B4-BE49-F238E27FC236}">
                <a16:creationId xmlns:a16="http://schemas.microsoft.com/office/drawing/2014/main" id="{5880DD10-1A2B-4578-BEE5-708296761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741" y="4095581"/>
            <a:ext cx="2842030" cy="1984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460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Join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654341"/>
            <a:ext cx="9877894" cy="2917659"/>
          </a:xfrm>
        </p:spPr>
        <p:txBody>
          <a:bodyPr>
            <a:normAutofit/>
          </a:bodyPr>
          <a:lstStyle/>
          <a:p>
            <a:r>
              <a:rPr lang="en-US" sz="2800" dirty="0"/>
              <a:t>Join operation combines two relations to form a new relation. The tables should be joined based on a common column. </a:t>
            </a:r>
          </a:p>
          <a:p>
            <a:r>
              <a:rPr lang="en-US" sz="2800" dirty="0"/>
              <a:t>The common column should be compatible in terms of domain.</a:t>
            </a:r>
          </a:p>
        </p:txBody>
      </p:sp>
    </p:spTree>
    <p:extLst>
      <p:ext uri="{BB962C8B-B14F-4D97-AF65-F5344CB8AC3E}">
        <p14:creationId xmlns:p14="http://schemas.microsoft.com/office/powerpoint/2010/main" val="15216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Types of Join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654341"/>
            <a:ext cx="9877894" cy="2917659"/>
          </a:xfrm>
        </p:spPr>
        <p:txBody>
          <a:bodyPr>
            <a:normAutofit/>
          </a:bodyPr>
          <a:lstStyle/>
          <a:p>
            <a:endParaRPr lang="en-US" sz="2800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8013C80C-18C0-48BB-BDBA-0B9633A6F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6" y="2292014"/>
            <a:ext cx="9715505" cy="255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9493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Natural Join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654341"/>
            <a:ext cx="9877894" cy="4569996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The natural join performs an </a:t>
            </a:r>
            <a:r>
              <a:rPr lang="en-US" sz="2800" dirty="0" err="1"/>
              <a:t>equi</a:t>
            </a:r>
            <a:r>
              <a:rPr lang="en-US" sz="2800" dirty="0"/>
              <a:t> join of the two relations R and S over all common attributes.</a:t>
            </a:r>
          </a:p>
          <a:p>
            <a:r>
              <a:rPr lang="en-US" sz="2800" dirty="0"/>
              <a:t> One occurrence of each common attribute is eliminated from the result.</a:t>
            </a:r>
          </a:p>
          <a:p>
            <a:r>
              <a:rPr lang="en-US" sz="2800" dirty="0"/>
              <a:t> In other words a natural join will remove duplicate attribute.</a:t>
            </a:r>
          </a:p>
          <a:p>
            <a:r>
              <a:rPr lang="en-US" sz="2800" dirty="0"/>
              <a:t> In most systems a natural join will require that the attributes have the same name to identity the attributes to be used in the join.</a:t>
            </a:r>
          </a:p>
          <a:p>
            <a:r>
              <a:rPr lang="en-US" sz="2800" dirty="0"/>
              <a:t> This may require a renaming mechanism. </a:t>
            </a:r>
          </a:p>
          <a:p>
            <a:r>
              <a:rPr lang="en-US" sz="2800" dirty="0"/>
              <a:t>Even if the attributes do not have same name, we can perform the natural join provided that the attributes should be of same domain.</a:t>
            </a:r>
          </a:p>
        </p:txBody>
      </p:sp>
    </p:spTree>
    <p:extLst>
      <p:ext uri="{BB962C8B-B14F-4D97-AF65-F5344CB8AC3E}">
        <p14:creationId xmlns:p14="http://schemas.microsoft.com/office/powerpoint/2010/main" val="253502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Natural Join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654341"/>
            <a:ext cx="9877894" cy="4569996"/>
          </a:xfrm>
        </p:spPr>
        <p:txBody>
          <a:bodyPr>
            <a:normAutofit/>
          </a:bodyPr>
          <a:lstStyle/>
          <a:p>
            <a:r>
              <a:rPr lang="en-US" sz="2800" dirty="0"/>
              <a:t>For example a JOIN operation can be specified as a CARTESIAN PRODUCT followed by a SELECT operation: </a:t>
            </a:r>
            <a:endParaRPr lang="en-AU" sz="2800" dirty="0"/>
          </a:p>
          <a:p>
            <a:r>
              <a:rPr lang="en-US" sz="2800" b="1" dirty="0"/>
              <a:t>σ</a:t>
            </a:r>
            <a:r>
              <a:rPr lang="en-US" sz="2800" b="1" baseline="-25000" dirty="0"/>
              <a:t> </a:t>
            </a:r>
            <a:r>
              <a:rPr lang="en-US" sz="2800" baseline="-25000" dirty="0"/>
              <a:t>&lt;condition&gt; </a:t>
            </a:r>
            <a:r>
              <a:rPr lang="en-US" sz="2800" dirty="0"/>
              <a:t>(R </a:t>
            </a:r>
            <a:r>
              <a:rPr lang="en-US" sz="2800" b="1" dirty="0"/>
              <a:t>x</a:t>
            </a:r>
            <a:r>
              <a:rPr lang="en-US" sz="2800" dirty="0"/>
              <a:t> S) </a:t>
            </a:r>
            <a:endParaRPr lang="en-AU" sz="2800" dirty="0"/>
          </a:p>
          <a:p>
            <a:r>
              <a:rPr lang="en-US" sz="2800" dirty="0"/>
              <a:t>If the </a:t>
            </a:r>
            <a:r>
              <a:rPr lang="en-US" sz="2800" baseline="-25000" dirty="0"/>
              <a:t>&lt;condition&gt;  </a:t>
            </a:r>
            <a:r>
              <a:rPr lang="en-US" sz="2800" dirty="0"/>
              <a:t>is the condition of </a:t>
            </a:r>
            <a:r>
              <a:rPr lang="en-US" sz="2800" dirty="0" err="1"/>
              <a:t>equi</a:t>
            </a:r>
            <a:r>
              <a:rPr lang="en-US" sz="2800" dirty="0"/>
              <a:t> join</a:t>
            </a:r>
            <a:r>
              <a:rPr lang="en-US" sz="2800" baseline="-25000" dirty="0"/>
              <a:t> </a:t>
            </a:r>
            <a:r>
              <a:rPr lang="en-US" sz="2800" dirty="0"/>
              <a:t>for</a:t>
            </a:r>
            <a:r>
              <a:rPr lang="en-US" sz="2800" baseline="-25000" dirty="0"/>
              <a:t> </a:t>
            </a:r>
            <a:r>
              <a:rPr lang="en-US" sz="2800" dirty="0"/>
              <a:t>R and S over all common attributes, it will equivalent to:</a:t>
            </a:r>
          </a:p>
          <a:p>
            <a:r>
              <a:rPr lang="en-US" sz="2800" dirty="0"/>
              <a:t>R      S</a:t>
            </a:r>
            <a:endParaRPr lang="en-AU" sz="2800" dirty="0"/>
          </a:p>
          <a:p>
            <a:endParaRPr lang="en-US" sz="3200" dirty="0"/>
          </a:p>
        </p:txBody>
      </p:sp>
      <p:pic>
        <p:nvPicPr>
          <p:cNvPr id="21523" name="Picture 19" descr="9900040520003F87_134_">
            <a:extLst>
              <a:ext uri="{FF2B5EF4-FFF2-40B4-BE49-F238E27FC236}">
                <a16:creationId xmlns:a16="http://schemas.microsoft.com/office/drawing/2014/main" id="{23FEF92E-0DFD-4EE0-95F3-F12C7C841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699" y="4786564"/>
            <a:ext cx="380247" cy="304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337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Example of Natural Join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654342"/>
            <a:ext cx="9877894" cy="2420354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Consider two relations EMPLOYEE and DEPARTMENT.</a:t>
            </a:r>
          </a:p>
          <a:p>
            <a:r>
              <a:rPr lang="en-US" sz="2800" dirty="0"/>
              <a:t> Let the common attribute to the two relations be DEPTNUMBER. The two relations are shown later:</a:t>
            </a:r>
            <a:endParaRPr lang="en-AU" sz="2800" dirty="0"/>
          </a:p>
          <a:p>
            <a:r>
              <a:rPr lang="en-US" sz="2800" dirty="0"/>
              <a:t>It is worth to note that Natural join operation is associative. i.e., If R, S, and T are three relations then:</a:t>
            </a:r>
            <a:endParaRPr lang="en-AU" sz="2800" dirty="0"/>
          </a:p>
          <a:p>
            <a:endParaRPr lang="en-US" sz="3600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02257073-F4CD-47B1-AD12-8484A65DC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825" y="3757866"/>
            <a:ext cx="4990073" cy="31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>
            <a:extLst>
              <a:ext uri="{FF2B5EF4-FFF2-40B4-BE49-F238E27FC236}">
                <a16:creationId xmlns:a16="http://schemas.microsoft.com/office/drawing/2014/main" id="{207398FE-5E52-415D-A9A4-134010ACC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411" y="4335295"/>
            <a:ext cx="7806548" cy="1119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>
            <a:extLst>
              <a:ext uri="{FF2B5EF4-FFF2-40B4-BE49-F238E27FC236}">
                <a16:creationId xmlns:a16="http://schemas.microsoft.com/office/drawing/2014/main" id="{523D94FA-FBDB-44FE-944F-E9B82A5A1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791" y="5729038"/>
            <a:ext cx="6229233" cy="993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5814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 err="1"/>
              <a:t>Equi</a:t>
            </a:r>
            <a:r>
              <a:rPr lang="en-US" dirty="0"/>
              <a:t> Join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448802"/>
            <a:ext cx="9877894" cy="1551072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A special case of condition joins where the condition C contains only equality.</a:t>
            </a:r>
          </a:p>
          <a:p>
            <a:r>
              <a:rPr lang="en-US" sz="2800" dirty="0"/>
              <a:t>Example of </a:t>
            </a:r>
            <a:r>
              <a:rPr lang="en-US" sz="2800" dirty="0" err="1"/>
              <a:t>Equi</a:t>
            </a:r>
            <a:r>
              <a:rPr lang="en-US" sz="2800" dirty="0"/>
              <a:t> Join: Given the two relations STAFF and DEPT, produce a list of staff and the departments they work in.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B492130B-36F8-43A0-92FD-A420A6CE6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226" y="3027097"/>
            <a:ext cx="8503908" cy="126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8A735E-5FFA-499E-BB54-8A0A396172E5}"/>
              </a:ext>
            </a:extLst>
          </p:cNvPr>
          <p:cNvSpPr/>
          <p:nvPr/>
        </p:nvSpPr>
        <p:spPr>
          <a:xfrm>
            <a:off x="1837323" y="4484952"/>
            <a:ext cx="833337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/>
              <a:t>Answer for the earlier query is </a:t>
            </a:r>
            <a:r>
              <a:rPr lang="en-US" sz="2600" dirty="0" err="1"/>
              <a:t>equi</a:t>
            </a:r>
            <a:r>
              <a:rPr lang="en-US" sz="2600" dirty="0"/>
              <a:t>-join of STAFF and DEPT:</a:t>
            </a:r>
            <a:endParaRPr lang="en-AU" sz="2600" dirty="0"/>
          </a:p>
        </p:txBody>
      </p:sp>
      <p:pic>
        <p:nvPicPr>
          <p:cNvPr id="23555" name="Picture 3">
            <a:extLst>
              <a:ext uri="{FF2B5EF4-FFF2-40B4-BE49-F238E27FC236}">
                <a16:creationId xmlns:a16="http://schemas.microsoft.com/office/drawing/2014/main" id="{E37B27B5-2535-4822-8FF5-9356A4813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226" y="5193233"/>
            <a:ext cx="8179547" cy="126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8187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Theta Join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448801"/>
            <a:ext cx="9877894" cy="4518862"/>
          </a:xfrm>
        </p:spPr>
        <p:txBody>
          <a:bodyPr>
            <a:normAutofit/>
          </a:bodyPr>
          <a:lstStyle/>
          <a:p>
            <a:r>
              <a:rPr lang="en-US" sz="2800" dirty="0"/>
              <a:t>A conditional join in which we impose condition other than equality condition.</a:t>
            </a:r>
          </a:p>
          <a:p>
            <a:r>
              <a:rPr lang="en-US" sz="2800" dirty="0"/>
              <a:t> If equality condition is imposed then theta join become </a:t>
            </a:r>
            <a:r>
              <a:rPr lang="en-US" sz="2800" dirty="0" err="1"/>
              <a:t>equi</a:t>
            </a:r>
            <a:r>
              <a:rPr lang="en-US" sz="2800" dirty="0"/>
              <a:t> join. The symbol θ stands for the comparison operator which could be &gt;, &lt;, &gt;=, &lt;=. </a:t>
            </a:r>
          </a:p>
          <a:p>
            <a:r>
              <a:rPr lang="en-US" sz="3200" i="1" dirty="0"/>
              <a:t>Expression of Theta Join:</a:t>
            </a:r>
            <a:endParaRPr lang="en-AU" sz="3200" dirty="0"/>
          </a:p>
          <a:p>
            <a:pPr marL="0" indent="0">
              <a:buNone/>
            </a:pPr>
            <a:r>
              <a:rPr lang="en-US" sz="3200" dirty="0"/>
              <a:t>			σ θ(R × S)</a:t>
            </a:r>
            <a:endParaRPr lang="en-AU" sz="32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2519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Outer Join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225218"/>
            <a:ext cx="9877894" cy="1752599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In outer join, matched pairs that retained unmatched values in other tables are left null.</a:t>
            </a:r>
          </a:p>
          <a:p>
            <a:r>
              <a:rPr lang="en-US" sz="2800" dirty="0"/>
              <a:t>The pictorial representation of the left and the right outer join of two relations R and S are shown in the figure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395156-2617-40A9-A9DB-179A6FFBE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436" y="3027946"/>
            <a:ext cx="5678787" cy="117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9E742B3A-F1DA-4DE4-84E2-1EB47D180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545" y="4339386"/>
            <a:ext cx="7648910" cy="2518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1248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Types of Outer Join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448801"/>
            <a:ext cx="9877894" cy="50482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Left Outer Join. </a:t>
            </a:r>
            <a:r>
              <a:rPr lang="en-US" sz="2600" dirty="0"/>
              <a:t>Left outer joins is a join in which tuples from R that do not have matching values in the common column of S are also included in the result relation.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Right Outer Join</a:t>
            </a:r>
            <a:r>
              <a:rPr lang="en-US" sz="2600" dirty="0"/>
              <a:t>. Right outer join is a join in which tuples from S that do not have matching values in the common column of R are also included in the result relation.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Full Outer Join. </a:t>
            </a:r>
            <a:r>
              <a:rPr lang="en-US" sz="2600" dirty="0"/>
              <a:t>Full outer join is a join in which tuples from R that do not have matching values in the common columns of S still appear and tuples in S that do not have matching values in the common columns of R still appear in the resulting relation.</a:t>
            </a:r>
          </a:p>
        </p:txBody>
      </p:sp>
    </p:spTree>
    <p:extLst>
      <p:ext uri="{BB962C8B-B14F-4D97-AF65-F5344CB8AC3E}">
        <p14:creationId xmlns:p14="http://schemas.microsoft.com/office/powerpoint/2010/main" val="1735741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Example of outer join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448801"/>
            <a:ext cx="9877894" cy="50482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DC54C2-20F5-4F4A-9FF7-995A14FDC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363" y="2328108"/>
            <a:ext cx="7666677" cy="269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4724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Example of outer join </a:t>
            </a:r>
            <a:r>
              <a:rPr lang="en-US"/>
              <a:t>(cont.)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448801"/>
            <a:ext cx="9877894" cy="50482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8B0F0F-D8FB-4A5B-BD39-B4933A7A2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626" y="1600199"/>
            <a:ext cx="6604585" cy="490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5794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Examples of Relational Algebra Queries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2106528"/>
            <a:ext cx="9877894" cy="4214061"/>
          </a:xfrm>
        </p:spPr>
        <p:txBody>
          <a:bodyPr>
            <a:noAutofit/>
          </a:bodyPr>
          <a:lstStyle/>
          <a:p>
            <a:r>
              <a:rPr lang="en-US" sz="2800" dirty="0"/>
              <a:t>We will consider a number of example queries using the following schema: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Sailors(</a:t>
            </a:r>
            <a:r>
              <a:rPr lang="en-US" sz="2800" u="sng" dirty="0" err="1"/>
              <a:t>sid</a:t>
            </a:r>
            <a:r>
              <a:rPr lang="en-US" sz="2800" dirty="0"/>
              <a:t>: integer, </a:t>
            </a:r>
            <a:r>
              <a:rPr lang="en-US" sz="2800" dirty="0" err="1"/>
              <a:t>sname</a:t>
            </a:r>
            <a:r>
              <a:rPr lang="en-US" sz="2800" dirty="0"/>
              <a:t>: string, rating: integer, age: real)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Boats(</a:t>
            </a:r>
            <a:r>
              <a:rPr lang="en-US" sz="2800" u="sng" dirty="0"/>
              <a:t>bid</a:t>
            </a:r>
            <a:r>
              <a:rPr lang="en-US" sz="2800" dirty="0"/>
              <a:t>: integer, </a:t>
            </a:r>
            <a:r>
              <a:rPr lang="en-US" sz="2800" dirty="0" err="1"/>
              <a:t>bname</a:t>
            </a:r>
            <a:r>
              <a:rPr lang="en-US" sz="2800" dirty="0"/>
              <a:t>: string, color: string)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Reserves(</a:t>
            </a:r>
            <a:r>
              <a:rPr lang="en-US" sz="2800" dirty="0" err="1"/>
              <a:t>sid</a:t>
            </a:r>
            <a:r>
              <a:rPr lang="en-US" sz="2800" dirty="0"/>
              <a:t>: integer, bid: integer, day: dates)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16181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Examples of Relational Algebra Queries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256297"/>
            <a:ext cx="9877894" cy="1551071"/>
          </a:xfrm>
        </p:spPr>
        <p:txBody>
          <a:bodyPr>
            <a:noAutofit/>
          </a:bodyPr>
          <a:lstStyle/>
          <a:p>
            <a:r>
              <a:rPr lang="en-US" sz="2800" dirty="0"/>
              <a:t>We illustrate queries using the instances of tables: Sailors, Reserves, and Boats as shown below: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7142CB-934B-42B7-AFA5-9673515B6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581" y="2601578"/>
            <a:ext cx="9049993" cy="383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05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2106528"/>
            <a:ext cx="9877894" cy="4214061"/>
          </a:xfrm>
        </p:spPr>
        <p:txBody>
          <a:bodyPr>
            <a:noAutofit/>
          </a:bodyPr>
          <a:lstStyle/>
          <a:p>
            <a:r>
              <a:rPr lang="en-US" sz="2800" dirty="0"/>
              <a:t> (Q1) Find the names of sailors who have reserved boat 103.</a:t>
            </a:r>
          </a:p>
          <a:p>
            <a:r>
              <a:rPr lang="en-US" sz="2800" dirty="0"/>
              <a:t>	This query can be written as follows:</a:t>
            </a:r>
          </a:p>
          <a:p>
            <a:endParaRPr lang="en-US" sz="2800" dirty="0"/>
          </a:p>
          <a:p>
            <a:r>
              <a:rPr lang="en-US" sz="2800" dirty="0"/>
              <a:t>	However, there are indeed several distinct ways to write a query in relational algebra. Here is another way to write this query:</a:t>
            </a:r>
            <a:endParaRPr lang="en-AU" sz="2800" dirty="0"/>
          </a:p>
          <a:p>
            <a:endParaRPr lang="en-US" sz="2800" dirty="0"/>
          </a:p>
          <a:p>
            <a:r>
              <a:rPr lang="en-US" sz="2800" dirty="0"/>
              <a:t>In this version we first compute the natural join of Reserves and Sailors and then apply the selection and the projection.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24582" name="Picture 6">
            <a:extLst>
              <a:ext uri="{FF2B5EF4-FFF2-40B4-BE49-F238E27FC236}">
                <a16:creationId xmlns:a16="http://schemas.microsoft.com/office/drawing/2014/main" id="{027886B7-F2B9-4D3A-BB05-617BE61E8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255" y="2258179"/>
            <a:ext cx="7655956" cy="82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3" name="Picture 7">
            <a:extLst>
              <a:ext uri="{FF2B5EF4-FFF2-40B4-BE49-F238E27FC236}">
                <a16:creationId xmlns:a16="http://schemas.microsoft.com/office/drawing/2014/main" id="{EBCC1309-0415-489D-9B2A-55E784DCD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476" y="4331368"/>
            <a:ext cx="7034747" cy="82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529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267326"/>
            <a:ext cx="9877894" cy="5053263"/>
          </a:xfrm>
        </p:spPr>
        <p:txBody>
          <a:bodyPr>
            <a:noAutofit/>
          </a:bodyPr>
          <a:lstStyle/>
          <a:p>
            <a:r>
              <a:rPr lang="en-US" sz="2800" dirty="0"/>
              <a:t>(Q2) Find the names of sailors who have reserved a red boat. </a:t>
            </a:r>
          </a:p>
          <a:p>
            <a:endParaRPr lang="en-US" sz="2800" dirty="0"/>
          </a:p>
          <a:p>
            <a:r>
              <a:rPr lang="en-US" sz="2800" dirty="0"/>
              <a:t>An equivalent expression is:</a:t>
            </a:r>
          </a:p>
          <a:p>
            <a:endParaRPr lang="en-US" sz="2800" dirty="0"/>
          </a:p>
          <a:p>
            <a:r>
              <a:rPr lang="en-US" sz="2800" dirty="0"/>
              <a:t>(Q3) Find the colors of boats reserved by Lubber.</a:t>
            </a:r>
          </a:p>
          <a:p>
            <a:endParaRPr lang="en-US" sz="2800" dirty="0"/>
          </a:p>
          <a:p>
            <a:r>
              <a:rPr lang="en-US" sz="2800" dirty="0"/>
              <a:t>	This query is very similar to the query we used to compute sailors who reserved red boats. </a:t>
            </a: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683CC252-D0F8-4F5C-80DE-C14258B8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923" y="2005263"/>
            <a:ext cx="8207276" cy="65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3" name="Picture 3">
            <a:extLst>
              <a:ext uri="{FF2B5EF4-FFF2-40B4-BE49-F238E27FC236}">
                <a16:creationId xmlns:a16="http://schemas.microsoft.com/office/drawing/2014/main" id="{842DFBA2-4A1A-44AC-9AF1-3C14F486F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552" y="3346109"/>
            <a:ext cx="8899647" cy="52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>
            <a:extLst>
              <a:ext uri="{FF2B5EF4-FFF2-40B4-BE49-F238E27FC236}">
                <a16:creationId xmlns:a16="http://schemas.microsoft.com/office/drawing/2014/main" id="{546A26B1-6CC3-43E8-815B-6FC1D948E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11" y="4369374"/>
            <a:ext cx="8243915" cy="65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238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267326"/>
            <a:ext cx="9877894" cy="5053263"/>
          </a:xfrm>
        </p:spPr>
        <p:txBody>
          <a:bodyPr>
            <a:noAutofit/>
          </a:bodyPr>
          <a:lstStyle/>
          <a:p>
            <a:r>
              <a:rPr lang="en-US" sz="2800" dirty="0"/>
              <a:t>(Q4) Find the names of sailors who have reserved at least one boat. </a:t>
            </a:r>
          </a:p>
          <a:p>
            <a:endParaRPr lang="en-US" sz="2800" dirty="0"/>
          </a:p>
          <a:p>
            <a:r>
              <a:rPr lang="en-US" sz="2800" dirty="0"/>
              <a:t>The join of Sailors and Reserves creates an intermediate relation in which tuples consist of a Sailors tuple `attached to' a Reserves tuple.</a:t>
            </a:r>
          </a:p>
          <a:p>
            <a:r>
              <a:rPr lang="en-US" sz="2800" dirty="0"/>
              <a:t> A Sailors tuple appears in (some tuple of) this intermediate relation only if at least one Reserves tuple has the same </a:t>
            </a:r>
            <a:r>
              <a:rPr lang="en-US" sz="2800" dirty="0" err="1"/>
              <a:t>sid</a:t>
            </a:r>
            <a:r>
              <a:rPr lang="en-US" sz="2800" dirty="0"/>
              <a:t> value, that is, the sailor has made some reservation.</a:t>
            </a:r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79B3A000-6112-488F-9635-A209F5B88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768" y="2286751"/>
            <a:ext cx="5702464" cy="73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7735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5551</TotalTime>
  <Words>1050</Words>
  <Application>Microsoft Office PowerPoint</Application>
  <PresentationFormat>Widescreen</PresentationFormat>
  <Paragraphs>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Corbel</vt:lpstr>
      <vt:lpstr>Wingdings</vt:lpstr>
      <vt:lpstr>Parallax</vt:lpstr>
      <vt:lpstr>Database Systems I</vt:lpstr>
      <vt:lpstr>Cartesian Product Operation</vt:lpstr>
      <vt:lpstr>Relational Algebra Symbol for Cartesian Product</vt:lpstr>
      <vt:lpstr>Illustration of Cartesian Product</vt:lpstr>
      <vt:lpstr>Join Operations</vt:lpstr>
      <vt:lpstr>Types of Join Operation</vt:lpstr>
      <vt:lpstr>Natural Join</vt:lpstr>
      <vt:lpstr>Natural Join (cont.)</vt:lpstr>
      <vt:lpstr>Example of Natural Join Operation</vt:lpstr>
      <vt:lpstr>Equi Join</vt:lpstr>
      <vt:lpstr>Theta Join</vt:lpstr>
      <vt:lpstr>Outer Join</vt:lpstr>
      <vt:lpstr>Types of Outer Join</vt:lpstr>
      <vt:lpstr>Example of outer join</vt:lpstr>
      <vt:lpstr>Example of outer join (cont.)</vt:lpstr>
      <vt:lpstr>Examples of Relational Algebra Queries </vt:lpstr>
      <vt:lpstr>Examples of Relational Algebra Queries </vt:lpstr>
      <vt:lpstr>Example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Troubleshoot network connectivity issues</dc:title>
  <dc:creator>Rasool Al-Saadi</dc:creator>
  <cp:lastModifiedBy>Rasool Al-Saadi</cp:lastModifiedBy>
  <cp:revision>228</cp:revision>
  <dcterms:created xsi:type="dcterms:W3CDTF">2020-02-18T05:03:49Z</dcterms:created>
  <dcterms:modified xsi:type="dcterms:W3CDTF">2021-01-30T07:19:48Z</dcterms:modified>
</cp:coreProperties>
</file>