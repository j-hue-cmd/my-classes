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74" r:id="rId3"/>
    <p:sldId id="311" r:id="rId4"/>
    <p:sldId id="293" r:id="rId5"/>
    <p:sldId id="294" r:id="rId6"/>
    <p:sldId id="295" r:id="rId7"/>
    <p:sldId id="312" r:id="rId8"/>
    <p:sldId id="296" r:id="rId9"/>
    <p:sldId id="313" r:id="rId10"/>
    <p:sldId id="314" r:id="rId11"/>
    <p:sldId id="315" r:id="rId12"/>
    <p:sldId id="316" r:id="rId13"/>
    <p:sldId id="317" r:id="rId14"/>
    <p:sldId id="318" r:id="rId15"/>
    <p:sldId id="319" r:id="rId16"/>
    <p:sldId id="320" r:id="rId17"/>
    <p:sldId id="321" r:id="rId18"/>
    <p:sldId id="322" r:id="rId19"/>
    <p:sldId id="323" r:id="rId20"/>
    <p:sldId id="32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38" autoAdjust="0"/>
  </p:normalViewPr>
  <p:slideViewPr>
    <p:cSldViewPr snapToGrid="0">
      <p:cViewPr varScale="1">
        <p:scale>
          <a:sx n="86" d="100"/>
          <a:sy n="86"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AU" dirty="0"/>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5" name="Footer Placeholder 4"/>
          <p:cNvSpPr>
            <a:spLocks noGrp="1"/>
          </p:cNvSpPr>
          <p:nvPr>
            <p:ph type="ftr" sz="quarter" idx="11"/>
          </p:nvPr>
        </p:nvSpPr>
        <p:spPr>
          <a:xfrm>
            <a:off x="5332412" y="5883275"/>
            <a:ext cx="4324044" cy="365125"/>
          </a:xfrm>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28453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a:xfrm>
            <a:off x="10951856" y="5867131"/>
            <a:ext cx="551167" cy="365125"/>
          </a:xfrm>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893890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932139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20544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784649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418546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8635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669406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3608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0693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677619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23524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60458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23604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95815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83560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22/03/2023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28317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3400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2BE6EF5-D501-45B9-BF1D-4F3958A2C023}" type="datetimeFigureOut">
              <a:rPr lang="en-AU" smtClean="0"/>
              <a:t>22/03/2023</a:t>
            </a:fld>
            <a:endParaRPr lang="en-AU"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DA86AD4-3B45-4902-8FDB-DE84D31C86CD}" type="slidenum">
              <a:rPr lang="en-AU" smtClean="0"/>
              <a:t>‹#›</a:t>
            </a:fld>
            <a:endParaRPr lang="en-AU" dirty="0"/>
          </a:p>
        </p:txBody>
      </p:sp>
    </p:spTree>
    <p:extLst>
      <p:ext uri="{BB962C8B-B14F-4D97-AF65-F5344CB8AC3E}">
        <p14:creationId xmlns:p14="http://schemas.microsoft.com/office/powerpoint/2010/main" val="2986099449"/>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B6A14-583D-428B-BCEA-39BC26517A96}"/>
              </a:ext>
            </a:extLst>
          </p:cNvPr>
          <p:cNvSpPr>
            <a:spLocks noGrp="1"/>
          </p:cNvSpPr>
          <p:nvPr>
            <p:ph type="ctrTitle"/>
          </p:nvPr>
        </p:nvSpPr>
        <p:spPr>
          <a:xfrm>
            <a:off x="2820918" y="0"/>
            <a:ext cx="8574622" cy="2616199"/>
          </a:xfrm>
        </p:spPr>
        <p:txBody>
          <a:bodyPr/>
          <a:lstStyle/>
          <a:p>
            <a:pPr algn="ctr"/>
            <a:r>
              <a:rPr lang="en-AU" dirty="0"/>
              <a:t>Database Systems 2</a:t>
            </a:r>
          </a:p>
        </p:txBody>
      </p:sp>
      <p:sp>
        <p:nvSpPr>
          <p:cNvPr id="3" name="Subtitle 2">
            <a:extLst>
              <a:ext uri="{FF2B5EF4-FFF2-40B4-BE49-F238E27FC236}">
                <a16:creationId xmlns:a16="http://schemas.microsoft.com/office/drawing/2014/main" id="{E9053E97-050B-432A-8023-71AA641A2B49}"/>
              </a:ext>
            </a:extLst>
          </p:cNvPr>
          <p:cNvSpPr>
            <a:spLocks noGrp="1"/>
          </p:cNvSpPr>
          <p:nvPr>
            <p:ph type="subTitle" idx="1"/>
          </p:nvPr>
        </p:nvSpPr>
        <p:spPr>
          <a:xfrm>
            <a:off x="4138863" y="2782682"/>
            <a:ext cx="6481012" cy="3842708"/>
          </a:xfrm>
        </p:spPr>
        <p:txBody>
          <a:bodyPr>
            <a:normAutofit/>
          </a:bodyPr>
          <a:lstStyle/>
          <a:p>
            <a:pPr algn="ctr"/>
            <a:r>
              <a:rPr lang="en-US" b="1" dirty="0"/>
              <a:t>Dr. Rasool Hisham</a:t>
            </a:r>
          </a:p>
          <a:p>
            <a:pPr algn="ctr"/>
            <a:r>
              <a:rPr lang="en-US" b="1" dirty="0"/>
              <a:t>For 3</a:t>
            </a:r>
            <a:r>
              <a:rPr lang="en-US" b="1" baseline="30000" dirty="0"/>
              <a:t>rd</a:t>
            </a:r>
            <a:r>
              <a:rPr lang="en-US" b="1" dirty="0"/>
              <a:t> year students, 2</a:t>
            </a:r>
            <a:r>
              <a:rPr lang="en-US" b="1" baseline="30000" dirty="0"/>
              <a:t>nd</a:t>
            </a:r>
            <a:r>
              <a:rPr lang="en-US" b="1" dirty="0"/>
              <a:t> semester</a:t>
            </a:r>
          </a:p>
          <a:p>
            <a:pPr algn="l"/>
            <a:endParaRPr lang="en-US" b="1" dirty="0"/>
          </a:p>
          <a:p>
            <a:pPr algn="l"/>
            <a:r>
              <a:rPr lang="en-US" b="1" dirty="0"/>
              <a:t>Al-</a:t>
            </a:r>
            <a:r>
              <a:rPr lang="en-US" b="1" dirty="0" err="1"/>
              <a:t>Nahrain</a:t>
            </a:r>
            <a:r>
              <a:rPr lang="en-US" b="1" dirty="0"/>
              <a:t> University</a:t>
            </a:r>
          </a:p>
          <a:p>
            <a:pPr algn="l"/>
            <a:r>
              <a:rPr lang="en-US" b="1" dirty="0"/>
              <a:t>College of Science</a:t>
            </a:r>
          </a:p>
          <a:p>
            <a:pPr algn="l"/>
            <a:r>
              <a:rPr lang="en-US" b="1" dirty="0"/>
              <a:t>Computer Science Department</a:t>
            </a:r>
          </a:p>
        </p:txBody>
      </p:sp>
    </p:spTree>
    <p:extLst>
      <p:ext uri="{BB962C8B-B14F-4D97-AF65-F5344CB8AC3E}">
        <p14:creationId xmlns:p14="http://schemas.microsoft.com/office/powerpoint/2010/main" val="256319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CB23D-5EEF-4B0C-BC86-F26DF1B552B8}"/>
              </a:ext>
            </a:extLst>
          </p:cNvPr>
          <p:cNvSpPr>
            <a:spLocks noGrp="1"/>
          </p:cNvSpPr>
          <p:nvPr>
            <p:ph type="title"/>
          </p:nvPr>
        </p:nvSpPr>
        <p:spPr>
          <a:xfrm>
            <a:off x="1484310" y="2552700"/>
            <a:ext cx="10018713" cy="1752599"/>
          </a:xfrm>
        </p:spPr>
        <p:txBody>
          <a:bodyPr>
            <a:normAutofit fontScale="90000"/>
          </a:bodyPr>
          <a:lstStyle/>
          <a:p>
            <a:r>
              <a:rPr lang="en-US" sz="3100" dirty="0">
                <a:ea typeface="Times New Roman" panose="02020603050405020304" pitchFamily="18" charset="0"/>
              </a:rPr>
              <a:t>Database II - </a:t>
            </a:r>
            <a:r>
              <a:rPr lang="en-US" sz="3100">
                <a:ea typeface="Times New Roman" panose="02020603050405020304" pitchFamily="18" charset="0"/>
              </a:rPr>
              <a:t>Lecture 6</a:t>
            </a:r>
            <a:br>
              <a:rPr lang="en-US" sz="3100" dirty="0">
                <a:ea typeface="Times New Roman" panose="02020603050405020304" pitchFamily="18" charset="0"/>
              </a:rPr>
            </a:br>
            <a:br>
              <a:rPr lang="en-US" dirty="0">
                <a:ea typeface="Times New Roman" panose="02020603050405020304" pitchFamily="18" charset="0"/>
              </a:rPr>
            </a:br>
            <a:r>
              <a:rPr lang="en-US" dirty="0"/>
              <a:t>Normalization</a:t>
            </a:r>
            <a:endParaRPr lang="en-AU" dirty="0"/>
          </a:p>
        </p:txBody>
      </p:sp>
    </p:spTree>
    <p:extLst>
      <p:ext uri="{BB962C8B-B14F-4D97-AF65-F5344CB8AC3E}">
        <p14:creationId xmlns:p14="http://schemas.microsoft.com/office/powerpoint/2010/main" val="1835116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272715"/>
            <a:ext cx="10018713" cy="1502043"/>
          </a:xfrm>
        </p:spPr>
        <p:txBody>
          <a:bodyPr/>
          <a:lstStyle/>
          <a:p>
            <a:r>
              <a:rPr lang="en-US" b="1" dirty="0"/>
              <a:t>Introduction</a:t>
            </a: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dirty="0"/>
              <a:t>Normalization is the process of organizing data in a database. </a:t>
            </a:r>
          </a:p>
          <a:p>
            <a:r>
              <a:rPr lang="en-US" dirty="0"/>
              <a:t>This includes creating tables and establishing relationships between those tables according to rules designed both to protect the data and to make the database more flexible by eliminating two factors: redundancy and inconsistent dependency.</a:t>
            </a:r>
          </a:p>
          <a:p>
            <a:r>
              <a:rPr lang="en-US" dirty="0"/>
              <a:t> Redundant data wastes disk space and creates maintenance problems. </a:t>
            </a:r>
          </a:p>
          <a:p>
            <a:r>
              <a:rPr lang="en-US" dirty="0"/>
              <a:t>If data that exists in more than one place must be changed, the data must be changed in exactly the same way in all locations.</a:t>
            </a:r>
          </a:p>
          <a:p>
            <a:r>
              <a:rPr lang="en-US" dirty="0"/>
              <a:t> Inconsistent dependencies can make data difficult to access; the path to find the data may be missing. </a:t>
            </a:r>
            <a:endParaRPr lang="en-AU" dirty="0"/>
          </a:p>
        </p:txBody>
      </p:sp>
    </p:spTree>
    <p:extLst>
      <p:ext uri="{BB962C8B-B14F-4D97-AF65-F5344CB8AC3E}">
        <p14:creationId xmlns:p14="http://schemas.microsoft.com/office/powerpoint/2010/main" val="102705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83853"/>
            <a:ext cx="10018713" cy="1502043"/>
          </a:xfrm>
        </p:spPr>
        <p:txBody>
          <a:bodyPr/>
          <a:lstStyle/>
          <a:p>
            <a:r>
              <a:rPr lang="en-US" b="1" dirty="0"/>
              <a:t>Introduction (cont.)</a:t>
            </a: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5" y="1283368"/>
            <a:ext cx="10121206" cy="5440177"/>
          </a:xfrm>
        </p:spPr>
        <p:txBody>
          <a:bodyPr>
            <a:normAutofit/>
          </a:bodyPr>
          <a:lstStyle/>
          <a:p>
            <a:r>
              <a:rPr lang="en-US" dirty="0"/>
              <a:t>Normalization is the analysis of functional dependencies between attributes. </a:t>
            </a:r>
          </a:p>
          <a:p>
            <a:r>
              <a:rPr lang="en-US" dirty="0"/>
              <a:t>Normalization is a formal process for deciding which attributes should be grouped together in a relation. </a:t>
            </a:r>
          </a:p>
          <a:p>
            <a:r>
              <a:rPr lang="en-US" dirty="0"/>
              <a:t>It is the primary tool to validate and improve a logical design so that it satisfies certain constraints that avoid unnecessary duplication of data.</a:t>
            </a:r>
            <a:endParaRPr lang="en-AU" dirty="0"/>
          </a:p>
          <a:p>
            <a:r>
              <a:rPr lang="en-US" dirty="0"/>
              <a:t>Normalization theory is based on the concepts of normal forms.</a:t>
            </a:r>
          </a:p>
          <a:p>
            <a:r>
              <a:rPr lang="en-US" dirty="0"/>
              <a:t> A relational table is said to be a particular normal form if it satisfied a certain set of constraints. </a:t>
            </a:r>
          </a:p>
          <a:p>
            <a:r>
              <a:rPr lang="en-US" dirty="0"/>
              <a:t>There are currently five normal forms that have been defined. Normalization should remove redundancy but not at the expense of data integrity. </a:t>
            </a:r>
          </a:p>
          <a:p>
            <a:r>
              <a:rPr lang="en-US" dirty="0"/>
              <a:t>In general, the normalization process generates many simple entity specifications from a few semantically complex entity specifications.</a:t>
            </a:r>
            <a:endParaRPr lang="en-AU" dirty="0"/>
          </a:p>
        </p:txBody>
      </p:sp>
    </p:spTree>
    <p:extLst>
      <p:ext uri="{BB962C8B-B14F-4D97-AF65-F5344CB8AC3E}">
        <p14:creationId xmlns:p14="http://schemas.microsoft.com/office/powerpoint/2010/main" val="954003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0"/>
            <a:ext cx="10018713" cy="1502043"/>
          </a:xfrm>
        </p:spPr>
        <p:txBody>
          <a:bodyPr/>
          <a:lstStyle/>
          <a:p>
            <a:r>
              <a:rPr lang="en-US" b="1" dirty="0"/>
              <a:t>Purpose of Normalization</a:t>
            </a: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283369"/>
            <a:ext cx="9555187" cy="5073888"/>
          </a:xfrm>
        </p:spPr>
        <p:txBody>
          <a:bodyPr>
            <a:normAutofit/>
          </a:bodyPr>
          <a:lstStyle/>
          <a:p>
            <a:r>
              <a:rPr lang="en-US" dirty="0">
                <a:cs typeface="Courier New" panose="02070309020205020404" pitchFamily="49" charset="0"/>
              </a:rPr>
              <a:t>Normalization allows us to minimize insert, update, and delete anomalies and help maintain data consistency in the database.</a:t>
            </a:r>
          </a:p>
          <a:p>
            <a:pPr marL="457200" indent="-457200">
              <a:buFont typeface="+mj-lt"/>
              <a:buAutoNum type="arabicPeriod"/>
            </a:pPr>
            <a:r>
              <a:rPr lang="en-US" dirty="0"/>
              <a:t>To avoid redundancy by storing each fact within the database only once.</a:t>
            </a:r>
            <a:endParaRPr lang="en-AU" dirty="0"/>
          </a:p>
          <a:p>
            <a:pPr marL="457200" indent="-457200">
              <a:buFont typeface="+mj-lt"/>
              <a:buAutoNum type="arabicPeriod"/>
            </a:pPr>
            <a:r>
              <a:rPr lang="en-US" dirty="0"/>
              <a:t>To put data into the form that is more able to accurately accommodate change.</a:t>
            </a:r>
            <a:endParaRPr lang="en-AU" dirty="0"/>
          </a:p>
          <a:p>
            <a:pPr marL="457200" indent="-457200">
              <a:buFont typeface="+mj-lt"/>
              <a:buAutoNum type="arabicPeriod"/>
            </a:pPr>
            <a:r>
              <a:rPr lang="en-US" dirty="0"/>
              <a:t>To avoid certain updating “anomalies”</a:t>
            </a:r>
            <a:endParaRPr lang="en-AU" dirty="0"/>
          </a:p>
          <a:p>
            <a:pPr marL="457200" indent="-457200">
              <a:buFont typeface="+mj-lt"/>
              <a:buAutoNum type="arabicPeriod"/>
            </a:pPr>
            <a:r>
              <a:rPr lang="en-US" dirty="0"/>
              <a:t>To facilitate the enforcement of data constraint</a:t>
            </a:r>
            <a:endParaRPr lang="en-AU" dirty="0"/>
          </a:p>
          <a:p>
            <a:pPr marL="457200" indent="-457200">
              <a:buFont typeface="+mj-lt"/>
              <a:buAutoNum type="arabicPeriod"/>
            </a:pPr>
            <a:r>
              <a:rPr lang="en-US" dirty="0"/>
              <a:t>To avoid unnecessary coding. Extra programming in triggers, stored procedures can be required to handle the non-normalized data and this in turn can impair performance significantly.</a:t>
            </a:r>
            <a:endParaRPr lang="en-AU" dirty="0"/>
          </a:p>
          <a:p>
            <a:endParaRPr lang="en-US" dirty="0">
              <a:cs typeface="Courier New" panose="02070309020205020404" pitchFamily="49" charset="0"/>
            </a:endParaRPr>
          </a:p>
        </p:txBody>
      </p:sp>
    </p:spTree>
    <p:extLst>
      <p:ext uri="{BB962C8B-B14F-4D97-AF65-F5344CB8AC3E}">
        <p14:creationId xmlns:p14="http://schemas.microsoft.com/office/powerpoint/2010/main" val="3816035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dirty="0"/>
              <a:t>Steps in Normalization</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283368"/>
            <a:ext cx="9555187" cy="5440177"/>
          </a:xfrm>
        </p:spPr>
        <p:txBody>
          <a:bodyPr>
            <a:normAutofit fontScale="92500"/>
          </a:bodyPr>
          <a:lstStyle/>
          <a:p>
            <a:r>
              <a:rPr lang="en-US" dirty="0"/>
              <a:t>The degree of normalization is defined by normal forms. </a:t>
            </a:r>
          </a:p>
          <a:p>
            <a:r>
              <a:rPr lang="en-US" dirty="0"/>
              <a:t>The normal forms in an increasing level of normalization, are first normal form (1NF), second normal form (2NF), 3NF, Boyce-Codd Normal form, 4NF and 5NF. </a:t>
            </a:r>
          </a:p>
          <a:p>
            <a:r>
              <a:rPr lang="en-US" dirty="0"/>
              <a:t>Each normal form is a set of conditions on a schema that guarantees certain properties relating to redundancy and update anomalies. </a:t>
            </a:r>
            <a:endParaRPr lang="en-AU" dirty="0"/>
          </a:p>
          <a:p>
            <a:r>
              <a:rPr lang="en-US" dirty="0"/>
              <a:t>In general 3NF is considered good enough. </a:t>
            </a:r>
          </a:p>
          <a:p>
            <a:r>
              <a:rPr lang="en-US" dirty="0"/>
              <a:t>Many modern-day commercial relational database implementations do not go beyond the implementation of 3NF. </a:t>
            </a:r>
          </a:p>
          <a:p>
            <a:r>
              <a:rPr lang="en-US" dirty="0"/>
              <a:t>Application of Normal Forms beyond that of 3NF tends to produce too many tables, resulting in too many tables in SQL joins.</a:t>
            </a:r>
          </a:p>
          <a:p>
            <a:r>
              <a:rPr lang="en-US" dirty="0"/>
              <a:t> Bigger joins result in poor performance. In general, good performance is much more important than granular perfection in relational database design.</a:t>
            </a:r>
            <a:endParaRPr lang="en-AU" dirty="0"/>
          </a:p>
        </p:txBody>
      </p:sp>
    </p:spTree>
    <p:extLst>
      <p:ext uri="{BB962C8B-B14F-4D97-AF65-F5344CB8AC3E}">
        <p14:creationId xmlns:p14="http://schemas.microsoft.com/office/powerpoint/2010/main" val="626277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683872" y="315778"/>
            <a:ext cx="4164931" cy="1502043"/>
          </a:xfrm>
        </p:spPr>
        <p:txBody>
          <a:bodyPr/>
          <a:lstStyle/>
          <a:p>
            <a:r>
              <a:rPr lang="en-US" dirty="0"/>
              <a:t>Steps in Normalization</a:t>
            </a:r>
          </a:p>
        </p:txBody>
      </p:sp>
      <p:sp>
        <p:nvSpPr>
          <p:cNvPr id="5" name="Content Placeholder 4">
            <a:extLst>
              <a:ext uri="{FF2B5EF4-FFF2-40B4-BE49-F238E27FC236}">
                <a16:creationId xmlns:a16="http://schemas.microsoft.com/office/drawing/2014/main" id="{D851F38A-4CA8-4D78-AF46-CF87F2B786B1}"/>
              </a:ext>
            </a:extLst>
          </p:cNvPr>
          <p:cNvSpPr>
            <a:spLocks noGrp="1"/>
          </p:cNvSpPr>
          <p:nvPr>
            <p:ph idx="1"/>
          </p:nvPr>
        </p:nvSpPr>
        <p:spPr>
          <a:xfrm>
            <a:off x="1132119" y="2220685"/>
            <a:ext cx="5211080" cy="3483429"/>
          </a:xfrm>
        </p:spPr>
        <p:txBody>
          <a:bodyPr/>
          <a:lstStyle/>
          <a:p>
            <a:r>
              <a:rPr lang="en-US" dirty="0"/>
              <a:t>Relational theory defines a number of structure conditions called normal forms that assure that certain data anomalies do not occur in a database.</a:t>
            </a:r>
            <a:endParaRPr lang="en-AU" dirty="0"/>
          </a:p>
          <a:p>
            <a:endParaRPr lang="en-AU" dirty="0"/>
          </a:p>
        </p:txBody>
      </p:sp>
      <p:pic>
        <p:nvPicPr>
          <p:cNvPr id="1026" name="Picture 2">
            <a:extLst>
              <a:ext uri="{FF2B5EF4-FFF2-40B4-BE49-F238E27FC236}">
                <a16:creationId xmlns:a16="http://schemas.microsoft.com/office/drawing/2014/main" id="{62532BC7-700B-4EC6-8804-B2DFFFCEAB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3199" y="315778"/>
            <a:ext cx="5211080" cy="6430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593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dirty="0"/>
              <a:t>Steps in Normalization</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283368"/>
            <a:ext cx="9555187" cy="5440177"/>
          </a:xfrm>
        </p:spPr>
        <p:txBody>
          <a:bodyPr>
            <a:normAutofit fontScale="77500" lnSpcReduction="20000"/>
          </a:bodyPr>
          <a:lstStyle/>
          <a:p>
            <a:r>
              <a:rPr lang="en-US" sz="2800" dirty="0"/>
              <a:t>First Normal Form (1NF)</a:t>
            </a:r>
          </a:p>
          <a:p>
            <a:pPr marL="0" indent="0">
              <a:buNone/>
            </a:pPr>
            <a:r>
              <a:rPr lang="en-US" sz="2800" dirty="0"/>
              <a:t>A table is in first normal form (1NF) if and only if all columns contain only atomic values; that is, there are no repeating groups (columns) within a row. It is to be noted that all entries in a field must be of same kind and each field must have a unique name, but the order of the field (column) is irrelevant. Each record must be unique and the order of the rows is irrelevant.</a:t>
            </a:r>
          </a:p>
          <a:p>
            <a:endParaRPr lang="en-US" sz="2800" dirty="0"/>
          </a:p>
          <a:p>
            <a:r>
              <a:rPr lang="en-US" sz="2800" dirty="0"/>
              <a:t>Second Normal Form (2NF)</a:t>
            </a:r>
          </a:p>
          <a:p>
            <a:pPr marL="0" indent="0">
              <a:buNone/>
            </a:pPr>
            <a:r>
              <a:rPr lang="en-US" sz="2800" dirty="0"/>
              <a:t>A table is in second normal form (2NF) if and only if it is in 1NF and every </a:t>
            </a:r>
            <a:r>
              <a:rPr lang="en-US" sz="2800" dirty="0" err="1"/>
              <a:t>nonkey</a:t>
            </a:r>
            <a:r>
              <a:rPr lang="en-US" sz="2800" dirty="0"/>
              <a:t> attribute is fully dependent on the primary key. </a:t>
            </a:r>
          </a:p>
          <a:p>
            <a:endParaRPr lang="en-US" sz="2800" dirty="0"/>
          </a:p>
          <a:p>
            <a:r>
              <a:rPr lang="en-US" sz="2800" dirty="0"/>
              <a:t>Third Normal Form (3NF) </a:t>
            </a:r>
          </a:p>
          <a:p>
            <a:pPr marL="0" indent="0">
              <a:buNone/>
            </a:pPr>
            <a:r>
              <a:rPr lang="en-US" sz="2800" dirty="0"/>
              <a:t>To be in Third Normal Form (3NF) the relation must be in 2NF and no transitive dependencies may exist within the relation. A transitive dependency is when an attribute is indirectly functionally dependent on the key (that is, the dependency is through another </a:t>
            </a:r>
            <a:r>
              <a:rPr lang="en-US" sz="2800" dirty="0" err="1"/>
              <a:t>nonkey</a:t>
            </a:r>
            <a:r>
              <a:rPr lang="en-US" sz="2800" dirty="0"/>
              <a:t> attribute).</a:t>
            </a:r>
          </a:p>
        </p:txBody>
      </p:sp>
    </p:spTree>
    <p:extLst>
      <p:ext uri="{BB962C8B-B14F-4D97-AF65-F5344CB8AC3E}">
        <p14:creationId xmlns:p14="http://schemas.microsoft.com/office/powerpoint/2010/main" val="9490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dirty="0"/>
              <a:t>Steps in Normalization</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283368"/>
            <a:ext cx="9555187" cy="4682003"/>
          </a:xfrm>
        </p:spPr>
        <p:txBody>
          <a:bodyPr>
            <a:normAutofit/>
          </a:bodyPr>
          <a:lstStyle/>
          <a:p>
            <a:r>
              <a:rPr lang="en-US" dirty="0"/>
              <a:t>Boyce–Codd Normal Form (BCNF)</a:t>
            </a:r>
          </a:p>
          <a:p>
            <a:pPr marL="0" indent="0">
              <a:buNone/>
            </a:pPr>
            <a:r>
              <a:rPr lang="en-US" dirty="0"/>
              <a:t>To be in Boyce–Codd Normal Form (BCNF) the relation must be in 3NF and every determinant must be a candidate key.</a:t>
            </a:r>
          </a:p>
          <a:p>
            <a:endParaRPr lang="en-US" dirty="0"/>
          </a:p>
          <a:p>
            <a:r>
              <a:rPr lang="en-US" dirty="0"/>
              <a:t>Fifth Normal Form (5NF)</a:t>
            </a:r>
          </a:p>
          <a:p>
            <a:pPr marL="0" indent="0">
              <a:buNone/>
            </a:pPr>
            <a:r>
              <a:rPr lang="en-US" dirty="0"/>
              <a:t>The Fifth Normal Form concerns dependencies that are obscure.</a:t>
            </a:r>
          </a:p>
        </p:txBody>
      </p:sp>
    </p:spTree>
    <p:extLst>
      <p:ext uri="{BB962C8B-B14F-4D97-AF65-F5344CB8AC3E}">
        <p14:creationId xmlns:p14="http://schemas.microsoft.com/office/powerpoint/2010/main" val="3983634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b="1" dirty="0"/>
              <a:t>Unnormal Form to First Normal Form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2356184"/>
            <a:ext cx="9555187" cy="2145632"/>
          </a:xfrm>
        </p:spPr>
        <p:txBody>
          <a:bodyPr>
            <a:normAutofit/>
          </a:bodyPr>
          <a:lstStyle/>
          <a:p>
            <a:r>
              <a:rPr lang="en-US" dirty="0"/>
              <a:t>Consider a table DEPARTMENT, the table DEPARTMENT is not in normal form because the table DEPARTMENT has repeating group. </a:t>
            </a:r>
          </a:p>
          <a:p>
            <a:r>
              <a:rPr lang="en-US" dirty="0"/>
              <a:t>The table DEPARTMENT is shown in Table 1. (unnormalized form)</a:t>
            </a:r>
          </a:p>
        </p:txBody>
      </p:sp>
    </p:spTree>
    <p:extLst>
      <p:ext uri="{BB962C8B-B14F-4D97-AF65-F5344CB8AC3E}">
        <p14:creationId xmlns:p14="http://schemas.microsoft.com/office/powerpoint/2010/main" val="292587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Unnormal Form to First Normal Form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2117556" y="3466998"/>
            <a:ext cx="9555187" cy="3441031"/>
          </a:xfrm>
        </p:spPr>
        <p:txBody>
          <a:bodyPr>
            <a:normAutofit/>
          </a:bodyPr>
          <a:lstStyle/>
          <a:p>
            <a:r>
              <a:rPr lang="en-US" dirty="0"/>
              <a:t>The table above is not in normal form because the values are not atomic. </a:t>
            </a:r>
          </a:p>
          <a:p>
            <a:r>
              <a:rPr lang="en-US" dirty="0"/>
              <a:t>The intersection of row with the column should have only one value.</a:t>
            </a:r>
          </a:p>
          <a:p>
            <a:r>
              <a:rPr lang="en-US" dirty="0"/>
              <a:t> But in the table above, the department location value is not atomic. </a:t>
            </a:r>
          </a:p>
          <a:p>
            <a:r>
              <a:rPr lang="en-US" dirty="0"/>
              <a:t>That is the department Nilgiris is located in more than one location (Coimbatore, Chennai).</a:t>
            </a:r>
          </a:p>
          <a:p>
            <a:r>
              <a:rPr lang="en-US" dirty="0"/>
              <a:t>To convert Table 1 from unnormalized form into a normalized form, we have three different ways.</a:t>
            </a:r>
          </a:p>
        </p:txBody>
      </p:sp>
      <p:pic>
        <p:nvPicPr>
          <p:cNvPr id="5" name="Picture 2">
            <a:extLst>
              <a:ext uri="{FF2B5EF4-FFF2-40B4-BE49-F238E27FC236}">
                <a16:creationId xmlns:a16="http://schemas.microsoft.com/office/drawing/2014/main" id="{85D93C0E-F39A-4EE2-97B0-43A819941E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7556" y="1175317"/>
            <a:ext cx="9185624" cy="2291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4299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Solution 1</a:t>
            </a:r>
            <a:endParaRPr lang="en-AU"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925052" y="1415715"/>
            <a:ext cx="9801727" cy="3429001"/>
          </a:xfrm>
        </p:spPr>
        <p:txBody>
          <a:bodyPr>
            <a:normAutofit/>
          </a:bodyPr>
          <a:lstStyle/>
          <a:p>
            <a:r>
              <a:rPr lang="en-US" dirty="0"/>
              <a:t>The column location in Table 1 is having more than one value. One way is to divide the column location into location1, location2 as shown in Table 2.</a:t>
            </a:r>
          </a:p>
          <a:p>
            <a:r>
              <a:rPr lang="en-US" b="1" dirty="0"/>
              <a:t>Drawback of Solution 1</a:t>
            </a:r>
            <a:endParaRPr lang="en-AU" dirty="0"/>
          </a:p>
          <a:p>
            <a:r>
              <a:rPr lang="en-US" dirty="0"/>
              <a:t>The drawback of solution1 is that if a department is started in many places then more locations like location1, location2. . . . . . </a:t>
            </a:r>
            <a:r>
              <a:rPr lang="en-US" dirty="0" err="1"/>
              <a:t>locationN</a:t>
            </a:r>
            <a:r>
              <a:rPr lang="en-US" dirty="0"/>
              <a:t> has to be included in the table DEPARTMENT. Moreover some departments will be in only one place, in such a case more NULL values will be there in the table DEPARTMENT.</a:t>
            </a:r>
            <a:endParaRPr lang="en-AU" dirty="0"/>
          </a:p>
        </p:txBody>
      </p:sp>
      <p:pic>
        <p:nvPicPr>
          <p:cNvPr id="5122" name="Picture 2">
            <a:extLst>
              <a:ext uri="{FF2B5EF4-FFF2-40B4-BE49-F238E27FC236}">
                <a16:creationId xmlns:a16="http://schemas.microsoft.com/office/drawing/2014/main" id="{ACF89E28-8E57-4F2B-B745-2D7BC11A18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5533" y="4844716"/>
            <a:ext cx="8370804" cy="1976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8895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Solution 2</a:t>
            </a:r>
            <a:endParaRPr lang="en-AU"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08066" y="1415716"/>
            <a:ext cx="10018713" cy="2129590"/>
          </a:xfrm>
        </p:spPr>
        <p:txBody>
          <a:bodyPr>
            <a:normAutofit/>
          </a:bodyPr>
          <a:lstStyle/>
          <a:p>
            <a:r>
              <a:rPr lang="en-US" dirty="0"/>
              <a:t>The second solution is to insert tuples for each location as shown in Table 3.</a:t>
            </a:r>
            <a:endParaRPr lang="en-AU" dirty="0"/>
          </a:p>
          <a:p>
            <a:r>
              <a:rPr lang="en-US" b="1" dirty="0"/>
              <a:t>Drawback of Solution 2</a:t>
            </a:r>
            <a:endParaRPr lang="en-AU" dirty="0"/>
          </a:p>
          <a:p>
            <a:r>
              <a:rPr lang="en-US" dirty="0"/>
              <a:t>The main draw back of solution 2 is that there are more repeating values, hence more number of rows in the Table 3.</a:t>
            </a:r>
            <a:endParaRPr lang="en-AU" dirty="0"/>
          </a:p>
        </p:txBody>
      </p:sp>
      <p:pic>
        <p:nvPicPr>
          <p:cNvPr id="6146" name="Picture 2">
            <a:extLst>
              <a:ext uri="{FF2B5EF4-FFF2-40B4-BE49-F238E27FC236}">
                <a16:creationId xmlns:a16="http://schemas.microsoft.com/office/drawing/2014/main" id="{017CB28F-E601-4DB9-B833-C27AE462C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962" y="3743659"/>
            <a:ext cx="7663363" cy="2324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0991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Solution 3</a:t>
            </a:r>
            <a:endParaRPr lang="en-AU"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08066" y="1415716"/>
            <a:ext cx="10018713" cy="2129590"/>
          </a:xfrm>
        </p:spPr>
        <p:txBody>
          <a:bodyPr>
            <a:normAutofit/>
          </a:bodyPr>
          <a:lstStyle/>
          <a:p>
            <a:r>
              <a:rPr lang="en-US" dirty="0"/>
              <a:t>The third solution is to decompose the relation DEPARTMENT into two tables as shown in Tables 4 and 5.</a:t>
            </a:r>
          </a:p>
          <a:p>
            <a:r>
              <a:rPr lang="en-US" dirty="0"/>
              <a:t>In the third solution we have divided the DEPARTMENT table into two tables. The process of splitting the table into more than one table is called normalization.</a:t>
            </a:r>
            <a:endParaRPr lang="en-AU" dirty="0"/>
          </a:p>
        </p:txBody>
      </p:sp>
      <p:pic>
        <p:nvPicPr>
          <p:cNvPr id="7170" name="Picture 2">
            <a:extLst>
              <a:ext uri="{FF2B5EF4-FFF2-40B4-BE49-F238E27FC236}">
                <a16:creationId xmlns:a16="http://schemas.microsoft.com/office/drawing/2014/main" id="{71091310-26DA-4B92-9C60-CF859EE972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6803" y="3545306"/>
            <a:ext cx="5337756" cy="2245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Picture 3">
            <a:extLst>
              <a:ext uri="{FF2B5EF4-FFF2-40B4-BE49-F238E27FC236}">
                <a16:creationId xmlns:a16="http://schemas.microsoft.com/office/drawing/2014/main" id="{3672A58C-3FB4-4D32-A93B-E8AB991E4F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4559" y="3545306"/>
            <a:ext cx="5207749" cy="2410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1540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First Normal Form to Second Normal Form</a:t>
            </a:r>
            <a:br>
              <a:rPr lang="en-US" b="1" dirty="0"/>
            </a:br>
            <a:r>
              <a:rPr lang="en-US" b="1" dirty="0"/>
              <a:t>Second Normal Form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08066" y="998620"/>
            <a:ext cx="10483934" cy="5273843"/>
          </a:xfrm>
        </p:spPr>
        <p:txBody>
          <a:bodyPr>
            <a:normAutofit lnSpcReduction="10000"/>
          </a:bodyPr>
          <a:lstStyle/>
          <a:p>
            <a:r>
              <a:rPr lang="en-US" dirty="0"/>
              <a:t>A table is said to be in second normal form if it is in first normal form and all its </a:t>
            </a:r>
            <a:r>
              <a:rPr lang="en-US" dirty="0" err="1"/>
              <a:t>nonkey</a:t>
            </a:r>
            <a:r>
              <a:rPr lang="en-US" dirty="0"/>
              <a:t> attributes depend on all of the key (no partial dependencies).</a:t>
            </a:r>
          </a:p>
          <a:p>
            <a:r>
              <a:rPr lang="en-US" dirty="0"/>
              <a:t>Consider the relation EMPLOYEE PROJECT, the relation EMPLOYEE PROJECT consists of the attributes </a:t>
            </a:r>
            <a:r>
              <a:rPr lang="en-US" dirty="0" err="1"/>
              <a:t>EmployeeID</a:t>
            </a:r>
            <a:r>
              <a:rPr lang="en-US" dirty="0"/>
              <a:t>, Employee name, Project ID, Project name, Total hours. Here total hours imply the time taken to complete the project.</a:t>
            </a:r>
          </a:p>
          <a:p>
            <a:r>
              <a:rPr lang="en-US" dirty="0"/>
              <a:t>EMPLOYEE PROJECT</a:t>
            </a:r>
            <a:endParaRPr lang="en-AU" dirty="0"/>
          </a:p>
          <a:p>
            <a:r>
              <a:rPr lang="en-US" dirty="0"/>
              <a:t>– E_ID stands for </a:t>
            </a:r>
            <a:r>
              <a:rPr lang="en-US" dirty="0" err="1"/>
              <a:t>EmployeeID</a:t>
            </a:r>
            <a:endParaRPr lang="en-AU" dirty="0"/>
          </a:p>
          <a:p>
            <a:r>
              <a:rPr lang="en-US" dirty="0"/>
              <a:t>– E_NAME stands for Employee name</a:t>
            </a:r>
            <a:endParaRPr lang="en-AU" dirty="0"/>
          </a:p>
          <a:p>
            <a:r>
              <a:rPr lang="en-US" dirty="0"/>
              <a:t>– P_ID stands for </a:t>
            </a:r>
            <a:r>
              <a:rPr lang="en-US" dirty="0" err="1"/>
              <a:t>ProjectID</a:t>
            </a:r>
            <a:endParaRPr lang="en-AU" dirty="0"/>
          </a:p>
          <a:p>
            <a:r>
              <a:rPr lang="en-US" dirty="0"/>
              <a:t>– </a:t>
            </a:r>
            <a:r>
              <a:rPr lang="en-US" dirty="0" err="1"/>
              <a:t>P_Name</a:t>
            </a:r>
            <a:r>
              <a:rPr lang="en-US" dirty="0"/>
              <a:t> stands for Project name</a:t>
            </a:r>
            <a:endParaRPr lang="en-AU" dirty="0"/>
          </a:p>
          <a:p>
            <a:r>
              <a:rPr lang="en-US" dirty="0"/>
              <a:t>– Total time is the time taken to complete the project</a:t>
            </a:r>
            <a:endParaRPr lang="en-AU" dirty="0"/>
          </a:p>
        </p:txBody>
      </p:sp>
      <p:pic>
        <p:nvPicPr>
          <p:cNvPr id="8194" name="Picture 2">
            <a:extLst>
              <a:ext uri="{FF2B5EF4-FFF2-40B4-BE49-F238E27FC236}">
                <a16:creationId xmlns:a16="http://schemas.microsoft.com/office/drawing/2014/main" id="{C66C35FD-E4E3-4465-B058-F2317A305A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9086" y="6062245"/>
            <a:ext cx="8941894" cy="795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81092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First Normal Form to Second Normal Form</a:t>
            </a:r>
            <a:br>
              <a:rPr lang="en-US" b="1" dirty="0"/>
            </a:br>
            <a:r>
              <a:rPr lang="en-US" b="1" dirty="0"/>
              <a:t>Second Normal Form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08066" y="998620"/>
            <a:ext cx="10483934" cy="5273843"/>
          </a:xfrm>
        </p:spPr>
        <p:txBody>
          <a:bodyPr>
            <a:normAutofit/>
          </a:bodyPr>
          <a:lstStyle/>
          <a:p>
            <a:r>
              <a:rPr lang="en-US" dirty="0"/>
              <a:t>It is to be noted that the “Total Time” attribute depends on the nature of the project and the Employee. </a:t>
            </a:r>
          </a:p>
          <a:p>
            <a:r>
              <a:rPr lang="en-US" dirty="0"/>
              <a:t>If the project is simple, then it can be completed easily and also if the employee is very talented then also the total time required to complete the project is less.</a:t>
            </a:r>
          </a:p>
          <a:p>
            <a:r>
              <a:rPr lang="en-US" dirty="0"/>
              <a:t> Thus total time is determined by the </a:t>
            </a:r>
            <a:r>
              <a:rPr lang="en-US" dirty="0" err="1"/>
              <a:t>EmployeeID</a:t>
            </a:r>
            <a:r>
              <a:rPr lang="en-US" dirty="0"/>
              <a:t> and </a:t>
            </a:r>
            <a:r>
              <a:rPr lang="en-US" dirty="0" err="1"/>
              <a:t>ProjectID</a:t>
            </a:r>
            <a:r>
              <a:rPr lang="en-US" dirty="0"/>
              <a:t>. Clearly the relation EMPLOYEE PROJECT is not in second normal form. </a:t>
            </a:r>
          </a:p>
          <a:p>
            <a:r>
              <a:rPr lang="en-US" dirty="0"/>
              <a:t>The reason is we have to key attributes E_ID which refers to </a:t>
            </a:r>
            <a:r>
              <a:rPr lang="en-US" dirty="0" err="1"/>
              <a:t>EmployeeID</a:t>
            </a:r>
            <a:r>
              <a:rPr lang="en-US" dirty="0"/>
              <a:t> and P_ID which refers to Project ID. </a:t>
            </a:r>
          </a:p>
          <a:p>
            <a:r>
              <a:rPr lang="en-US" dirty="0"/>
              <a:t>Then each other attribute in the relation EMPLOYEE PROJECT should dependent on Employee ID alone, Project ID alone or both </a:t>
            </a:r>
            <a:r>
              <a:rPr lang="en-US" dirty="0" err="1"/>
              <a:t>EmployeeID</a:t>
            </a:r>
            <a:r>
              <a:rPr lang="en-US" dirty="0"/>
              <a:t> and </a:t>
            </a:r>
            <a:r>
              <a:rPr lang="en-US" dirty="0" err="1"/>
              <a:t>ProjectID</a:t>
            </a:r>
            <a:r>
              <a:rPr lang="en-US" dirty="0"/>
              <a:t>.</a:t>
            </a:r>
            <a:endParaRPr lang="en-AU" dirty="0"/>
          </a:p>
        </p:txBody>
      </p:sp>
    </p:spTree>
    <p:extLst>
      <p:ext uri="{BB962C8B-B14F-4D97-AF65-F5344CB8AC3E}">
        <p14:creationId xmlns:p14="http://schemas.microsoft.com/office/powerpoint/2010/main" val="998404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First Normal Form to Second Normal Form</a:t>
            </a:r>
            <a:br>
              <a:rPr lang="en-US" b="1" dirty="0"/>
            </a:br>
            <a:r>
              <a:rPr lang="en-US" b="1" dirty="0"/>
              <a:t>Second Normal Form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08066" y="1303420"/>
            <a:ext cx="10483934" cy="5273843"/>
          </a:xfrm>
        </p:spPr>
        <p:txBody>
          <a:bodyPr>
            <a:normAutofit fontScale="85000" lnSpcReduction="10000"/>
          </a:bodyPr>
          <a:lstStyle/>
          <a:p>
            <a:r>
              <a:rPr lang="en-US" dirty="0"/>
              <a:t>{E_ID, P_ID}→ “Total Time” is full functional dependency.</a:t>
            </a:r>
          </a:p>
          <a:p>
            <a:r>
              <a:rPr lang="en-US" dirty="0"/>
              <a:t>{E_ID, P_ID}→ E_NAME and {E_ID, P_ID}→ P_NAME are partial functional dependency.</a:t>
            </a:r>
          </a:p>
          <a:p>
            <a:r>
              <a:rPr lang="en-US" dirty="0"/>
              <a:t>All dependency must be full functional dependency in order to make this relation in 2NF.</a:t>
            </a:r>
          </a:p>
          <a:p>
            <a:endParaRPr lang="en-US" dirty="0"/>
          </a:p>
          <a:p>
            <a:r>
              <a:rPr lang="en-US" dirty="0"/>
              <a:t>The relation EMPLOYEE PROJECT can be transformed to second normal form by breaking the relation into three relations EMPLOYEE, PROJECT, and HOURS ASSIGNED.</a:t>
            </a:r>
          </a:p>
          <a:p>
            <a:r>
              <a:rPr lang="en-US" dirty="0"/>
              <a:t>EMPLOYEE (E_ID, E_NAME) </a:t>
            </a:r>
          </a:p>
          <a:p>
            <a:r>
              <a:rPr lang="en-US" dirty="0"/>
              <a:t>E_ID → E_NAME</a:t>
            </a:r>
            <a:endParaRPr lang="ar-IQ" dirty="0"/>
          </a:p>
          <a:p>
            <a:r>
              <a:rPr lang="en-US" dirty="0"/>
              <a:t>PROJECT (P_ID, P_NAME) </a:t>
            </a:r>
          </a:p>
          <a:p>
            <a:r>
              <a:rPr lang="en-US" dirty="0"/>
              <a:t>P_ID → P_NAME</a:t>
            </a:r>
            <a:endParaRPr lang="ar-IQ" dirty="0"/>
          </a:p>
          <a:p>
            <a:r>
              <a:rPr lang="en-US" dirty="0"/>
              <a:t>HOURS ASSIGNED (E ID, P ID, TOTALTIME)</a:t>
            </a:r>
          </a:p>
          <a:p>
            <a:r>
              <a:rPr lang="en-US" dirty="0"/>
              <a:t>{E_ID, P_ID}→ “Total Time”</a:t>
            </a:r>
          </a:p>
          <a:p>
            <a:r>
              <a:rPr lang="en-US" dirty="0"/>
              <a:t>In this relation the attribute TOTAL TIME fully depends on the </a:t>
            </a:r>
            <a:r>
              <a:rPr lang="en-US" dirty="0" err="1"/>
              <a:t>compositekey</a:t>
            </a:r>
            <a:r>
              <a:rPr lang="en-US" dirty="0"/>
              <a:t> E_ID and P_ID.</a:t>
            </a:r>
          </a:p>
          <a:p>
            <a:endParaRPr lang="en-AU" dirty="0"/>
          </a:p>
        </p:txBody>
      </p:sp>
    </p:spTree>
    <p:extLst>
      <p:ext uri="{BB962C8B-B14F-4D97-AF65-F5344CB8AC3E}">
        <p14:creationId xmlns:p14="http://schemas.microsoft.com/office/powerpoint/2010/main" val="2059268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Second Normal Form to Third Normal Form</a:t>
            </a:r>
            <a:br>
              <a:rPr lang="en-US" b="1" dirty="0"/>
            </a:br>
            <a:r>
              <a:rPr lang="en-US" b="1" dirty="0"/>
              <a:t> Third Normal Form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08066" y="1303420"/>
            <a:ext cx="10483934" cy="3140243"/>
          </a:xfrm>
        </p:spPr>
        <p:txBody>
          <a:bodyPr>
            <a:normAutofit lnSpcReduction="10000"/>
          </a:bodyPr>
          <a:lstStyle/>
          <a:p>
            <a:r>
              <a:rPr lang="en-US" dirty="0"/>
              <a:t>A table is in third normal form if it is in second normal form and contains no transitive dependencies (if A→B and B→C then A→C). </a:t>
            </a:r>
          </a:p>
          <a:p>
            <a:r>
              <a:rPr lang="en-US" dirty="0"/>
              <a:t>First let us consider a table HOSTEL which is in second normal form. </a:t>
            </a:r>
          </a:p>
          <a:p>
            <a:r>
              <a:rPr lang="en-US" dirty="0"/>
              <a:t>The attributes of the table HOSTEL are Roll number, Building name, and Fee as shown in Table 7. The table HOSTEL stores information about building in which a student’s room is located, and how much that student pays for the room. Here Student Roll number is the key for the table HOSTEL, since the other two columns depend on Student Roll number the table is in second normal form.</a:t>
            </a:r>
          </a:p>
        </p:txBody>
      </p:sp>
      <p:pic>
        <p:nvPicPr>
          <p:cNvPr id="11266" name="Picture 2">
            <a:extLst>
              <a:ext uri="{FF2B5EF4-FFF2-40B4-BE49-F238E27FC236}">
                <a16:creationId xmlns:a16="http://schemas.microsoft.com/office/drawing/2014/main" id="{7BCB700A-45B9-4D6A-8299-F4E443A898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4481" y="4363386"/>
            <a:ext cx="8753090" cy="2181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3594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Second Normal Form to Third Normal Form</a:t>
            </a:r>
            <a:br>
              <a:rPr lang="en-US" b="1" dirty="0"/>
            </a:br>
            <a:r>
              <a:rPr lang="en-US" b="1" dirty="0"/>
              <a:t> Third Normal Form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08066" y="1303420"/>
            <a:ext cx="10483934" cy="4343401"/>
          </a:xfrm>
        </p:spPr>
        <p:txBody>
          <a:bodyPr>
            <a:normAutofit/>
          </a:bodyPr>
          <a:lstStyle/>
          <a:p>
            <a:r>
              <a:rPr lang="en-US" dirty="0"/>
              <a:t>The table HOSTEL is not in third normal form because of transitive dependency. Roll </a:t>
            </a:r>
            <a:r>
              <a:rPr lang="en-US" dirty="0" err="1"/>
              <a:t>Number→Building</a:t>
            </a:r>
            <a:r>
              <a:rPr lang="en-US" dirty="0"/>
              <a:t>, </a:t>
            </a:r>
            <a:r>
              <a:rPr lang="en-US" dirty="0" err="1"/>
              <a:t>Building→Fee</a:t>
            </a:r>
            <a:r>
              <a:rPr lang="en-US" dirty="0"/>
              <a:t> which implies that Roll Number Fees.</a:t>
            </a:r>
          </a:p>
          <a:p>
            <a:r>
              <a:rPr lang="en-US" dirty="0"/>
              <a:t>Because of this transitive dependency, the table is not in third normal form. The table HOSTEL is prone to modification anomalies, since removing the Roll Number 101 from the table HOSTEL also deletes the fact that a room in Additional building costs Rs. 500. </a:t>
            </a:r>
          </a:p>
          <a:p>
            <a:r>
              <a:rPr lang="en-US" dirty="0"/>
              <a:t>The modification anomaly is due to transitive dependency.</a:t>
            </a:r>
            <a:endParaRPr lang="en-AU" dirty="0"/>
          </a:p>
        </p:txBody>
      </p:sp>
    </p:spTree>
    <p:extLst>
      <p:ext uri="{BB962C8B-B14F-4D97-AF65-F5344CB8AC3E}">
        <p14:creationId xmlns:p14="http://schemas.microsoft.com/office/powerpoint/2010/main" val="33794057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Solution to Transitive Dependency</a:t>
            </a:r>
            <a:endParaRPr lang="en-AU"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08066" y="1303421"/>
            <a:ext cx="10483934" cy="2001254"/>
          </a:xfrm>
        </p:spPr>
        <p:txBody>
          <a:bodyPr>
            <a:normAutofit lnSpcReduction="10000"/>
          </a:bodyPr>
          <a:lstStyle/>
          <a:p>
            <a:r>
              <a:rPr lang="en-US" dirty="0"/>
              <a:t>The solution to transitive dependency is to split the HOSTEL table into two as shown in Tables 8 and 9. </a:t>
            </a:r>
          </a:p>
          <a:p>
            <a:r>
              <a:rPr lang="en-US" dirty="0"/>
              <a:t>By splitting the table HOSTEL into two separate relations we can observe that the transitive dependency Roll </a:t>
            </a:r>
            <a:r>
              <a:rPr lang="en-US" dirty="0" err="1"/>
              <a:t>Number→Fees</a:t>
            </a:r>
            <a:r>
              <a:rPr lang="en-US" dirty="0"/>
              <a:t> is avoided hence the table is in third normal form.</a:t>
            </a:r>
            <a:endParaRPr lang="en-AU" dirty="0"/>
          </a:p>
        </p:txBody>
      </p:sp>
      <p:pic>
        <p:nvPicPr>
          <p:cNvPr id="12290" name="Picture 2">
            <a:extLst>
              <a:ext uri="{FF2B5EF4-FFF2-40B4-BE49-F238E27FC236}">
                <a16:creationId xmlns:a16="http://schemas.microsoft.com/office/drawing/2014/main" id="{3EE68853-659B-4A68-9F2A-2B5B1A0371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546" y="3232485"/>
            <a:ext cx="5212973" cy="1502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3">
            <a:extLst>
              <a:ext uri="{FF2B5EF4-FFF2-40B4-BE49-F238E27FC236}">
                <a16:creationId xmlns:a16="http://schemas.microsoft.com/office/drawing/2014/main" id="{2816DB5B-D94D-41FB-A637-9E5FDDDDDE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8946" y="5111181"/>
            <a:ext cx="5578988" cy="1624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5615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2293</TotalTime>
  <Words>1833</Words>
  <Application>Microsoft Office PowerPoint</Application>
  <PresentationFormat>Widescreen</PresentationFormat>
  <Paragraphs>113</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Corbel</vt:lpstr>
      <vt:lpstr>Parallax</vt:lpstr>
      <vt:lpstr>Database Systems 2</vt:lpstr>
      <vt:lpstr>Database II - Lecture 6  Normalization</vt:lpstr>
      <vt:lpstr>Introduction</vt:lpstr>
      <vt:lpstr>Introduction (cont.)</vt:lpstr>
      <vt:lpstr>Purpose of Normalization</vt:lpstr>
      <vt:lpstr>Steps in Normalization</vt:lpstr>
      <vt:lpstr>Steps in Normalization</vt:lpstr>
      <vt:lpstr>Steps in Normalization</vt:lpstr>
      <vt:lpstr>Steps in Normalization</vt:lpstr>
      <vt:lpstr>Unnormal Form to First Normal Form</vt:lpstr>
      <vt:lpstr>Unnormal Form to First Normal Form</vt:lpstr>
      <vt:lpstr>Solution 1</vt:lpstr>
      <vt:lpstr>Solution 2</vt:lpstr>
      <vt:lpstr>Solution 3</vt:lpstr>
      <vt:lpstr>First Normal Form to Second Normal Form Second Normal Form</vt:lpstr>
      <vt:lpstr>First Normal Form to Second Normal Form Second Normal Form</vt:lpstr>
      <vt:lpstr>First Normal Form to Second Normal Form Second Normal Form</vt:lpstr>
      <vt:lpstr>Second Normal Form to Third Normal Form  Third Normal Form</vt:lpstr>
      <vt:lpstr>Second Normal Form to Third Normal Form  Third Normal Form</vt:lpstr>
      <vt:lpstr>Solution to Transitive Dependency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Troubleshoot network connectivity issues</dc:title>
  <dc:creator>Rasool Al-Saadi</dc:creator>
  <cp:lastModifiedBy>Rasool Al-Saadi</cp:lastModifiedBy>
  <cp:revision>196</cp:revision>
  <dcterms:created xsi:type="dcterms:W3CDTF">2020-02-18T05:03:49Z</dcterms:created>
  <dcterms:modified xsi:type="dcterms:W3CDTF">2023-03-22T19:55:26Z</dcterms:modified>
</cp:coreProperties>
</file>