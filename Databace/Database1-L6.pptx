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38" autoAdjust="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453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389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213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5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464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54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35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940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608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69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761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352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045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604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81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560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831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3400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BE6EF5-D501-45B9-BF1D-4F3958A2C023}" type="datetimeFigureOut">
              <a:rPr lang="en-AU" smtClean="0"/>
              <a:t>29/01/2021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09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6A14-583D-428B-BCEA-39BC26517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0918" y="0"/>
            <a:ext cx="8574622" cy="2616199"/>
          </a:xfrm>
        </p:spPr>
        <p:txBody>
          <a:bodyPr/>
          <a:lstStyle/>
          <a:p>
            <a:pPr algn="ctr"/>
            <a:r>
              <a:rPr lang="en-AU" dirty="0"/>
              <a:t>Database Systems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53E97-050B-432A-8023-71AA641A2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8863" y="2782682"/>
            <a:ext cx="6481012" cy="384270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Dr. Rasool Hisham</a:t>
            </a:r>
          </a:p>
          <a:p>
            <a:pPr algn="ctr"/>
            <a:r>
              <a:rPr lang="en-US" b="1" dirty="0"/>
              <a:t>For 3</a:t>
            </a:r>
            <a:r>
              <a:rPr lang="en-US" b="1" baseline="30000" dirty="0"/>
              <a:t>rd</a:t>
            </a:r>
            <a:r>
              <a:rPr lang="en-US" b="1" dirty="0"/>
              <a:t> year students, 1</a:t>
            </a:r>
            <a:r>
              <a:rPr lang="en-US" b="1" baseline="30000" dirty="0"/>
              <a:t>st</a:t>
            </a:r>
            <a:r>
              <a:rPr lang="en-US" b="1" dirty="0"/>
              <a:t> semester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Al-</a:t>
            </a:r>
            <a:r>
              <a:rPr lang="en-US" b="1" dirty="0" err="1"/>
              <a:t>Nahrain</a:t>
            </a:r>
            <a:r>
              <a:rPr lang="en-US" b="1" dirty="0"/>
              <a:t> University</a:t>
            </a:r>
          </a:p>
          <a:p>
            <a:pPr algn="l"/>
            <a:r>
              <a:rPr lang="en-US" b="1" dirty="0"/>
              <a:t>College of Science</a:t>
            </a:r>
          </a:p>
          <a:p>
            <a:pPr algn="l"/>
            <a:r>
              <a:rPr lang="en-US" b="1" dirty="0"/>
              <a:t>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256319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Algebra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relational algebra is a theoretical language with operations that work on one or more relations.</a:t>
            </a:r>
          </a:p>
          <a:p>
            <a:r>
              <a:rPr lang="en-US" sz="2800" dirty="0"/>
              <a:t>Both the operands and the results are relations; hence the output from one operation can become the input to another operation. </a:t>
            </a:r>
          </a:p>
          <a:p>
            <a:r>
              <a:rPr lang="en-US" sz="2800" dirty="0"/>
              <a:t>Relational algebra is an abstract language, which means that the queries formulated in relational algebra are not intended to be executed on a computer. </a:t>
            </a:r>
          </a:p>
          <a:p>
            <a:r>
              <a:rPr lang="en-US" sz="2800" dirty="0"/>
              <a:t>Relational algebra consists of group of relational operators that can be used to manipulate relations to obtain a desired result.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603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Role of Relational Algebra in DBMS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5" y="1485999"/>
            <a:ext cx="5911601" cy="4852657"/>
          </a:xfrm>
        </p:spPr>
        <p:txBody>
          <a:bodyPr>
            <a:normAutofit/>
          </a:bodyPr>
          <a:lstStyle/>
          <a:p>
            <a:r>
              <a:rPr lang="en-US" sz="2800" dirty="0"/>
              <a:t>Knowledge about relational algebra allows us to understand query execution and optimization in relational database management system. </a:t>
            </a:r>
          </a:p>
          <a:p>
            <a:r>
              <a:rPr lang="en-US" sz="2800" dirty="0"/>
              <a:t>The role of relational algebra in DBMS is shown in the figure.</a:t>
            </a:r>
          </a:p>
          <a:p>
            <a:r>
              <a:rPr lang="en-US" sz="28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726C73-3922-4B0A-BAA0-96EB471D20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2"/>
          <a:stretch/>
        </p:blipFill>
        <p:spPr bwMode="auto">
          <a:xfrm>
            <a:off x="7660353" y="1485998"/>
            <a:ext cx="3890296" cy="485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368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Role of Relational Algebra in DBMS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/>
          </a:bodyPr>
          <a:lstStyle/>
          <a:p>
            <a:r>
              <a:rPr lang="en-US" sz="2800" dirty="0"/>
              <a:t>From the figure it is evident that when a SQL query has to be converted into an executable code, first it has to be parsed to a valid relational algebraic expression, then there should be a proper query execution plan to speed up the data retrieval.</a:t>
            </a:r>
          </a:p>
          <a:p>
            <a:r>
              <a:rPr lang="en-US" sz="2800" dirty="0"/>
              <a:t> The query execution plan is given by query optimizer.</a:t>
            </a:r>
          </a:p>
        </p:txBody>
      </p:sp>
    </p:spTree>
    <p:extLst>
      <p:ext uri="{BB962C8B-B14F-4D97-AF65-F5344CB8AC3E}">
        <p14:creationId xmlns:p14="http://schemas.microsoft.com/office/powerpoint/2010/main" val="146017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Algebra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1481790"/>
          </a:xfrm>
        </p:spPr>
        <p:txBody>
          <a:bodyPr>
            <a:normAutofit/>
          </a:bodyPr>
          <a:lstStyle/>
          <a:p>
            <a:r>
              <a:rPr lang="en-US" sz="2800" dirty="0"/>
              <a:t>Operations in relational algebra can be broadly classified into set operation and database operations.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D2D0576-D774-4617-A1D1-5E563A05A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994" y="2726285"/>
            <a:ext cx="9013070" cy="345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64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Unary and Binary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/>
          </a:bodyPr>
          <a:lstStyle/>
          <a:p>
            <a:r>
              <a:rPr lang="en-US" sz="2800" dirty="0"/>
              <a:t>Unary operation involves one operand, whereas binary operation involves two operands. </a:t>
            </a:r>
          </a:p>
          <a:p>
            <a:r>
              <a:rPr lang="en-US" sz="2800" dirty="0"/>
              <a:t>The selection and projection are unary operations. </a:t>
            </a:r>
          </a:p>
          <a:p>
            <a:r>
              <a:rPr lang="en-US" sz="2800" dirty="0"/>
              <a:t>Union, difference, Cartesian product, and Join operations are binary operations: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	Unary operation operate on one relation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	Binary operation operate on more than one relation</a:t>
            </a:r>
          </a:p>
          <a:p>
            <a:r>
              <a:rPr lang="en-US" sz="2800" dirty="0"/>
              <a:t>Three main database operations are SELECTION, PROJECTION, and JOIN.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1427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Selection Operation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2059306"/>
          </a:xfrm>
        </p:spPr>
        <p:txBody>
          <a:bodyPr>
            <a:normAutofit/>
          </a:bodyPr>
          <a:lstStyle/>
          <a:p>
            <a:r>
              <a:rPr lang="en-US" sz="2800" dirty="0"/>
              <a:t>The selection operation works on a single relation R and defines a relation that contains only those tuples of R that satisfy the specified condition (Predicate).</a:t>
            </a:r>
          </a:p>
          <a:p>
            <a:r>
              <a:rPr lang="en-US" sz="2800" dirty="0"/>
              <a:t> Selection operation can be considered as row wise filtering. 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AD0BD002-F705-4F54-BB06-69AE29646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267" y="4002605"/>
            <a:ext cx="5829175" cy="1692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C87DF0-7D42-478A-BD2C-5B643D422082}"/>
              </a:ext>
            </a:extLst>
          </p:cNvPr>
          <p:cNvSpPr/>
          <p:nvPr/>
        </p:nvSpPr>
        <p:spPr>
          <a:xfrm>
            <a:off x="3245267" y="5752135"/>
            <a:ext cx="53528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Pictorial representation of SELECTION operation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647445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Syntax of Selection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641" y="2512695"/>
            <a:ext cx="9877894" cy="2059306"/>
          </a:xfrm>
        </p:spPr>
        <p:txBody>
          <a:bodyPr>
            <a:normAutofit/>
          </a:bodyPr>
          <a:lstStyle/>
          <a:p>
            <a:r>
              <a:rPr lang="en-US" sz="2800" dirty="0"/>
              <a:t>The syntax of selection operation is: </a:t>
            </a:r>
            <a:r>
              <a:rPr lang="en-US" dirty="0"/>
              <a:t>σ </a:t>
            </a:r>
            <a:r>
              <a:rPr lang="en-US" baseline="-25000" dirty="0"/>
              <a:t>Predicate</a:t>
            </a:r>
            <a:r>
              <a:rPr lang="en-US" sz="2800" dirty="0"/>
              <a:t> (R).</a:t>
            </a:r>
          </a:p>
          <a:p>
            <a:r>
              <a:rPr lang="en-US" sz="2800" dirty="0"/>
              <a:t> Here R refers to relation and predicate refers to condition. </a:t>
            </a:r>
          </a:p>
        </p:txBody>
      </p:sp>
    </p:spTree>
    <p:extLst>
      <p:ext uri="{BB962C8B-B14F-4D97-AF65-F5344CB8AC3E}">
        <p14:creationId xmlns:p14="http://schemas.microsoft.com/office/powerpoint/2010/main" val="418963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Selection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967264"/>
            <a:ext cx="9877894" cy="2059306"/>
          </a:xfrm>
        </p:spPr>
        <p:txBody>
          <a:bodyPr>
            <a:normAutofit/>
          </a:bodyPr>
          <a:lstStyle/>
          <a:p>
            <a:r>
              <a:rPr lang="en-US" sz="2800" dirty="0"/>
              <a:t>To illustrate the SELECTION operation, consider the STUDENT relation with the attributes Roll number, Name, and GPA (Grade Point Average).</a:t>
            </a:r>
          </a:p>
          <a:p>
            <a:r>
              <a:rPr lang="en-US" sz="2800" dirty="0"/>
              <a:t>Example: Consider the relation STUDENT :</a:t>
            </a:r>
          </a:p>
          <a:p>
            <a:endParaRPr lang="en-US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C19752-203A-4055-8E87-1BE47BCB5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96" y="3924301"/>
            <a:ext cx="6792300" cy="2572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4331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Selection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967263"/>
            <a:ext cx="9877894" cy="3138139"/>
          </a:xfrm>
        </p:spPr>
        <p:txBody>
          <a:bodyPr>
            <a:normAutofit/>
          </a:bodyPr>
          <a:lstStyle/>
          <a:p>
            <a:r>
              <a:rPr lang="en-US" sz="2800" dirty="0"/>
              <a:t>Query 1: List the Roll. No, Name, and GPA of those students who are having GPA of above 8.0</a:t>
            </a:r>
          </a:p>
          <a:p>
            <a:r>
              <a:rPr lang="en-US" sz="2800" dirty="0"/>
              <a:t>Query expressed in relational algebra as:	</a:t>
            </a:r>
            <a:r>
              <a:rPr lang="en-US" dirty="0"/>
              <a:t> σ </a:t>
            </a:r>
            <a:r>
              <a:rPr lang="en-US" baseline="-25000" dirty="0"/>
              <a:t>GPA &gt; 8</a:t>
            </a:r>
            <a:r>
              <a:rPr lang="en-US" dirty="0"/>
              <a:t> (Student)</a:t>
            </a:r>
            <a:r>
              <a:rPr lang="en-US" sz="2800" dirty="0"/>
              <a:t>.</a:t>
            </a:r>
          </a:p>
          <a:p>
            <a:r>
              <a:rPr lang="en-US" sz="2800" dirty="0"/>
              <a:t>The result of the earlier query is: </a:t>
            </a:r>
          </a:p>
          <a:p>
            <a:r>
              <a:rPr lang="en-US" sz="2800" dirty="0"/>
              <a:t>The result of the earlier query is: </a:t>
            </a:r>
          </a:p>
          <a:p>
            <a:endParaRPr lang="en-US" sz="2800" dirty="0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2B240AF9-7F9F-491E-84ED-75C09FB57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901" y="5045246"/>
            <a:ext cx="6684197" cy="125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606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Selection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967264"/>
            <a:ext cx="9877894" cy="1866800"/>
          </a:xfrm>
        </p:spPr>
        <p:txBody>
          <a:bodyPr>
            <a:normAutofit/>
          </a:bodyPr>
          <a:lstStyle/>
          <a:p>
            <a:r>
              <a:rPr lang="en-US" sz="2800" dirty="0"/>
              <a:t>Query 2: Give the details of first four students in the class.</a:t>
            </a:r>
          </a:p>
          <a:p>
            <a:r>
              <a:rPr lang="en-US" sz="2800" dirty="0"/>
              <a:t>Relational algebra expression is:</a:t>
            </a:r>
            <a:r>
              <a:rPr lang="en-US" i="1" dirty="0"/>
              <a:t>		</a:t>
            </a:r>
            <a:r>
              <a:rPr lang="en-US" dirty="0"/>
              <a:t> σ </a:t>
            </a:r>
            <a:r>
              <a:rPr lang="en-US" baseline="-25000" dirty="0"/>
              <a:t>Roll. No</a:t>
            </a:r>
            <a:r>
              <a:rPr lang="en-US" dirty="0"/>
              <a:t> ≤ 4 (student).</a:t>
            </a:r>
            <a:endParaRPr lang="en-A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51C01D6-64AA-42B5-BC5E-CECC476FC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205" y="4261304"/>
            <a:ext cx="7887014" cy="1578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1216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Projection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876299"/>
            <a:ext cx="9877894" cy="3807894"/>
          </a:xfrm>
        </p:spPr>
        <p:txBody>
          <a:bodyPr>
            <a:normAutofit/>
          </a:bodyPr>
          <a:lstStyle/>
          <a:p>
            <a:r>
              <a:rPr lang="en-US" sz="2800" dirty="0"/>
              <a:t>The projection operation works on a single relation R and defines a relation that contains a vertical subject of R, extracting the values of specified attributes and elimination duplicates. </a:t>
            </a:r>
          </a:p>
          <a:p>
            <a:r>
              <a:rPr lang="en-US" sz="2800" dirty="0"/>
              <a:t>The projection operation can be considered as column wise filtering. </a:t>
            </a:r>
          </a:p>
          <a:p>
            <a:r>
              <a:rPr lang="en-US" sz="2800" dirty="0"/>
              <a:t>The projection operation is pictorially represented in the figure</a:t>
            </a:r>
            <a:endParaRPr lang="en-A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7B70470-C522-4EC9-A152-DFCBA2E6C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712" y="4613820"/>
            <a:ext cx="6080431" cy="94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81DE34-B136-49B8-A61F-7FEB17CC91D4}"/>
              </a:ext>
            </a:extLst>
          </p:cNvPr>
          <p:cNvSpPr/>
          <p:nvPr/>
        </p:nvSpPr>
        <p:spPr>
          <a:xfrm>
            <a:off x="4274363" y="5797035"/>
            <a:ext cx="4674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Pictorial representation of Projection operation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521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Syntax of Projection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876299"/>
            <a:ext cx="9877894" cy="3807894"/>
          </a:xfrm>
        </p:spPr>
        <p:txBody>
          <a:bodyPr>
            <a:normAutofit/>
          </a:bodyPr>
          <a:lstStyle/>
          <a:p>
            <a:r>
              <a:rPr lang="en-US" sz="2800" dirty="0"/>
              <a:t>The syntax of projection operation is given by: ∏ </a:t>
            </a:r>
            <a:r>
              <a:rPr lang="en-US" sz="2800" baseline="-25000" dirty="0"/>
              <a:t>a1,a2,......an</a:t>
            </a:r>
            <a:r>
              <a:rPr lang="en-US" sz="2800" dirty="0"/>
              <a:t> (R). Where a1, a2, . . . . . . a</a:t>
            </a:r>
            <a:r>
              <a:rPr lang="en-US" sz="2800" baseline="-25000" dirty="0"/>
              <a:t>n</a:t>
            </a:r>
            <a:r>
              <a:rPr lang="en-US" sz="2800" dirty="0"/>
              <a:t> are attributes and R stands for relation.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8598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Projection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2049379"/>
          </a:xfrm>
        </p:spPr>
        <p:txBody>
          <a:bodyPr>
            <a:normAutofit/>
          </a:bodyPr>
          <a:lstStyle/>
          <a:p>
            <a:r>
              <a:rPr lang="en-US" sz="2800" dirty="0"/>
              <a:t>To illustrate projection operation consider the relation STAFF, with the attributes Staff number, Name, Gender, Date of birth, and Salary.</a:t>
            </a:r>
            <a:endParaRPr lang="en-AU" sz="28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016D62C-AAE2-49EC-A1B8-DDE72BB9F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497" y="3597441"/>
            <a:ext cx="7864409" cy="1362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4934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Projection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2049379"/>
          </a:xfrm>
        </p:spPr>
        <p:txBody>
          <a:bodyPr>
            <a:normAutofit/>
          </a:bodyPr>
          <a:lstStyle/>
          <a:p>
            <a:r>
              <a:rPr lang="en-US" sz="2800" dirty="0"/>
              <a:t>Query 1: Produce the list of salaries for all staff showing only the Name and salary detail. </a:t>
            </a:r>
          </a:p>
          <a:p>
            <a:r>
              <a:rPr lang="en-US" sz="2800" i="1" dirty="0"/>
              <a:t>Relational algebra expression:</a:t>
            </a:r>
            <a:r>
              <a:rPr lang="en-US" sz="2800" dirty="0"/>
              <a:t> 		∏ </a:t>
            </a:r>
            <a:r>
              <a:rPr lang="en-US" sz="2800" baseline="-25000" dirty="0" err="1"/>
              <a:t>Name.salary</a:t>
            </a:r>
            <a:r>
              <a:rPr lang="en-US" sz="2800" dirty="0"/>
              <a:t> (staff)</a:t>
            </a:r>
            <a:endParaRPr lang="en-AU" sz="28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E4E7281-6419-4A7D-BC55-6ED23A471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067" y="3854867"/>
            <a:ext cx="4917885" cy="1623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58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Projection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2049379"/>
          </a:xfrm>
        </p:spPr>
        <p:txBody>
          <a:bodyPr>
            <a:normAutofit/>
          </a:bodyPr>
          <a:lstStyle/>
          <a:p>
            <a:r>
              <a:rPr lang="en-US" sz="2800" i="1" dirty="0"/>
              <a:t>Query 2:</a:t>
            </a:r>
            <a:r>
              <a:rPr lang="en-US" sz="2800" dirty="0"/>
              <a:t> Give the name and Date of birth of the all the staff in the STAFF relation.</a:t>
            </a:r>
            <a:endParaRPr lang="en-AU" sz="2800" dirty="0"/>
          </a:p>
          <a:p>
            <a:r>
              <a:rPr lang="en-US" sz="2800" i="1" dirty="0"/>
              <a:t>Relational algebra expression for query 2:</a:t>
            </a:r>
            <a:r>
              <a:rPr lang="en-US" sz="2800" dirty="0"/>
              <a:t>	 ∏ </a:t>
            </a:r>
            <a:r>
              <a:rPr lang="en-US" sz="2800" baseline="-25000" dirty="0"/>
              <a:t>Name, date of birth</a:t>
            </a:r>
            <a:r>
              <a:rPr lang="en-US" sz="2800" dirty="0"/>
              <a:t> (staff)</a:t>
            </a:r>
            <a:endParaRPr lang="en-AU" sz="28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BE8FFCA-97AE-47CE-8CA2-2B7A343D5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9" y="3582151"/>
            <a:ext cx="6012031" cy="1695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0880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Union Compatibility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5478379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In order to perform the Union, Intersection, and the Difference operations on two relations, the two relations should be union compatible.</a:t>
            </a:r>
          </a:p>
          <a:p>
            <a:r>
              <a:rPr lang="en-US" sz="2800" dirty="0"/>
              <a:t> Two relations are union compatible if they have same number of attributes and belong to the same domain. </a:t>
            </a:r>
          </a:p>
          <a:p>
            <a:r>
              <a:rPr lang="en-US" sz="2800" dirty="0"/>
              <a:t>Mathematically UNION COMPATIBILITY it is given as:</a:t>
            </a:r>
          </a:p>
          <a:p>
            <a:r>
              <a:rPr lang="en-US" sz="2800" dirty="0"/>
              <a:t>Let R(A1,A2,........An) and S(B1,B2,.............Bn) be the two relations. The relation R has the attributes A1,A2,........An and the relation S has the attributes B1,B2,.............Bn. </a:t>
            </a:r>
          </a:p>
          <a:p>
            <a:r>
              <a:rPr lang="en-US" sz="2800" dirty="0"/>
              <a:t>The two relations R and S are union compatible if </a:t>
            </a:r>
            <a:r>
              <a:rPr lang="en-US" sz="2800" dirty="0" err="1"/>
              <a:t>dom</a:t>
            </a:r>
            <a:r>
              <a:rPr lang="en-US" sz="2800" dirty="0"/>
              <a:t>(Ai) = </a:t>
            </a:r>
            <a:r>
              <a:rPr lang="en-US" sz="2800" dirty="0" err="1"/>
              <a:t>dom</a:t>
            </a:r>
            <a:r>
              <a:rPr lang="en-US" sz="2800" dirty="0"/>
              <a:t>(Bi) for </a:t>
            </a:r>
            <a:r>
              <a:rPr lang="en-US" sz="2800" dirty="0" err="1"/>
              <a:t>i</a:t>
            </a:r>
            <a:r>
              <a:rPr lang="en-US" sz="2800" dirty="0"/>
              <a:t> = 1 to n.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81788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Union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3850105"/>
          </a:xfrm>
        </p:spPr>
        <p:txBody>
          <a:bodyPr>
            <a:normAutofit/>
          </a:bodyPr>
          <a:lstStyle/>
          <a:p>
            <a:r>
              <a:rPr lang="en-US" sz="2800" dirty="0"/>
              <a:t>The union of two relations R and S defines a relation that contains all the tuples of R or S or both R and S, duplicate tuples being eliminated.</a:t>
            </a:r>
            <a:endParaRPr lang="en-AU" sz="2800" dirty="0"/>
          </a:p>
          <a:p>
            <a:r>
              <a:rPr lang="en-US" sz="2800" i="1" dirty="0"/>
              <a:t>Relational Algebra Expression</a:t>
            </a:r>
            <a:endParaRPr lang="en-AU" sz="2800" dirty="0"/>
          </a:p>
          <a:p>
            <a:r>
              <a:rPr lang="en-US" sz="2800" dirty="0"/>
              <a:t>The union of two relations R and S are denoted by R </a:t>
            </a:r>
            <a:r>
              <a:rPr lang="en-US" sz="2800" dirty="0">
                <a:sym typeface="Symbol" panose="05050102010706020507" pitchFamily="18" charset="2"/>
              </a:rPr>
              <a:t></a:t>
            </a:r>
            <a:r>
              <a:rPr lang="en-US" sz="2800" dirty="0"/>
              <a:t> S.</a:t>
            </a:r>
          </a:p>
          <a:p>
            <a:r>
              <a:rPr lang="en-US" sz="2800" dirty="0"/>
              <a:t> It is pictorially represented in the figure.</a:t>
            </a:r>
            <a:endParaRPr lang="en-AU" sz="2800" dirty="0"/>
          </a:p>
          <a:p>
            <a:endParaRPr lang="en-AU" sz="28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2A5E870-CCD6-4708-8679-BDF7771B0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341" y="4788739"/>
            <a:ext cx="7467584" cy="914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>
            <a:extLst>
              <a:ext uri="{FF2B5EF4-FFF2-40B4-BE49-F238E27FC236}">
                <a16:creationId xmlns:a16="http://schemas.microsoft.com/office/drawing/2014/main" id="{97180AAC-1EAC-41C8-8F9B-3466905A0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038" y="5757444"/>
            <a:ext cx="3433924" cy="110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936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UNION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2"/>
            <a:ext cx="9877894" cy="2662990"/>
          </a:xfrm>
        </p:spPr>
        <p:txBody>
          <a:bodyPr>
            <a:normAutofit/>
          </a:bodyPr>
          <a:lstStyle/>
          <a:p>
            <a:r>
              <a:rPr lang="en-US" sz="2800" dirty="0"/>
              <a:t>To illustrate the UNION operation consider the two relations Customer 1 and Customer 2 with the attributes Name and city.</a:t>
            </a:r>
            <a:endParaRPr lang="en-AU" sz="2800" dirty="0"/>
          </a:p>
          <a:p>
            <a:endParaRPr lang="en-AU" sz="28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8E7D327-7341-4B05-800C-B2061F726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371" y="3226050"/>
            <a:ext cx="7825258" cy="1633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3379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UNION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2"/>
            <a:ext cx="9877894" cy="2662990"/>
          </a:xfrm>
        </p:spPr>
        <p:txBody>
          <a:bodyPr>
            <a:normAutofit/>
          </a:bodyPr>
          <a:lstStyle/>
          <a:p>
            <a:r>
              <a:rPr lang="en-US" sz="2800" i="1" dirty="0"/>
              <a:t>Query:</a:t>
            </a:r>
            <a:r>
              <a:rPr lang="en-US" sz="2800" dirty="0"/>
              <a:t> Determine Customer 1  </a:t>
            </a:r>
            <a:r>
              <a:rPr lang="en-US" sz="2800" dirty="0">
                <a:sym typeface="Symbol" panose="05050102010706020507" pitchFamily="18" charset="2"/>
              </a:rPr>
              <a:t></a:t>
            </a:r>
            <a:r>
              <a:rPr lang="en-US" sz="2800" dirty="0"/>
              <a:t> Customer 2</a:t>
            </a:r>
            <a:endParaRPr lang="en-AU" sz="28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55091A83-2B57-4390-BB85-8CB848FEE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500" y="3625517"/>
            <a:ext cx="5291888" cy="198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424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Intersection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2823411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intersection operation defines a relation consisting of the set of all tuples that are in both R and S.</a:t>
            </a:r>
          </a:p>
          <a:p>
            <a:r>
              <a:rPr lang="en-US" sz="2800" i="1" dirty="0"/>
              <a:t>Relational Algebra Expression:  </a:t>
            </a:r>
            <a:r>
              <a:rPr lang="en-US" sz="2800" dirty="0"/>
              <a:t>The intersection of two relations R and S is denoted by R ∩ S. </a:t>
            </a:r>
          </a:p>
          <a:p>
            <a:r>
              <a:rPr lang="en-US" sz="2800" dirty="0"/>
              <a:t>The intersection between the two relations R and S is pictorially shown in the figure.</a:t>
            </a:r>
            <a:endParaRPr lang="en-AU" sz="2800" dirty="0"/>
          </a:p>
          <a:p>
            <a:endParaRPr lang="en-AU" sz="2800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D9173B5F-204E-415F-99B8-350F1B76B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908" y="4203032"/>
            <a:ext cx="5074643" cy="1556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2F27B2-3679-4CDB-BBD7-830F9DE75593}"/>
              </a:ext>
            </a:extLst>
          </p:cNvPr>
          <p:cNvSpPr/>
          <p:nvPr/>
        </p:nvSpPr>
        <p:spPr>
          <a:xfrm>
            <a:off x="4495994" y="5939406"/>
            <a:ext cx="40063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Intersection of two relations R and 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569323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Intersection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2823411"/>
          </a:xfrm>
        </p:spPr>
        <p:txBody>
          <a:bodyPr>
            <a:normAutofit/>
          </a:bodyPr>
          <a:lstStyle/>
          <a:p>
            <a:r>
              <a:rPr lang="en-US" sz="2800" dirty="0"/>
              <a:t>Example: Find the intersection of Customer 1 with Customer 2 in the following table.</a:t>
            </a:r>
          </a:p>
          <a:p>
            <a:endParaRPr lang="en-AU" sz="28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30BF941-267A-42D3-96F1-37D7CE002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944" y="3428999"/>
            <a:ext cx="6901294" cy="191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259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Difference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379621"/>
            <a:ext cx="9877894" cy="3015916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The set difference operation defines a relation consisting of the tuples that are in relation R but not in S.</a:t>
            </a:r>
            <a:endParaRPr lang="en-AU" sz="3200" dirty="0"/>
          </a:p>
          <a:p>
            <a:r>
              <a:rPr lang="en-US" sz="3200" i="1" dirty="0"/>
              <a:t>Relational Algebra Expression</a:t>
            </a:r>
            <a:endParaRPr lang="en-AU" sz="3200" dirty="0"/>
          </a:p>
          <a:p>
            <a:r>
              <a:rPr lang="en-US" sz="3200" dirty="0"/>
              <a:t>The difference between two relations R and S is denoted by R–S. </a:t>
            </a:r>
            <a:endParaRPr lang="en-AU" sz="3200" dirty="0"/>
          </a:p>
          <a:p>
            <a:endParaRPr lang="en-AU" sz="36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35CB9920-EAC4-4673-98F2-E36A77D22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721" y="4670258"/>
            <a:ext cx="5602972" cy="161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114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Illustration of Difference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755" y="1654342"/>
            <a:ext cx="9877894" cy="1890963"/>
          </a:xfrm>
        </p:spPr>
        <p:txBody>
          <a:bodyPr>
            <a:normAutofit/>
          </a:bodyPr>
          <a:lstStyle/>
          <a:p>
            <a:r>
              <a:rPr lang="en-US" sz="2800" i="1" dirty="0"/>
              <a:t>Example: </a:t>
            </a:r>
            <a:r>
              <a:rPr lang="en-US" sz="2800" dirty="0"/>
              <a:t>Compute R–S for the relation shown in the following table.</a:t>
            </a:r>
            <a:endParaRPr lang="en-AU" sz="2800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D466D148-325E-45E7-B4C1-2FB2E71FD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057" y="3406940"/>
            <a:ext cx="6384763" cy="155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3656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5402</TotalTime>
  <Words>1087</Words>
  <Application>Microsoft Office PowerPoint</Application>
  <PresentationFormat>Widescreen</PresentationFormat>
  <Paragraphs>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Corbel</vt:lpstr>
      <vt:lpstr>Wingdings</vt:lpstr>
      <vt:lpstr>Parallax</vt:lpstr>
      <vt:lpstr>Database Systems I</vt:lpstr>
      <vt:lpstr>Relational Algebra</vt:lpstr>
      <vt:lpstr>Role of Relational Algebra in DBMS</vt:lpstr>
      <vt:lpstr>Role of Relational Algebra in DBMS (cont.)</vt:lpstr>
      <vt:lpstr>Relational Algebra Operations</vt:lpstr>
      <vt:lpstr>Unary and Binary Operations</vt:lpstr>
      <vt:lpstr>Selection Operation </vt:lpstr>
      <vt:lpstr>Syntax of Selection Operation</vt:lpstr>
      <vt:lpstr>Illustration of Selection Operation</vt:lpstr>
      <vt:lpstr>Illustration of Selection Operation</vt:lpstr>
      <vt:lpstr>Illustration of Selection Operation</vt:lpstr>
      <vt:lpstr>Projection Operation</vt:lpstr>
      <vt:lpstr>Syntax of Projection Operation</vt:lpstr>
      <vt:lpstr>Illustration of Projection Operation</vt:lpstr>
      <vt:lpstr>Illustration of Projection Operation</vt:lpstr>
      <vt:lpstr>Illustration of Projection Operation</vt:lpstr>
      <vt:lpstr>Union Compatibility</vt:lpstr>
      <vt:lpstr>Union Operation</vt:lpstr>
      <vt:lpstr>Illustration of UNION Operation</vt:lpstr>
      <vt:lpstr>Illustration of UNION Operation</vt:lpstr>
      <vt:lpstr>Intersection Operation</vt:lpstr>
      <vt:lpstr>Illustration of Intersection Operation</vt:lpstr>
      <vt:lpstr>Difference Operation</vt:lpstr>
      <vt:lpstr>Illustration of Difference Operation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 network connectivity issues</dc:title>
  <dc:creator>Rasool Al-Saadi</dc:creator>
  <cp:lastModifiedBy>Rasool Al-Saadi</cp:lastModifiedBy>
  <cp:revision>223</cp:revision>
  <dcterms:created xsi:type="dcterms:W3CDTF">2020-02-18T05:03:49Z</dcterms:created>
  <dcterms:modified xsi:type="dcterms:W3CDTF">2021-01-29T20:09:52Z</dcterms:modified>
</cp:coreProperties>
</file>