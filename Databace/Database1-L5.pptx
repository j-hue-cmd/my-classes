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38" autoAdjust="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453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389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213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5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464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54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35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940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608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69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761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352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0458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604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81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560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831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3400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BE6EF5-D501-45B9-BF1D-4F3958A2C023}" type="datetimeFigureOut">
              <a:rPr lang="en-AU" smtClean="0"/>
              <a:t>15/01/2021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A86AD4-3B45-4902-8FDB-DE84D31C86C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609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6A14-583D-428B-BCEA-39BC26517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0918" y="0"/>
            <a:ext cx="8574622" cy="2616199"/>
          </a:xfrm>
        </p:spPr>
        <p:txBody>
          <a:bodyPr/>
          <a:lstStyle/>
          <a:p>
            <a:pPr algn="ctr"/>
            <a:r>
              <a:rPr lang="en-AU" dirty="0"/>
              <a:t>Database Systems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53E97-050B-432A-8023-71AA641A2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8863" y="2782682"/>
            <a:ext cx="6481012" cy="384270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Dr. Rasool Hisham</a:t>
            </a:r>
          </a:p>
          <a:p>
            <a:pPr algn="ctr"/>
            <a:r>
              <a:rPr lang="en-US" b="1" dirty="0"/>
              <a:t>For 3</a:t>
            </a:r>
            <a:r>
              <a:rPr lang="en-US" b="1" baseline="30000" dirty="0"/>
              <a:t>rd</a:t>
            </a:r>
            <a:r>
              <a:rPr lang="en-US" b="1" dirty="0"/>
              <a:t> year students, 1</a:t>
            </a:r>
            <a:r>
              <a:rPr lang="en-US" b="1" baseline="30000" dirty="0"/>
              <a:t>st</a:t>
            </a:r>
            <a:r>
              <a:rPr lang="en-US" b="1" dirty="0"/>
              <a:t> semester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Al-</a:t>
            </a:r>
            <a:r>
              <a:rPr lang="en-US" b="1" dirty="0" err="1"/>
              <a:t>Nahrain</a:t>
            </a:r>
            <a:r>
              <a:rPr lang="en-US" b="1" dirty="0"/>
              <a:t> University</a:t>
            </a:r>
          </a:p>
          <a:p>
            <a:pPr algn="l"/>
            <a:r>
              <a:rPr lang="en-US" b="1" dirty="0"/>
              <a:t>College of Science</a:t>
            </a:r>
          </a:p>
          <a:p>
            <a:pPr algn="l"/>
            <a:r>
              <a:rPr lang="en-US" b="1" dirty="0"/>
              <a:t>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256319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/>
          </a:bodyPr>
          <a:lstStyle/>
          <a:p>
            <a:r>
              <a:rPr lang="en-US" sz="2800" dirty="0"/>
              <a:t>Edgar Frank Codd had written an article “A relational model for large shared data banks” in June 1970. </a:t>
            </a:r>
          </a:p>
          <a:p>
            <a:r>
              <a:rPr lang="en-US" sz="2800" dirty="0"/>
              <a:t>His work triggered people to work in relational model. </a:t>
            </a:r>
          </a:p>
          <a:p>
            <a:r>
              <a:rPr lang="en-US" sz="2800" dirty="0"/>
              <a:t>It gave rise to major developments such as a structured query language called SQL which has since become an ISO standard.</a:t>
            </a:r>
          </a:p>
          <a:p>
            <a:r>
              <a:rPr lang="en-US" sz="2800" dirty="0"/>
              <a:t>Various commercial relational DBMS products were developed during the 1980s such as DB2, and Oracle. </a:t>
            </a:r>
          </a:p>
          <a:p>
            <a:r>
              <a:rPr lang="en-US" sz="2800" dirty="0"/>
              <a:t>In relational data model the data are stored in the form of </a:t>
            </a:r>
            <a:r>
              <a:rPr lang="en-US" sz="2800" b="1" dirty="0"/>
              <a:t>tables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8603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CODD’S Rules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/>
          </a:bodyPr>
          <a:lstStyle/>
          <a:p>
            <a:r>
              <a:rPr lang="en-US" sz="2800" dirty="0"/>
              <a:t>In 1985, Codd published a list of rules that became a standard way of evaluating a relational system. </a:t>
            </a:r>
          </a:p>
          <a:p>
            <a:r>
              <a:rPr lang="en-US" sz="2800" dirty="0"/>
              <a:t>After publishing the original article, Codd stated that there are no systems that will satisfy every rule.</a:t>
            </a:r>
          </a:p>
          <a:p>
            <a:r>
              <a:rPr lang="en-US" sz="2800" dirty="0"/>
              <a:t> Nevertheless the rules represent relational ideal and remain a goal for relational database designers. </a:t>
            </a:r>
          </a:p>
          <a:p>
            <a:r>
              <a:rPr lang="en-US" sz="2800" dirty="0"/>
              <a:t>Codd’s  rules are: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368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CODD’S Rules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Information Rule: Data should be presented to the user in the tabular form.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Guaranteed Access Rule: Every data element should be unambiguously accessible.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Systematic Treatment of Null Values: Null values are supported in fully relational DBMS for representing missing information, independent of data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Dynamic On-line Catalog Based on the Relational Model:  The database description is represented at the logical level in the same way as ordinary data. The database description should be accessible to the users. </a:t>
            </a:r>
          </a:p>
        </p:txBody>
      </p:sp>
    </p:spTree>
    <p:extLst>
      <p:ext uri="{BB962C8B-B14F-4D97-AF65-F5344CB8AC3E}">
        <p14:creationId xmlns:p14="http://schemas.microsoft.com/office/powerpoint/2010/main" val="32618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CODD’S Rules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Comprehensive Data Sublanguage Rule: A database supports a clearly defined language to define the database, view the definition, and manipulate the data.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View Updating Rule: Data should be able to be changed through any view available to the user.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High-level Insert, Update, and Delete: All records in a file must be able to be added, deleted, or updated with singular commands.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800" dirty="0"/>
              <a:t>Physical Data Independence: Changes in how data are stored or retrieved should not affect how a user accesses the data.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004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CODD’S Rules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2800" dirty="0"/>
              <a:t>Logical Data Independence: A user’s view of data should be unaffected by its actual form in files.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800" dirty="0"/>
              <a:t> Integrity Independence: Constraints on user input should exist to maintain data integrity.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800" dirty="0"/>
              <a:t>	Distribution Independence: A database design should allow for distribution of data over several computer sites.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2800" dirty="0"/>
              <a:t>	</a:t>
            </a:r>
            <a:r>
              <a:rPr lang="en-US" sz="2800" dirty="0" err="1"/>
              <a:t>Nonsubversion</a:t>
            </a:r>
            <a:r>
              <a:rPr lang="en-US" sz="2800" dirty="0"/>
              <a:t> Rule: Data fields that affect the organization of the database cannot be changed.</a:t>
            </a:r>
          </a:p>
        </p:txBody>
      </p:sp>
    </p:spTree>
    <p:extLst>
      <p:ext uri="{BB962C8B-B14F-4D97-AF65-F5344CB8AC3E}">
        <p14:creationId xmlns:p14="http://schemas.microsoft.com/office/powerpoint/2010/main" val="98361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Model 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/>
          </a:bodyPr>
          <a:lstStyle/>
          <a:p>
            <a:r>
              <a:rPr lang="en-US" sz="2800" dirty="0"/>
              <a:t>The relational model uses a collection of </a:t>
            </a:r>
            <a:r>
              <a:rPr lang="en-US" sz="2800" b="1" dirty="0"/>
              <a:t>tables</a:t>
            </a:r>
            <a:r>
              <a:rPr lang="en-US" sz="2800" dirty="0"/>
              <a:t> to represent both </a:t>
            </a:r>
            <a:r>
              <a:rPr lang="en-US" sz="2800" b="1" i="1" dirty="0"/>
              <a:t>data</a:t>
            </a:r>
            <a:r>
              <a:rPr lang="en-US" sz="2800" dirty="0"/>
              <a:t> and the </a:t>
            </a:r>
            <a:r>
              <a:rPr lang="en-US" sz="2800" b="1" i="1" dirty="0"/>
              <a:t>relationships</a:t>
            </a:r>
            <a:r>
              <a:rPr lang="en-US" sz="2800" dirty="0"/>
              <a:t> among those data. </a:t>
            </a:r>
          </a:p>
          <a:p>
            <a:r>
              <a:rPr lang="en-US" sz="2800" dirty="0"/>
              <a:t>Tables are logical structures maintained by the database manager.</a:t>
            </a:r>
          </a:p>
          <a:p>
            <a:r>
              <a:rPr lang="en-US" sz="2800" dirty="0"/>
              <a:t> The relational model is a combination of Structural, Integrity, and Manipulative components.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relational algebra </a:t>
            </a:r>
            <a:r>
              <a:rPr lang="en-US" sz="2800" dirty="0"/>
              <a:t>and </a:t>
            </a:r>
            <a:r>
              <a:rPr lang="en-US" sz="2800" b="1" dirty="0"/>
              <a:t>relational calculus </a:t>
            </a:r>
            <a:r>
              <a:rPr lang="en-US" sz="2800" dirty="0"/>
              <a:t>are the tools used to manipulate data in the database. </a:t>
            </a:r>
          </a:p>
          <a:p>
            <a:r>
              <a:rPr lang="en-US" sz="2800" dirty="0"/>
              <a:t>Thus relational model has a strong mathematical background.</a:t>
            </a:r>
          </a:p>
        </p:txBody>
      </p:sp>
    </p:spTree>
    <p:extLst>
      <p:ext uri="{BB962C8B-B14F-4D97-AF65-F5344CB8AC3E}">
        <p14:creationId xmlns:p14="http://schemas.microsoft.com/office/powerpoint/2010/main" val="242798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Model Properties (c0nt.)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5999"/>
            <a:ext cx="9877894" cy="4852657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 The key features of relational data model are as follows: 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Each row in the table is called </a:t>
            </a:r>
            <a:r>
              <a:rPr lang="en-US" sz="2800" b="1" dirty="0"/>
              <a:t>tuple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Each column in the table is called </a:t>
            </a:r>
            <a:r>
              <a:rPr lang="en-US" sz="2800" b="1" dirty="0"/>
              <a:t>attribute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The intersection of row with the column will have data value.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In relational model rows can be in any order.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In relational model attributes can be in any order.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By definition, all rows in a relation are distinct. No two rows can be exactly the same.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Relations must have a key. Keys can be a set of attributes.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For each column of a table there is a set of possible values called its </a:t>
            </a:r>
            <a:r>
              <a:rPr lang="en-US" sz="2800" b="1" dirty="0"/>
              <a:t>domain</a:t>
            </a:r>
            <a:r>
              <a:rPr lang="en-US" sz="2800" dirty="0"/>
              <a:t>. The domain contains all possible values that can appear under that column.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b="1" dirty="0"/>
              <a:t>Domain</a:t>
            </a:r>
            <a:r>
              <a:rPr lang="en-US" sz="2800" dirty="0"/>
              <a:t> is the set of valid values for an attribute.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 Degree </a:t>
            </a:r>
            <a:r>
              <a:rPr lang="en-US" sz="2800" dirty="0"/>
              <a:t>of the relation is the number of attributes (columns) in the relation.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 </a:t>
            </a:r>
            <a:r>
              <a:rPr lang="en-US" sz="2800" b="1" dirty="0"/>
              <a:t>Cardinality</a:t>
            </a:r>
            <a:r>
              <a:rPr lang="en-US" sz="2800" dirty="0"/>
              <a:t> of the relation is the number of tuples (rows) in the relation.</a:t>
            </a:r>
          </a:p>
        </p:txBody>
      </p:sp>
    </p:spTree>
    <p:extLst>
      <p:ext uri="{BB962C8B-B14F-4D97-AF65-F5344CB8AC3E}">
        <p14:creationId xmlns:p14="http://schemas.microsoft.com/office/powerpoint/2010/main" val="343951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Model 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2047314"/>
          </a:xfrm>
        </p:spPr>
        <p:txBody>
          <a:bodyPr>
            <a:normAutofit/>
          </a:bodyPr>
          <a:lstStyle/>
          <a:p>
            <a:r>
              <a:rPr lang="en-US" sz="2800" dirty="0"/>
              <a:t>The terms commonly used by user, model, and programmers are given here.</a:t>
            </a:r>
          </a:p>
          <a:p>
            <a:endParaRPr lang="en-US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22275F-D37F-4E7D-BC78-AC0530341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244704"/>
              </p:ext>
            </p:extLst>
          </p:nvPr>
        </p:nvGraphicFramePr>
        <p:xfrm>
          <a:off x="3316731" y="3238599"/>
          <a:ext cx="5558537" cy="2534272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425956">
                  <a:extLst>
                    <a:ext uri="{9D8B030D-6E8A-4147-A177-3AD203B41FA5}">
                      <a16:colId xmlns:a16="http://schemas.microsoft.com/office/drawing/2014/main" val="1927800507"/>
                    </a:ext>
                  </a:extLst>
                </a:gridCol>
                <a:gridCol w="1762266">
                  <a:extLst>
                    <a:ext uri="{9D8B030D-6E8A-4147-A177-3AD203B41FA5}">
                      <a16:colId xmlns:a16="http://schemas.microsoft.com/office/drawing/2014/main" val="927360294"/>
                    </a:ext>
                  </a:extLst>
                </a:gridCol>
                <a:gridCol w="2370315">
                  <a:extLst>
                    <a:ext uri="{9D8B030D-6E8A-4147-A177-3AD203B41FA5}">
                      <a16:colId xmlns:a16="http://schemas.microsoft.com/office/drawing/2014/main" val="3318410493"/>
                    </a:ext>
                  </a:extLst>
                </a:gridCol>
              </a:tblGrid>
              <a:tr h="633568"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</a:rPr>
                        <a:t>User 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</a:rPr>
                        <a:t>Model 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cap="all">
                          <a:effectLst/>
                        </a:rPr>
                        <a:t>Programmer </a:t>
                      </a:r>
                      <a:endParaRPr lang="en-AU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9393362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Row </a:t>
                      </a:r>
                      <a:endParaRPr lang="en-AU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Tuple 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Record 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4128941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Column </a:t>
                      </a:r>
                      <a:endParaRPr lang="en-AU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 defTabSz="457200" rtl="0" eaLnBrk="1" latinLnBrk="0" hangingPunct="1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Attribute </a:t>
                      </a:r>
                      <a:endParaRPr lang="en-A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228600" algn="justLow" defTabSz="457200" rtl="0" eaLnBrk="1" latinLnBrk="0" hangingPunct="1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Field </a:t>
                      </a:r>
                      <a:endParaRPr lang="en-AU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9259196"/>
                  </a:ext>
                </a:extLst>
              </a:tr>
              <a:tr h="633568"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Table </a:t>
                      </a:r>
                      <a:endParaRPr lang="en-AU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Relation </a:t>
                      </a:r>
                      <a:endParaRPr lang="en-AU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4300" indent="228600" algn="justLow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File 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7908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466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 Schema and Relation Instance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4639592"/>
          </a:xfrm>
        </p:spPr>
        <p:txBody>
          <a:bodyPr>
            <a:normAutofit/>
          </a:bodyPr>
          <a:lstStyle/>
          <a:p>
            <a:r>
              <a:rPr lang="en-US" sz="2800" dirty="0"/>
              <a:t>For a table to be relation, the following rules hold.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	The intersection row with the column should contain single value (atomic value).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	All entries in a column are of same type.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	Each column has a unique name (column order not significant).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	No two rows are identical (row order not significant).</a:t>
            </a:r>
          </a:p>
        </p:txBody>
      </p:sp>
    </p:spTree>
    <p:extLst>
      <p:ext uri="{BB962C8B-B14F-4D97-AF65-F5344CB8AC3E}">
        <p14:creationId xmlns:p14="http://schemas.microsoft.com/office/powerpoint/2010/main" val="203996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 Schema and Relation Instance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4639592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i="1" dirty="0"/>
              <a:t>main construct </a:t>
            </a:r>
            <a:r>
              <a:rPr lang="en-US" sz="2800" dirty="0"/>
              <a:t>for representing data in the relational model is a relation. </a:t>
            </a:r>
          </a:p>
          <a:p>
            <a:r>
              <a:rPr lang="en-US" sz="2800" dirty="0"/>
              <a:t>A relation consists of a </a:t>
            </a:r>
            <a:r>
              <a:rPr lang="en-US" sz="2800" b="1" dirty="0"/>
              <a:t>relation schema </a:t>
            </a:r>
            <a:r>
              <a:rPr lang="en-US" sz="2800" dirty="0"/>
              <a:t>and a </a:t>
            </a:r>
            <a:r>
              <a:rPr lang="en-US" sz="2800" b="1" dirty="0"/>
              <a:t>relation instance</a:t>
            </a:r>
            <a:r>
              <a:rPr lang="en-US" sz="2800" dirty="0"/>
              <a:t>.</a:t>
            </a:r>
          </a:p>
          <a:p>
            <a:r>
              <a:rPr lang="en-US" sz="2800" dirty="0"/>
              <a:t> The relation instance is a table, and the relation schema describes the column heads for the table. </a:t>
            </a:r>
          </a:p>
          <a:p>
            <a:r>
              <a:rPr lang="en-US" sz="2800" dirty="0"/>
              <a:t>The schema specifies the relation's name, the name of each field (or column, or attribute), and the domain of each field. </a:t>
            </a:r>
          </a:p>
        </p:txBody>
      </p:sp>
    </p:spTree>
    <p:extLst>
      <p:ext uri="{BB962C8B-B14F-4D97-AF65-F5344CB8AC3E}">
        <p14:creationId xmlns:p14="http://schemas.microsoft.com/office/powerpoint/2010/main" val="388658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 Schema and Relation Instance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3840602"/>
          </a:xfrm>
        </p:spPr>
        <p:txBody>
          <a:bodyPr>
            <a:normAutofit/>
          </a:bodyPr>
          <a:lstStyle/>
          <a:p>
            <a:r>
              <a:rPr lang="en-US" sz="2800" dirty="0"/>
              <a:t>We use the example of student information in a university database to illustrate the parts of a relation schema: </a:t>
            </a:r>
          </a:p>
          <a:p>
            <a:endParaRPr lang="en-US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56822C-E056-460F-9E6F-738BAADB8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913" y="4106247"/>
            <a:ext cx="9161610" cy="50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5372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 Schema and Relation Instance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486000"/>
            <a:ext cx="9877894" cy="4639592"/>
          </a:xfrm>
        </p:spPr>
        <p:txBody>
          <a:bodyPr>
            <a:normAutofit/>
          </a:bodyPr>
          <a:lstStyle/>
          <a:p>
            <a:r>
              <a:rPr lang="en-US" sz="2800" dirty="0"/>
              <a:t>An instance of a relation is a set of tuples, also called records, in which each tuple has the same number of fields as the relation schema. </a:t>
            </a:r>
          </a:p>
          <a:p>
            <a:r>
              <a:rPr lang="en-US" sz="2800" dirty="0"/>
              <a:t>A relation instance can be thought of as a table in which each tuple is a row, and all rows have the same number of fields.</a:t>
            </a:r>
          </a:p>
          <a:p>
            <a:r>
              <a:rPr lang="en-US" sz="2800" dirty="0"/>
              <a:t> An instance of the Students relation appears in Figure (1). The instance S1 contains six tuples and has, as we expect from the schema, five fields.</a:t>
            </a:r>
          </a:p>
        </p:txBody>
      </p:sp>
    </p:spTree>
    <p:extLst>
      <p:ext uri="{BB962C8B-B14F-4D97-AF65-F5344CB8AC3E}">
        <p14:creationId xmlns:p14="http://schemas.microsoft.com/office/powerpoint/2010/main" val="565945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 Schema and Relation Instance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4607510"/>
            <a:ext cx="9877894" cy="1518082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In this earlier relation:</a:t>
            </a:r>
          </a:p>
          <a:p>
            <a:r>
              <a:rPr lang="en-US" sz="2800" dirty="0"/>
              <a:t> 	The degree of the relation (i.e., is the number of column in the relation) = 5.</a:t>
            </a:r>
          </a:p>
          <a:p>
            <a:r>
              <a:rPr lang="en-US" sz="2800" dirty="0"/>
              <a:t> 	The cardinality of the relation (i.e., the number of rows in the relation) = 6.</a:t>
            </a:r>
          </a:p>
          <a:p>
            <a:endParaRPr lang="en-US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0B3FA9-51BD-4E95-99FF-2390BA7CA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305" y="1141103"/>
            <a:ext cx="7408994" cy="346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4842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 Schema and Relation Instance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2840854"/>
            <a:ext cx="9877894" cy="1518082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A relational database is a collection of relations with distinct relation names. </a:t>
            </a:r>
          </a:p>
          <a:p>
            <a:r>
              <a:rPr lang="en-US" sz="2800" dirty="0"/>
              <a:t>The relational database schema is the collection of schemas for the relations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722303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Concept of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621654"/>
            <a:ext cx="9877894" cy="1518082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Key is an attribute or group of attributes, which is used to identify a row in a relation. Key can be broadly classified into </a:t>
            </a:r>
          </a:p>
          <a:p>
            <a:r>
              <a:rPr lang="en-US" sz="2800" dirty="0"/>
              <a:t>(1) </a:t>
            </a:r>
            <a:r>
              <a:rPr lang="en-US" sz="2800" dirty="0" err="1"/>
              <a:t>Superkey</a:t>
            </a:r>
            <a:r>
              <a:rPr lang="en-US" sz="2800" dirty="0"/>
              <a:t> (2) Candidate key, and (3) Primary key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69CA0D-66B4-4A5F-A3B6-DE958A8AB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10" y="3664875"/>
            <a:ext cx="5341152" cy="2017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8693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Concept of Key (c0nt.)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621653"/>
            <a:ext cx="9877894" cy="4634767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A </a:t>
            </a:r>
            <a:r>
              <a:rPr lang="en-US" sz="2800" b="1" dirty="0" err="1"/>
              <a:t>superkey</a:t>
            </a:r>
            <a:r>
              <a:rPr lang="en-US" sz="2800" dirty="0"/>
              <a:t> is a subset of attributes of an entity-set that uniquely identifies the entities. </a:t>
            </a:r>
          </a:p>
          <a:p>
            <a:r>
              <a:rPr lang="en-US" sz="2800" dirty="0" err="1"/>
              <a:t>Superkeys</a:t>
            </a:r>
            <a:r>
              <a:rPr lang="en-US" sz="2800" dirty="0"/>
              <a:t> represent a constraint that prevents two entities from ever having the same value for those attributes. </a:t>
            </a:r>
          </a:p>
          <a:p>
            <a:r>
              <a:rPr lang="en-US" sz="2800" b="1" dirty="0"/>
              <a:t>Candidate key </a:t>
            </a:r>
            <a:r>
              <a:rPr lang="en-US" sz="2800" dirty="0"/>
              <a:t>is a minimal </a:t>
            </a:r>
            <a:r>
              <a:rPr lang="en-US" sz="2800" dirty="0" err="1"/>
              <a:t>superkey</a:t>
            </a:r>
            <a:r>
              <a:rPr lang="en-US" sz="2800" dirty="0"/>
              <a:t>. A candidate key for a relation schema is a minimal set of attributes whose values uniquely identify tuples in the corresponding relation.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primary key </a:t>
            </a:r>
            <a:r>
              <a:rPr lang="en-US" sz="2800" dirty="0"/>
              <a:t>is a designated candidate key. It is to be noted that the primary key should not be null.</a:t>
            </a:r>
          </a:p>
          <a:p>
            <a:r>
              <a:rPr lang="en-US" sz="2800" b="1" dirty="0"/>
              <a:t>Foreign key </a:t>
            </a:r>
            <a:r>
              <a:rPr lang="en-US" sz="2800" dirty="0"/>
              <a:t>is set of fields or attributes in one relation that is used to “refer” to a tuple in another relation.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3192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Concept of Key-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621653"/>
            <a:ext cx="9877894" cy="463476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Consider the employee relation, which is characterized by the attributes, </a:t>
            </a:r>
            <a:r>
              <a:rPr lang="en-US" sz="2800" b="1" dirty="0"/>
              <a:t>employee ID, employee name, employee age, employee experience, employee salary, etc</a:t>
            </a:r>
            <a:r>
              <a:rPr lang="en-US" sz="2800" dirty="0"/>
              <a:t>. In this employee relation:</a:t>
            </a:r>
          </a:p>
          <a:p>
            <a:r>
              <a:rPr lang="en-US" sz="2800" dirty="0"/>
              <a:t> 	</a:t>
            </a:r>
            <a:r>
              <a:rPr lang="en-US" sz="2800" dirty="0" err="1"/>
              <a:t>Superkeys</a:t>
            </a:r>
            <a:r>
              <a:rPr lang="en-US" sz="2800" dirty="0"/>
              <a:t> can be [employee ID, employee name], [employee ID], [employee name], etc.</a:t>
            </a:r>
          </a:p>
          <a:p>
            <a:r>
              <a:rPr lang="en-US" sz="2800" dirty="0"/>
              <a:t> 	Candidate keys can be [employee ID], [employee name].</a:t>
            </a:r>
          </a:p>
          <a:p>
            <a:r>
              <a:rPr lang="en-US" sz="2800" dirty="0"/>
              <a:t> 	Primary key is [employee ID].</a:t>
            </a:r>
          </a:p>
          <a:p>
            <a:r>
              <a:rPr lang="en-US" sz="2800" dirty="0"/>
              <a:t>Note: If we declare a particular attribute as the primary key, then that attribute value cannot be NULL. Also it has to be distinct. </a:t>
            </a:r>
          </a:p>
        </p:txBody>
      </p:sp>
    </p:spTree>
    <p:extLst>
      <p:ext uri="{BB962C8B-B14F-4D97-AF65-F5344CB8AC3E}">
        <p14:creationId xmlns:p14="http://schemas.microsoft.com/office/powerpoint/2010/main" val="2715962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Relational Integrity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248790"/>
            <a:ext cx="9877894" cy="4634767"/>
          </a:xfrm>
        </p:spPr>
        <p:txBody>
          <a:bodyPr>
            <a:normAutofit/>
          </a:bodyPr>
          <a:lstStyle/>
          <a:p>
            <a:r>
              <a:rPr lang="en-US" sz="2800" b="1" dirty="0"/>
              <a:t>Data integrity </a:t>
            </a:r>
            <a:r>
              <a:rPr lang="en-US" sz="2800" dirty="0"/>
              <a:t>refer to the accuracy and correctness of data in the database.</a:t>
            </a:r>
          </a:p>
          <a:p>
            <a:r>
              <a:rPr lang="en-US" sz="2800" dirty="0"/>
              <a:t> Data integrity provides a mechanism to maintain data consistency for operations. </a:t>
            </a:r>
          </a:p>
          <a:p>
            <a:r>
              <a:rPr lang="en-US" sz="2800" dirty="0"/>
              <a:t>The different types of data integrity </a:t>
            </a:r>
            <a:r>
              <a:rPr lang="en-US" sz="2800" b="1" dirty="0"/>
              <a:t>constraints</a:t>
            </a:r>
            <a:r>
              <a:rPr lang="en-US" sz="2800" dirty="0"/>
              <a:t> are Entity, NULL, Domain, and Referential integrity. </a:t>
            </a:r>
          </a:p>
        </p:txBody>
      </p:sp>
    </p:spTree>
    <p:extLst>
      <p:ext uri="{BB962C8B-B14F-4D97-AF65-F5344CB8AC3E}">
        <p14:creationId xmlns:p14="http://schemas.microsoft.com/office/powerpoint/2010/main" val="2222292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1. Entity Integrity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390834"/>
            <a:ext cx="9877894" cy="4634767"/>
          </a:xfrm>
        </p:spPr>
        <p:txBody>
          <a:bodyPr>
            <a:normAutofit/>
          </a:bodyPr>
          <a:lstStyle/>
          <a:p>
            <a:r>
              <a:rPr lang="en-US" sz="2800" dirty="0"/>
              <a:t>Entity integrity implies that a primary key cannot accept null value. </a:t>
            </a:r>
          </a:p>
          <a:p>
            <a:r>
              <a:rPr lang="en-US" sz="2800" dirty="0"/>
              <a:t>Consider the entity PLAYER; the attributes of the entity PLAYER are: Id, Name, Age, Nation, and Rank.</a:t>
            </a:r>
          </a:p>
          <a:p>
            <a:r>
              <a:rPr lang="en-US" sz="2800" dirty="0"/>
              <a:t> In this example, let us consider PLAYER’s Id as the primary key.</a:t>
            </a:r>
          </a:p>
          <a:p>
            <a:r>
              <a:rPr lang="en-US" sz="2800" dirty="0"/>
              <a:t> We cannot insert any data in the relation PLAYER without entering the Id of the player. </a:t>
            </a:r>
          </a:p>
          <a:p>
            <a:r>
              <a:rPr lang="en-US" sz="2800" dirty="0"/>
              <a:t>This implies that primary key cannot be null. </a:t>
            </a:r>
          </a:p>
        </p:txBody>
      </p:sp>
    </p:spTree>
    <p:extLst>
      <p:ext uri="{BB962C8B-B14F-4D97-AF65-F5344CB8AC3E}">
        <p14:creationId xmlns:p14="http://schemas.microsoft.com/office/powerpoint/2010/main" val="3910763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2. Null Integrity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186647"/>
            <a:ext cx="9877894" cy="4634767"/>
          </a:xfrm>
        </p:spPr>
        <p:txBody>
          <a:bodyPr>
            <a:normAutofit/>
          </a:bodyPr>
          <a:lstStyle/>
          <a:p>
            <a:r>
              <a:rPr lang="en-US" sz="2800" dirty="0"/>
              <a:t>Null implies that the data value is not known temporarily.</a:t>
            </a:r>
          </a:p>
          <a:p>
            <a:r>
              <a:rPr lang="en-US" sz="2800" dirty="0"/>
              <a:t>Consider the relation PERSON: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The attributes of the relation PERSON are name, age, and salary.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age of the person cannot be NULL (according to the rules of the company). </a:t>
            </a:r>
          </a:p>
        </p:txBody>
      </p:sp>
    </p:spTree>
    <p:extLst>
      <p:ext uri="{BB962C8B-B14F-4D97-AF65-F5344CB8AC3E}">
        <p14:creationId xmlns:p14="http://schemas.microsoft.com/office/powerpoint/2010/main" val="3504709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3. Domain Integrity Constraint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399711"/>
            <a:ext cx="9877894" cy="4634767"/>
          </a:xfrm>
        </p:spPr>
        <p:txBody>
          <a:bodyPr>
            <a:normAutofit/>
          </a:bodyPr>
          <a:lstStyle/>
          <a:p>
            <a:r>
              <a:rPr lang="en-US" sz="2800" dirty="0"/>
              <a:t>Domain refers to the set of all possible values that attribute can take. </a:t>
            </a:r>
          </a:p>
          <a:p>
            <a:r>
              <a:rPr lang="en-US" sz="2800" dirty="0"/>
              <a:t>The domain integrity constraints are used to specify the valid values that a column defined over the domain can take. </a:t>
            </a:r>
          </a:p>
          <a:p>
            <a:r>
              <a:rPr lang="en-US" sz="2800" dirty="0"/>
              <a:t>We can define the valid values by listing a set of values, a range of values, or an expression.</a:t>
            </a:r>
          </a:p>
        </p:txBody>
      </p:sp>
    </p:spTree>
    <p:extLst>
      <p:ext uri="{BB962C8B-B14F-4D97-AF65-F5344CB8AC3E}">
        <p14:creationId xmlns:p14="http://schemas.microsoft.com/office/powerpoint/2010/main" val="2707296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621653"/>
            <a:ext cx="9877894" cy="463476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Example1:</a:t>
            </a:r>
          </a:p>
          <a:p>
            <a:r>
              <a:rPr lang="en-US" sz="2800" dirty="0"/>
              <a:t>The age of the person cannot have any letter from the alphabet.</a:t>
            </a:r>
          </a:p>
          <a:p>
            <a:r>
              <a:rPr lang="en-US" sz="2800" dirty="0"/>
              <a:t>The age should be a numerical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Example2:</a:t>
            </a:r>
          </a:p>
          <a:p>
            <a:r>
              <a:rPr lang="en-US" sz="2800" dirty="0"/>
              <a:t>Consider the relation APPLICANT. </a:t>
            </a:r>
          </a:p>
          <a:p>
            <a:r>
              <a:rPr lang="en-US" sz="2800" dirty="0"/>
              <a:t>Here APPLICANT refers to the person who is applying for job.</a:t>
            </a:r>
          </a:p>
          <a:p>
            <a:r>
              <a:rPr lang="en-US" sz="2800" dirty="0"/>
              <a:t>The sex of the applicant should be either male (M) or female (F). </a:t>
            </a:r>
          </a:p>
          <a:p>
            <a:r>
              <a:rPr lang="en-US" sz="2800" dirty="0"/>
              <a:t>Any entry other than M or F violates the domain constraint. </a:t>
            </a:r>
          </a:p>
        </p:txBody>
      </p:sp>
    </p:spTree>
    <p:extLst>
      <p:ext uri="{BB962C8B-B14F-4D97-AF65-F5344CB8AC3E}">
        <p14:creationId xmlns:p14="http://schemas.microsoft.com/office/powerpoint/2010/main" val="2639816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80C7-89FD-42E4-BB6A-AB07E25F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36" y="0"/>
            <a:ext cx="10018713" cy="1752599"/>
          </a:xfrm>
        </p:spPr>
        <p:txBody>
          <a:bodyPr/>
          <a:lstStyle/>
          <a:p>
            <a:r>
              <a:rPr lang="en-US" dirty="0"/>
              <a:t>4 Referential Integrity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80DE-143F-4A2C-8F3A-74AAF0B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936" y="1621653"/>
            <a:ext cx="9877894" cy="4634767"/>
          </a:xfrm>
        </p:spPr>
        <p:txBody>
          <a:bodyPr>
            <a:normAutofit/>
          </a:bodyPr>
          <a:lstStyle/>
          <a:p>
            <a:r>
              <a:rPr lang="en-US" sz="2800" dirty="0"/>
              <a:t>In the relational data model, associations between tables are defined through the use of foreign keys. </a:t>
            </a:r>
          </a:p>
          <a:p>
            <a:r>
              <a:rPr lang="en-US" sz="2800" dirty="0"/>
              <a:t>A referential integrity is a rule that states that either each foreign key value must match a primary key value in another relation or the foreign key value must be null.</a:t>
            </a:r>
          </a:p>
          <a:p>
            <a:r>
              <a:rPr lang="en-US" sz="2800" dirty="0"/>
              <a:t> There can be situations where a relationship does not exist for a particular instance, in which case the foreign key is null.</a:t>
            </a:r>
          </a:p>
        </p:txBody>
      </p:sp>
    </p:spTree>
    <p:extLst>
      <p:ext uri="{BB962C8B-B14F-4D97-AF65-F5344CB8AC3E}">
        <p14:creationId xmlns:p14="http://schemas.microsoft.com/office/powerpoint/2010/main" val="3361427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5243</TotalTime>
  <Words>1754</Words>
  <Application>Microsoft Office PowerPoint</Application>
  <PresentationFormat>Widescreen</PresentationFormat>
  <Paragraphs>137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Corbel</vt:lpstr>
      <vt:lpstr>Times New Roman</vt:lpstr>
      <vt:lpstr>Wingdings</vt:lpstr>
      <vt:lpstr>Parallax</vt:lpstr>
      <vt:lpstr>Database Systems I</vt:lpstr>
      <vt:lpstr>Relational Model</vt:lpstr>
      <vt:lpstr>CODD’S Rules</vt:lpstr>
      <vt:lpstr>CODD’S Rules (cont.)</vt:lpstr>
      <vt:lpstr>CODD’S Rules (cont.)</vt:lpstr>
      <vt:lpstr>CODD’S Rules (cont.)</vt:lpstr>
      <vt:lpstr>Relational Model Properties</vt:lpstr>
      <vt:lpstr>Relational Model Properties (c0nt.)</vt:lpstr>
      <vt:lpstr>Relational Model Properties</vt:lpstr>
      <vt:lpstr>Relation Schema and Relation Instance </vt:lpstr>
      <vt:lpstr>Relation Schema and Relation Instance </vt:lpstr>
      <vt:lpstr>Relation Schema and Relation Instance </vt:lpstr>
      <vt:lpstr>Relation Schema and Relation Instance </vt:lpstr>
      <vt:lpstr>Relation Schema and Relation Instance </vt:lpstr>
      <vt:lpstr>Relation Schema and Relation Instance </vt:lpstr>
      <vt:lpstr>Concept of Key</vt:lpstr>
      <vt:lpstr>Concept of Key (c0nt.)</vt:lpstr>
      <vt:lpstr>Concept of Key- Example</vt:lpstr>
      <vt:lpstr>Relational Integrity</vt:lpstr>
      <vt:lpstr>1. Entity Integrity</vt:lpstr>
      <vt:lpstr>2. Null Integrity</vt:lpstr>
      <vt:lpstr>3. Domain Integrity Constraint</vt:lpstr>
      <vt:lpstr>Examples</vt:lpstr>
      <vt:lpstr>4 Referential Integrity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 network connectivity issues</dc:title>
  <dc:creator>Rasool Al-Saadi</dc:creator>
  <cp:lastModifiedBy>Rasool Al-Saadi</cp:lastModifiedBy>
  <cp:revision>199</cp:revision>
  <dcterms:created xsi:type="dcterms:W3CDTF">2020-02-18T05:03:49Z</dcterms:created>
  <dcterms:modified xsi:type="dcterms:W3CDTF">2021-01-16T05:05:37Z</dcterms:modified>
</cp:coreProperties>
</file>