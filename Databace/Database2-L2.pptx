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74" r:id="rId3"/>
    <p:sldId id="260" r:id="rId4"/>
    <p:sldId id="262" r:id="rId5"/>
    <p:sldId id="263" r:id="rId6"/>
    <p:sldId id="264" r:id="rId7"/>
    <p:sldId id="265" r:id="rId8"/>
    <p:sldId id="266" r:id="rId9"/>
    <p:sldId id="268" r:id="rId10"/>
    <p:sldId id="270" r:id="rId11"/>
    <p:sldId id="269" r:id="rId12"/>
    <p:sldId id="271" r:id="rId13"/>
    <p:sldId id="272" r:id="rId14"/>
    <p:sldId id="273"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48" d="100"/>
          <a:sy n="48" d="100"/>
        </p:scale>
        <p:origin x="67" y="8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22/05/2021</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22/05/2021</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2</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2</a:t>
            </a:r>
            <a:r>
              <a:rPr lang="en-US" b="1" baseline="30000" dirty="0"/>
              <a:t>nd</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B23D-5EEF-4B0C-BC86-F26DF1B552B8}"/>
              </a:ext>
            </a:extLst>
          </p:cNvPr>
          <p:cNvSpPr>
            <a:spLocks noGrp="1"/>
          </p:cNvSpPr>
          <p:nvPr>
            <p:ph type="title"/>
          </p:nvPr>
        </p:nvSpPr>
        <p:spPr>
          <a:xfrm>
            <a:off x="1484310" y="2552700"/>
            <a:ext cx="10018713" cy="1752599"/>
          </a:xfrm>
        </p:spPr>
        <p:txBody>
          <a:bodyPr>
            <a:normAutofit fontScale="90000"/>
          </a:bodyPr>
          <a:lstStyle/>
          <a:p>
            <a:r>
              <a:rPr lang="en-US" sz="3100" dirty="0">
                <a:ea typeface="Times New Roman" panose="02020603050405020304" pitchFamily="18" charset="0"/>
              </a:rPr>
              <a:t>Database II - Lecture 2</a:t>
            </a:r>
            <a:br>
              <a:rPr lang="en-US" sz="3100" dirty="0">
                <a:ea typeface="Times New Roman" panose="02020603050405020304" pitchFamily="18" charset="0"/>
              </a:rPr>
            </a:br>
            <a:br>
              <a:rPr lang="en-US" dirty="0">
                <a:ea typeface="Times New Roman" panose="02020603050405020304" pitchFamily="18" charset="0"/>
              </a:rPr>
            </a:br>
            <a:r>
              <a:rPr lang="en-US" dirty="0">
                <a:ea typeface="Times New Roman" panose="02020603050405020304" pitchFamily="18" charset="0"/>
              </a:rPr>
              <a:t>Data Definition Language</a:t>
            </a:r>
            <a:br>
              <a:rPr lang="en-US" dirty="0">
                <a:ea typeface="Times New Roman" panose="02020603050405020304" pitchFamily="18" charset="0"/>
              </a:rPr>
            </a:br>
            <a:r>
              <a:rPr lang="en-US" dirty="0">
                <a:ea typeface="Times New Roman" panose="02020603050405020304" pitchFamily="18" charset="0"/>
              </a:rPr>
              <a:t>(DDL)</a:t>
            </a:r>
            <a:endParaRPr lang="en-AU" dirty="0"/>
          </a:p>
        </p:txBody>
      </p:sp>
    </p:spTree>
    <p:extLst>
      <p:ext uri="{BB962C8B-B14F-4D97-AF65-F5344CB8AC3E}">
        <p14:creationId xmlns:p14="http://schemas.microsoft.com/office/powerpoint/2010/main" val="183511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Introduction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1556084"/>
            <a:ext cx="9877894" cy="4764505"/>
          </a:xfrm>
        </p:spPr>
        <p:txBody>
          <a:bodyPr>
            <a:normAutofit/>
          </a:bodyPr>
          <a:lstStyle/>
          <a:p>
            <a:r>
              <a:rPr lang="en-US" sz="2800" dirty="0"/>
              <a:t>DDL commands are used to define a database, including creating, altering, and dropping tables and establishing constraints.</a:t>
            </a:r>
          </a:p>
          <a:p>
            <a:endParaRPr lang="en-US" dirty="0"/>
          </a:p>
        </p:txBody>
      </p:sp>
    </p:spTree>
    <p:extLst>
      <p:ext uri="{BB962C8B-B14F-4D97-AF65-F5344CB8AC3E}">
        <p14:creationId xmlns:p14="http://schemas.microsoft.com/office/powerpoint/2010/main" val="1586032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Creating a Database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4497706"/>
          </a:xfrm>
        </p:spPr>
        <p:txBody>
          <a:bodyPr>
            <a:normAutofit/>
          </a:bodyPr>
          <a:lstStyle/>
          <a:p>
            <a:r>
              <a:rPr lang="en-US" dirty="0"/>
              <a:t>The first step in databases is creating the database.</a:t>
            </a:r>
          </a:p>
          <a:p>
            <a:r>
              <a:rPr lang="en-US" dirty="0"/>
              <a:t> There are two main ways to create a database. </a:t>
            </a:r>
          </a:p>
          <a:p>
            <a:r>
              <a:rPr lang="en-US" dirty="0"/>
              <a:t>First, many RDBMSs come with a nice, user-friendly front-end interface, which makes the task of creating a new database very easy.</a:t>
            </a:r>
          </a:p>
          <a:p>
            <a:r>
              <a:rPr lang="en-US" dirty="0"/>
              <a:t>  The second, RDBMSs allow you to use SQL to create a database.</a:t>
            </a:r>
          </a:p>
          <a:p>
            <a:pPr marL="0" indent="0">
              <a:buNone/>
            </a:pPr>
            <a:r>
              <a:rPr lang="en-US">
                <a:latin typeface="Courier New" panose="02070309020205020404" pitchFamily="49" charset="0"/>
                <a:cs typeface="Courier New" panose="02070309020205020404" pitchFamily="49" charset="0"/>
              </a:rPr>
              <a:t>	CREATE </a:t>
            </a:r>
            <a:r>
              <a:rPr lang="en-US" dirty="0">
                <a:latin typeface="Courier New" panose="02070309020205020404" pitchFamily="49" charset="0"/>
                <a:cs typeface="Courier New" panose="02070309020205020404" pitchFamily="49" charset="0"/>
              </a:rPr>
              <a:t>DATABASE </a:t>
            </a:r>
            <a:r>
              <a:rPr lang="en-US" dirty="0" err="1">
                <a:latin typeface="Courier New" panose="02070309020205020404" pitchFamily="49" charset="0"/>
                <a:cs typeface="Courier New" panose="02070309020205020404" pitchFamily="49" charset="0"/>
              </a:rPr>
              <a:t>DatabaseName</a:t>
            </a:r>
            <a:r>
              <a:rPr lang="en-US" dirty="0">
                <a:latin typeface="Courier New" panose="02070309020205020404" pitchFamily="49" charset="0"/>
                <a:cs typeface="Courier New" panose="02070309020205020404" pitchFamily="49" charset="0"/>
              </a:rPr>
              <a:t>;</a:t>
            </a:r>
          </a:p>
          <a:p>
            <a:r>
              <a:rPr lang="en-US" dirty="0"/>
              <a:t>To delete database:</a:t>
            </a:r>
          </a:p>
          <a:p>
            <a:pPr marL="0" indent="0">
              <a:buNone/>
            </a:pPr>
            <a:r>
              <a:rPr lang="en-US" dirty="0">
                <a:latin typeface="Courier New" panose="02070309020205020404" pitchFamily="49" charset="0"/>
                <a:cs typeface="Courier New" panose="02070309020205020404" pitchFamily="49" charset="0"/>
              </a:rPr>
              <a:t>	DROP DATABASE </a:t>
            </a:r>
            <a:r>
              <a:rPr lang="en-US" dirty="0" err="1">
                <a:latin typeface="Courier New" panose="02070309020205020404" pitchFamily="49" charset="0"/>
                <a:cs typeface="Courier New" panose="02070309020205020404" pitchFamily="49" charset="0"/>
              </a:rPr>
              <a:t>DatabaseName</a:t>
            </a:r>
            <a:r>
              <a:rPr lang="en-US" dirty="0">
                <a:latin typeface="Courier New" panose="02070309020205020404" pitchFamily="49" charset="0"/>
                <a:cs typeface="Courier New" panose="02070309020205020404" pitchFamily="49" charset="0"/>
              </a:rPr>
              <a:t>;</a:t>
            </a:r>
          </a:p>
          <a:p>
            <a:endParaRPr lang="en-US" dirty="0"/>
          </a:p>
        </p:txBody>
      </p:sp>
    </p:spTree>
    <p:extLst>
      <p:ext uri="{BB962C8B-B14F-4D97-AF65-F5344CB8AC3E}">
        <p14:creationId xmlns:p14="http://schemas.microsoft.com/office/powerpoint/2010/main" val="2106351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5"/>
            <a:ext cx="10018713" cy="1453714"/>
          </a:xfrm>
        </p:spPr>
        <p:txBody>
          <a:bodyPr/>
          <a:lstStyle/>
          <a:p>
            <a:r>
              <a:rPr lang="en-US" dirty="0"/>
              <a:t>Data types in SQL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876200"/>
            <a:ext cx="9877894" cy="1844841"/>
          </a:xfrm>
        </p:spPr>
        <p:txBody>
          <a:bodyPr>
            <a:normAutofit/>
          </a:bodyPr>
          <a:lstStyle/>
          <a:p>
            <a:r>
              <a:rPr lang="en-US" dirty="0"/>
              <a:t>When we create a table we must specify a data type for each of its columns. These data types define the domain of values that each column can take.</a:t>
            </a:r>
          </a:p>
        </p:txBody>
      </p:sp>
      <p:pic>
        <p:nvPicPr>
          <p:cNvPr id="4098" name="Picture 2">
            <a:extLst>
              <a:ext uri="{FF2B5EF4-FFF2-40B4-BE49-F238E27FC236}">
                <a16:creationId xmlns:a16="http://schemas.microsoft.com/office/drawing/2014/main" id="{05B4D375-3850-45C6-858D-1BE7A6D8A7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5554" y="1918816"/>
            <a:ext cx="7945456" cy="4804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915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 types in SQL - STRING</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8"/>
            <a:ext cx="9813726" cy="4540693"/>
          </a:xfrm>
        </p:spPr>
        <p:txBody>
          <a:bodyPr>
            <a:normAutofit fontScale="92500" lnSpcReduction="10000"/>
          </a:bodyPr>
          <a:lstStyle/>
          <a:p>
            <a:r>
              <a:rPr lang="en-US" dirty="0"/>
              <a:t> </a:t>
            </a:r>
            <a:r>
              <a:rPr lang="en-US" b="1" dirty="0"/>
              <a:t>String</a:t>
            </a:r>
            <a:r>
              <a:rPr lang="en-US" dirty="0"/>
              <a:t>: In string we have CHAR, VARCHAR and TEXT datatypes. </a:t>
            </a:r>
          </a:p>
          <a:p>
            <a:r>
              <a:rPr lang="en-US" dirty="0"/>
              <a:t>Character datatype store data which are words and free-form text, in the database character set.</a:t>
            </a:r>
          </a:p>
          <a:p>
            <a:r>
              <a:rPr lang="en-US" b="1" dirty="0"/>
              <a:t>Char Datatype</a:t>
            </a:r>
            <a:r>
              <a:rPr lang="en-US" dirty="0"/>
              <a:t>: The CHAR datatype specifies a fixed-length character string. </a:t>
            </a:r>
          </a:p>
          <a:p>
            <a:r>
              <a:rPr lang="en-US" dirty="0"/>
              <a:t>The syntax of CHAR datatype declaration is: </a:t>
            </a:r>
          </a:p>
          <a:p>
            <a:pPr marL="0" indent="0">
              <a:buNone/>
            </a:pPr>
            <a:r>
              <a:rPr lang="en-US" b="1" dirty="0">
                <a:latin typeface="Courier New" panose="02070309020205020404" pitchFamily="49" charset="0"/>
                <a:cs typeface="Courier New" panose="02070309020205020404" pitchFamily="49" charset="0"/>
              </a:rPr>
              <a:t>	CHAR (n)</a:t>
            </a:r>
            <a:r>
              <a:rPr lang="en-US" dirty="0"/>
              <a:t> – Fixed length character data, “n” characters long. Here “n” specifies the character length.</a:t>
            </a:r>
          </a:p>
          <a:p>
            <a:r>
              <a:rPr lang="en-US" b="1" dirty="0"/>
              <a:t>VARCHAR</a:t>
            </a:r>
            <a:r>
              <a:rPr lang="en-US" dirty="0"/>
              <a:t> Datatype</a:t>
            </a:r>
          </a:p>
          <a:p>
            <a:r>
              <a:rPr lang="en-US" dirty="0"/>
              <a:t>The VARCHAR datatype specifies a variable-length character string. The syntax of VARCHAR datatype declaration is:</a:t>
            </a:r>
          </a:p>
          <a:p>
            <a:pPr marL="0" indent="0">
              <a:buNone/>
            </a:pPr>
            <a:r>
              <a:rPr lang="en-US" b="1" dirty="0">
                <a:latin typeface="Courier New" panose="02070309020205020404" pitchFamily="49" charset="0"/>
                <a:cs typeface="Courier New" panose="02070309020205020404" pitchFamily="49" charset="0"/>
              </a:rPr>
              <a:t>	VARCHAR (n)</a:t>
            </a:r>
            <a:r>
              <a:rPr lang="en-US" dirty="0"/>
              <a:t> – Variable length character of “n” length.</a:t>
            </a:r>
          </a:p>
          <a:p>
            <a:endParaRPr lang="en-US" dirty="0"/>
          </a:p>
        </p:txBody>
      </p:sp>
    </p:spTree>
    <p:extLst>
      <p:ext uri="{BB962C8B-B14F-4D97-AF65-F5344CB8AC3E}">
        <p14:creationId xmlns:p14="http://schemas.microsoft.com/office/powerpoint/2010/main" val="408660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567591"/>
            <a:ext cx="10018713" cy="1752599"/>
          </a:xfrm>
        </p:spPr>
        <p:txBody>
          <a:bodyPr/>
          <a:lstStyle/>
          <a:p>
            <a:r>
              <a:rPr lang="en-US" dirty="0"/>
              <a:t>Other data types in SQL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b="1" dirty="0"/>
              <a:t>NUMBER</a:t>
            </a:r>
            <a:r>
              <a:rPr lang="en-US" dirty="0"/>
              <a:t> Datatype: The NUMBER datatype stores zero, positive, and negative fixed and floating point numbers.</a:t>
            </a:r>
          </a:p>
          <a:p>
            <a:r>
              <a:rPr lang="en-US" b="1" dirty="0"/>
              <a:t>DATE</a:t>
            </a:r>
            <a:r>
              <a:rPr lang="en-US" dirty="0"/>
              <a:t> Datatype: The DATE datatype is used to store the date and time information.</a:t>
            </a:r>
          </a:p>
          <a:p>
            <a:r>
              <a:rPr lang="en-US" b="1" dirty="0"/>
              <a:t>COUNTER</a:t>
            </a:r>
            <a:r>
              <a:rPr lang="en-US" dirty="0"/>
              <a:t> or </a:t>
            </a:r>
            <a:r>
              <a:rPr lang="en-US" b="1" dirty="0"/>
              <a:t>AUTOINCREMENT</a:t>
            </a:r>
            <a:r>
              <a:rPr lang="en-US" dirty="0"/>
              <a:t> Datatype: Used as a integer counter.</a:t>
            </a:r>
          </a:p>
        </p:txBody>
      </p:sp>
    </p:spTree>
    <p:extLst>
      <p:ext uri="{BB962C8B-B14F-4D97-AF65-F5344CB8AC3E}">
        <p14:creationId xmlns:p14="http://schemas.microsoft.com/office/powerpoint/2010/main" val="367364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Creating, Altering, and Deleting Tables</a:t>
            </a:r>
            <a:br>
              <a:rPr lang="en-US" dirty="0"/>
            </a:br>
            <a:r>
              <a:rPr lang="en-US" b="1" dirty="0"/>
              <a:t>Creating Tables</a:t>
            </a:r>
            <a:endParaRPr lang="en-US" dirty="0"/>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12874" y="1572126"/>
            <a:ext cx="10018714" cy="5648725"/>
          </a:xfrm>
        </p:spPr>
        <p:txBody>
          <a:bodyPr>
            <a:normAutofit/>
          </a:bodyPr>
          <a:lstStyle/>
          <a:p>
            <a:r>
              <a:rPr lang="en-US" dirty="0"/>
              <a:t>The SQL command for creating an empty table has the following form:</a:t>
            </a:r>
          </a:p>
          <a:p>
            <a:pPr marL="0" indent="0">
              <a:buNone/>
            </a:pPr>
            <a:r>
              <a:rPr lang="en-US" dirty="0">
                <a:latin typeface="Courier New" panose="02070309020205020404" pitchFamily="49" charset="0"/>
                <a:cs typeface="Courier New" panose="02070309020205020404" pitchFamily="49" charset="0"/>
              </a:rPr>
              <a:t>create table &lt;table&gt; 	(</a:t>
            </a:r>
          </a:p>
          <a:p>
            <a:pPr marL="0" indent="0">
              <a:buNone/>
            </a:pPr>
            <a:r>
              <a:rPr lang="en-US" dirty="0">
                <a:latin typeface="Courier New" panose="02070309020205020404" pitchFamily="49" charset="0"/>
                <a:cs typeface="Courier New" panose="02070309020205020404" pitchFamily="49" charset="0"/>
              </a:rPr>
              <a:t>&lt;column 1&gt; &lt;data type&gt; [NOT NULL] [&lt;column constraint&gt;],</a:t>
            </a:r>
          </a:p>
          <a:p>
            <a:pPr marL="0" indent="0">
              <a:buNone/>
            </a:pPr>
            <a:r>
              <a:rPr lang="en-US" dirty="0">
                <a:latin typeface="Courier New" panose="02070309020205020404" pitchFamily="49" charset="0"/>
                <a:cs typeface="Courier New" panose="02070309020205020404" pitchFamily="49" charset="0"/>
              </a:rPr>
              <a:t>. . . . . . . . .</a:t>
            </a:r>
          </a:p>
          <a:p>
            <a:pPr marL="0" indent="0">
              <a:buNone/>
            </a:pPr>
            <a:r>
              <a:rPr lang="en-US" dirty="0">
                <a:latin typeface="Courier New" panose="02070309020205020404" pitchFamily="49" charset="0"/>
                <a:cs typeface="Courier New" panose="02070309020205020404" pitchFamily="49" charset="0"/>
              </a:rPr>
              <a:t>&lt;column n&gt; &lt;data type&gt; [NOT NULL] [&lt;column constraint&gt;],</a:t>
            </a:r>
          </a:p>
          <a:p>
            <a:pPr marL="0" indent="0">
              <a:buNone/>
            </a:pPr>
            <a:r>
              <a:rPr lang="en-US" dirty="0">
                <a:latin typeface="Courier New" panose="02070309020205020404" pitchFamily="49" charset="0"/>
                <a:cs typeface="Courier New" panose="02070309020205020404" pitchFamily="49" charset="0"/>
              </a:rPr>
              <a:t>[&lt;table constraint(s)&gt;]   ); </a:t>
            </a:r>
          </a:p>
          <a:p>
            <a:r>
              <a:rPr lang="en-US" dirty="0"/>
              <a:t>[&lt;column constraint&gt;] = [PRIMARY KEY] |  [UNIQUE] | [CHECK()]| … </a:t>
            </a:r>
            <a:r>
              <a:rPr lang="en-US" dirty="0" err="1"/>
              <a:t>etc</a:t>
            </a:r>
            <a:endParaRPr lang="en-US" dirty="0"/>
          </a:p>
          <a:p>
            <a:r>
              <a:rPr lang="en-US" dirty="0"/>
              <a:t>[&lt;table constraint(s)&gt;]= [CONSTRAINT [</a:t>
            </a:r>
            <a:r>
              <a:rPr lang="en-US" dirty="0" err="1"/>
              <a:t>constraint_name</a:t>
            </a:r>
            <a:r>
              <a:rPr lang="en-US" dirty="0"/>
              <a:t>]] [&lt;column constraint&gt;]</a:t>
            </a:r>
          </a:p>
          <a:p>
            <a:endParaRPr lang="en-US" dirty="0"/>
          </a:p>
        </p:txBody>
      </p:sp>
    </p:spTree>
    <p:extLst>
      <p:ext uri="{BB962C8B-B14F-4D97-AF65-F5344CB8AC3E}">
        <p14:creationId xmlns:p14="http://schemas.microsoft.com/office/powerpoint/2010/main" val="1934847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An example for creating a table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52336" y="1571349"/>
            <a:ext cx="9693325" cy="5037998"/>
          </a:xfrm>
        </p:spPr>
        <p:txBody>
          <a:bodyPr>
            <a:normAutofit/>
          </a:bodyPr>
          <a:lstStyle/>
          <a:p>
            <a:pPr marL="0" indent="0">
              <a:buNone/>
            </a:pPr>
            <a:r>
              <a:rPr lang="en-US" sz="3200" dirty="0">
                <a:latin typeface="Courier New" panose="02070309020205020404" pitchFamily="49" charset="0"/>
                <a:cs typeface="Courier New" panose="02070309020205020404" pitchFamily="49" charset="0"/>
              </a:rPr>
              <a:t>CREATE TABLE </a:t>
            </a:r>
            <a:r>
              <a:rPr lang="en-US" sz="3200" dirty="0" err="1">
                <a:latin typeface="Courier New" panose="02070309020205020404" pitchFamily="49" charset="0"/>
                <a:cs typeface="Courier New" panose="02070309020205020404" pitchFamily="49" charset="0"/>
              </a:rPr>
              <a:t>Train_Times</a:t>
            </a:r>
            <a:endParaRPr lang="en-US" sz="3200" dirty="0">
              <a:latin typeface="Courier New" panose="02070309020205020404" pitchFamily="49" charset="0"/>
              <a:cs typeface="Courier New" panose="02070309020205020404" pitchFamily="49" charset="0"/>
            </a:endParaRPr>
          </a:p>
          <a:p>
            <a:pPr marL="0" indent="0">
              <a:buNone/>
            </a:pPr>
            <a:r>
              <a:rPr lang="en-US" sz="3200" dirty="0">
                <a:latin typeface="Courier New" panose="02070309020205020404" pitchFamily="49" charset="0"/>
                <a:cs typeface="Courier New" panose="02070309020205020404" pitchFamily="49" charset="0"/>
              </a:rPr>
              <a:t>(</a:t>
            </a:r>
          </a:p>
          <a:p>
            <a:pPr marL="457200" lvl="1" indent="0">
              <a:buNone/>
            </a:pPr>
            <a:r>
              <a:rPr lang="en-US" sz="2800" dirty="0" err="1">
                <a:latin typeface="Courier New" panose="02070309020205020404" pitchFamily="49" charset="0"/>
                <a:cs typeface="Courier New" panose="02070309020205020404" pitchFamily="49" charset="0"/>
              </a:rPr>
              <a:t>start_location</a:t>
            </a:r>
            <a:r>
              <a:rPr lang="en-US" sz="2800" dirty="0">
                <a:latin typeface="Courier New" panose="02070309020205020404" pitchFamily="49" charset="0"/>
                <a:cs typeface="Courier New" panose="02070309020205020404" pitchFamily="49" charset="0"/>
              </a:rPr>
              <a:t> varchar(75),</a:t>
            </a:r>
          </a:p>
          <a:p>
            <a:pPr marL="457200" lvl="1" indent="0">
              <a:buNone/>
            </a:pPr>
            <a:r>
              <a:rPr lang="en-US" sz="2800" dirty="0">
                <a:latin typeface="Courier New" panose="02070309020205020404" pitchFamily="49" charset="0"/>
                <a:cs typeface="Courier New" panose="02070309020205020404" pitchFamily="49" charset="0"/>
              </a:rPr>
              <a:t>destination varchar(75),</a:t>
            </a:r>
          </a:p>
          <a:p>
            <a:pPr marL="457200" lvl="1" indent="0">
              <a:buNone/>
            </a:pPr>
            <a:r>
              <a:rPr lang="en-US" sz="2800" dirty="0">
                <a:latin typeface="Courier New" panose="02070309020205020404" pitchFamily="49" charset="0"/>
                <a:cs typeface="Courier New" panose="02070309020205020404" pitchFamily="49" charset="0"/>
              </a:rPr>
              <a:t>departs time,</a:t>
            </a:r>
          </a:p>
          <a:p>
            <a:pPr marL="457200" lvl="1" indent="0">
              <a:buNone/>
            </a:pPr>
            <a:r>
              <a:rPr lang="en-US" sz="2800" dirty="0">
                <a:latin typeface="Courier New" panose="02070309020205020404" pitchFamily="49" charset="0"/>
                <a:cs typeface="Courier New" panose="02070309020205020404" pitchFamily="49" charset="0"/>
              </a:rPr>
              <a:t>arrives time</a:t>
            </a:r>
          </a:p>
          <a:p>
            <a:pPr marL="0" indent="0">
              <a:buNone/>
            </a:pPr>
            <a:r>
              <a:rPr lang="en-US" sz="3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79088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ALTER Tables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12758" y="1571349"/>
            <a:ext cx="9532903" cy="5152197"/>
          </a:xfrm>
        </p:spPr>
        <p:txBody>
          <a:bodyPr>
            <a:normAutofit fontScale="85000" lnSpcReduction="10000"/>
          </a:bodyPr>
          <a:lstStyle/>
          <a:p>
            <a:r>
              <a:rPr lang="en-US" dirty="0"/>
              <a:t>To add a new column, use the basic syntax shown below:</a:t>
            </a:r>
          </a:p>
          <a:p>
            <a:pPr marL="457200" lvl="1" indent="0">
              <a:buNone/>
            </a:pPr>
            <a:r>
              <a:rPr lang="en-US" sz="2600" dirty="0">
                <a:latin typeface="Courier New" panose="02070309020205020404" pitchFamily="49" charset="0"/>
                <a:cs typeface="Courier New" panose="02070309020205020404" pitchFamily="49" charset="0"/>
              </a:rPr>
              <a:t>ALTER TABLE </a:t>
            </a:r>
            <a:r>
              <a:rPr lang="en-US" sz="2600" dirty="0" err="1">
                <a:latin typeface="Courier New" panose="02070309020205020404" pitchFamily="49" charset="0"/>
                <a:cs typeface="Courier New" panose="02070309020205020404" pitchFamily="49" charset="0"/>
              </a:rPr>
              <a:t>name_of_table</a:t>
            </a:r>
            <a:endParaRPr lang="en-US" sz="2600" dirty="0">
              <a:latin typeface="Courier New" panose="02070309020205020404" pitchFamily="49" charset="0"/>
              <a:cs typeface="Courier New" panose="02070309020205020404" pitchFamily="49" charset="0"/>
            </a:endParaRPr>
          </a:p>
          <a:p>
            <a:pPr marL="457200" lvl="1" indent="0">
              <a:buNone/>
            </a:pPr>
            <a:r>
              <a:rPr lang="en-US" sz="2600" dirty="0">
                <a:latin typeface="Courier New" panose="02070309020205020404" pitchFamily="49" charset="0"/>
                <a:cs typeface="Courier New" panose="02070309020205020404" pitchFamily="49" charset="0"/>
              </a:rPr>
              <a:t>ADD </a:t>
            </a:r>
            <a:r>
              <a:rPr lang="en-US" sz="2600" dirty="0" err="1">
                <a:latin typeface="Courier New" panose="02070309020205020404" pitchFamily="49" charset="0"/>
                <a:cs typeface="Courier New" panose="02070309020205020404" pitchFamily="49" charset="0"/>
              </a:rPr>
              <a:t>name_of_field</a:t>
            </a:r>
            <a:r>
              <a:rPr lang="en-US" sz="2600" dirty="0">
                <a:latin typeface="Courier New" panose="02070309020205020404" pitchFamily="49" charset="0"/>
                <a:cs typeface="Courier New" panose="02070309020205020404" pitchFamily="49" charset="0"/>
              </a:rPr>
              <a:t> </a:t>
            </a:r>
            <a:r>
              <a:rPr lang="en-US" sz="2600" dirty="0" err="1">
                <a:latin typeface="Courier New" panose="02070309020205020404" pitchFamily="49" charset="0"/>
                <a:cs typeface="Courier New" panose="02070309020205020404" pitchFamily="49" charset="0"/>
              </a:rPr>
              <a:t>data_type</a:t>
            </a:r>
            <a:endParaRPr lang="en-US" sz="2600" dirty="0"/>
          </a:p>
          <a:p>
            <a:r>
              <a:rPr lang="en-US" dirty="0"/>
              <a:t>To delete an existing column, the syntax is identical except you now tell the database system that you want to delete a column and supply that column’s name:</a:t>
            </a:r>
          </a:p>
          <a:p>
            <a:pPr marL="457200" lvl="1" indent="0">
              <a:buNone/>
            </a:pPr>
            <a:r>
              <a:rPr lang="en-US" sz="2600" dirty="0">
                <a:latin typeface="Courier New" panose="02070309020205020404" pitchFamily="49" charset="0"/>
                <a:cs typeface="Courier New" panose="02070309020205020404" pitchFamily="49" charset="0"/>
              </a:rPr>
              <a:t>ALTER TABLE </a:t>
            </a:r>
            <a:r>
              <a:rPr lang="en-US" sz="2600" dirty="0" err="1">
                <a:latin typeface="Courier New" panose="02070309020205020404" pitchFamily="49" charset="0"/>
                <a:cs typeface="Courier New" panose="02070309020205020404" pitchFamily="49" charset="0"/>
              </a:rPr>
              <a:t>name_of_table</a:t>
            </a:r>
            <a:endParaRPr lang="en-US" sz="2600" dirty="0">
              <a:latin typeface="Courier New" panose="02070309020205020404" pitchFamily="49" charset="0"/>
              <a:cs typeface="Courier New" panose="02070309020205020404" pitchFamily="49" charset="0"/>
            </a:endParaRPr>
          </a:p>
          <a:p>
            <a:pPr marL="457200" lvl="1" indent="0">
              <a:buNone/>
            </a:pPr>
            <a:r>
              <a:rPr lang="en-US" sz="2600" dirty="0">
                <a:latin typeface="Courier New" panose="02070309020205020404" pitchFamily="49" charset="0"/>
                <a:cs typeface="Courier New" panose="02070309020205020404" pitchFamily="49" charset="0"/>
              </a:rPr>
              <a:t>DROP COLUMN </a:t>
            </a:r>
            <a:r>
              <a:rPr lang="en-US" sz="2600" dirty="0" err="1">
                <a:latin typeface="Courier New" panose="02070309020205020404" pitchFamily="49" charset="0"/>
                <a:cs typeface="Courier New" panose="02070309020205020404" pitchFamily="49" charset="0"/>
              </a:rPr>
              <a:t>name_of_field</a:t>
            </a:r>
            <a:endParaRPr lang="en-US" sz="2600" dirty="0">
              <a:latin typeface="Courier New" panose="02070309020205020404" pitchFamily="49" charset="0"/>
              <a:cs typeface="Courier New" panose="02070309020205020404" pitchFamily="49" charset="0"/>
            </a:endParaRPr>
          </a:p>
          <a:p>
            <a:r>
              <a:rPr lang="en-US" dirty="0"/>
              <a:t>What if you decide later on, after you create a table, to modify data type or constraint, we can use:</a:t>
            </a:r>
          </a:p>
          <a:p>
            <a:pPr marL="457200" lvl="1" indent="0">
              <a:buNone/>
            </a:pPr>
            <a:r>
              <a:rPr lang="en-US" sz="2600" dirty="0">
                <a:latin typeface="Courier New" panose="02070309020205020404" pitchFamily="49" charset="0"/>
                <a:cs typeface="Courier New" panose="02070309020205020404" pitchFamily="49" charset="0"/>
              </a:rPr>
              <a:t>ALTER TABLE </a:t>
            </a:r>
            <a:r>
              <a:rPr lang="en-US" sz="2600" dirty="0" err="1">
                <a:latin typeface="Courier New" panose="02070309020205020404" pitchFamily="49" charset="0"/>
                <a:cs typeface="Courier New" panose="02070309020205020404" pitchFamily="49" charset="0"/>
              </a:rPr>
              <a:t>name_of_table</a:t>
            </a:r>
            <a:endParaRPr lang="en-US" sz="2600" dirty="0">
              <a:latin typeface="Courier New" panose="02070309020205020404" pitchFamily="49" charset="0"/>
              <a:cs typeface="Courier New" panose="02070309020205020404" pitchFamily="49" charset="0"/>
            </a:endParaRPr>
          </a:p>
          <a:p>
            <a:pPr marL="457200" lvl="1" indent="0">
              <a:buNone/>
            </a:pPr>
            <a:r>
              <a:rPr lang="en-US" sz="2600" dirty="0">
                <a:latin typeface="Courier New" panose="02070309020205020404" pitchFamily="49" charset="0"/>
                <a:cs typeface="Courier New" panose="02070309020205020404" pitchFamily="49" charset="0"/>
              </a:rPr>
              <a:t>ALTER COLUMN </a:t>
            </a:r>
            <a:r>
              <a:rPr lang="en-US" sz="2600" dirty="0" err="1">
                <a:latin typeface="Courier New" panose="02070309020205020404" pitchFamily="49" charset="0"/>
                <a:cs typeface="Courier New" panose="02070309020205020404" pitchFamily="49" charset="0"/>
              </a:rPr>
              <a:t>name_of_field</a:t>
            </a:r>
            <a:r>
              <a:rPr lang="en-US" sz="2600" dirty="0">
                <a:latin typeface="Courier New" panose="02070309020205020404" pitchFamily="49" charset="0"/>
                <a:cs typeface="Courier New" panose="02070309020205020404" pitchFamily="49" charset="0"/>
              </a:rPr>
              <a:t>  new_ </a:t>
            </a:r>
            <a:r>
              <a:rPr lang="en-US" sz="2600" dirty="0" err="1">
                <a:latin typeface="Courier New" panose="02070309020205020404" pitchFamily="49" charset="0"/>
                <a:cs typeface="Courier New" panose="02070309020205020404" pitchFamily="49" charset="0"/>
              </a:rPr>
              <a:t>data_type</a:t>
            </a:r>
            <a:endParaRPr lang="en-US" sz="2600" dirty="0">
              <a:latin typeface="Courier New" panose="02070309020205020404" pitchFamily="49" charset="0"/>
              <a:cs typeface="Courier New" panose="02070309020205020404" pitchFamily="49" charset="0"/>
            </a:endParaRPr>
          </a:p>
          <a:p>
            <a:pPr marL="0" indent="0">
              <a:buNone/>
            </a:pPr>
            <a:r>
              <a:rPr lang="en-US" b="1" dirty="0"/>
              <a:t>Note: In Oracle and MySQL, you must use MODIFY instead of ALTER COLUMN</a:t>
            </a:r>
            <a:r>
              <a:rPr lang="en-US" dirty="0"/>
              <a:t>.</a:t>
            </a:r>
          </a:p>
        </p:txBody>
      </p:sp>
      <p:sp>
        <p:nvSpPr>
          <p:cNvPr id="3" name="Rectangle 2">
            <a:extLst>
              <a:ext uri="{FF2B5EF4-FFF2-40B4-BE49-F238E27FC236}">
                <a16:creationId xmlns:a16="http://schemas.microsoft.com/office/drawing/2014/main" id="{0513E224-88B4-4673-AFD8-3DD1B411D0CC}"/>
              </a:ext>
            </a:extLst>
          </p:cNvPr>
          <p:cNvSpPr>
            <a:spLocks noChangeArrowheads="1"/>
          </p:cNvSpPr>
          <p:nvPr/>
        </p:nvSpPr>
        <p:spPr bwMode="auto">
          <a:xfrm>
            <a:off x="1812758" y="2424628"/>
            <a:ext cx="139387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AU"/>
          </a:p>
        </p:txBody>
      </p:sp>
    </p:spTree>
    <p:extLst>
      <p:ext uri="{BB962C8B-B14F-4D97-AF65-F5344CB8AC3E}">
        <p14:creationId xmlns:p14="http://schemas.microsoft.com/office/powerpoint/2010/main" val="20348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615150"/>
            <a:ext cx="10018713" cy="1752599"/>
          </a:xfrm>
        </p:spPr>
        <p:txBody>
          <a:bodyPr/>
          <a:lstStyle/>
          <a:p>
            <a:r>
              <a:rPr lang="en-US" dirty="0"/>
              <a:t> Deleting an Existing Table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91450"/>
            <a:ext cx="9813726" cy="4971494"/>
          </a:xfrm>
        </p:spPr>
        <p:txBody>
          <a:bodyPr>
            <a:normAutofit/>
          </a:bodyPr>
          <a:lstStyle/>
          <a:p>
            <a:r>
              <a:rPr lang="en-US" sz="3200" dirty="0"/>
              <a:t>The basic syntax is:</a:t>
            </a:r>
          </a:p>
          <a:p>
            <a:pPr marL="0" indent="0">
              <a:buNone/>
            </a:pPr>
            <a:r>
              <a:rPr lang="en-US" sz="3200" dirty="0">
                <a:latin typeface="Courier New" panose="02070309020205020404" pitchFamily="49" charset="0"/>
                <a:cs typeface="Courier New" panose="02070309020205020404" pitchFamily="49" charset="0"/>
              </a:rPr>
              <a:t>	DROP TABLE </a:t>
            </a:r>
            <a:r>
              <a:rPr lang="en-US" sz="3200" dirty="0" err="1">
                <a:latin typeface="Courier New" panose="02070309020205020404" pitchFamily="49" charset="0"/>
                <a:cs typeface="Courier New" panose="02070309020205020404" pitchFamily="49" charset="0"/>
              </a:rPr>
              <a:t>name_of_table</a:t>
            </a:r>
            <a:endParaRPr lang="en-US" sz="3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66025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Ensuring Data Validity with Constraints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347537"/>
            <a:ext cx="9813726" cy="5213684"/>
          </a:xfrm>
        </p:spPr>
        <p:txBody>
          <a:bodyPr>
            <a:normAutofit/>
          </a:bodyPr>
          <a:lstStyle/>
          <a:p>
            <a:r>
              <a:rPr lang="en-US" sz="2600" dirty="0"/>
              <a:t>When creating database tables and fields, you can specify constraints that limit what data can go in a field.</a:t>
            </a:r>
          </a:p>
          <a:p>
            <a:r>
              <a:rPr lang="en-US" sz="2600" dirty="0"/>
              <a:t>Using the DBMS to protect data integrity is not the only way, but it’s probably the best. </a:t>
            </a:r>
          </a:p>
          <a:p>
            <a:r>
              <a:rPr lang="en-US" sz="2600" dirty="0"/>
              <a:t>An alternative is having an external program ensure that the data is valid, as most databases are not accessed directly by the user but via some third-party front-end interface.</a:t>
            </a:r>
          </a:p>
          <a:p>
            <a:r>
              <a:rPr lang="en-US" sz="2600" dirty="0"/>
              <a:t>This section covers the following constraints: </a:t>
            </a:r>
          </a:p>
          <a:p>
            <a:pPr marL="0" indent="0">
              <a:buNone/>
            </a:pPr>
            <a:r>
              <a:rPr lang="en-US" sz="2600" dirty="0"/>
              <a:t>NOT NULL, UNIQUE, 	CHECK, PRIMARY KEY and FOREIGN KEY</a:t>
            </a:r>
          </a:p>
          <a:p>
            <a:endParaRPr lang="en-US" sz="2600" dirty="0"/>
          </a:p>
        </p:txBody>
      </p:sp>
    </p:spTree>
    <p:extLst>
      <p:ext uri="{BB962C8B-B14F-4D97-AF65-F5344CB8AC3E}">
        <p14:creationId xmlns:p14="http://schemas.microsoft.com/office/powerpoint/2010/main" val="381218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NOT NULL Constraint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49218" y="1697039"/>
            <a:ext cx="9813726" cy="4767929"/>
          </a:xfrm>
        </p:spPr>
        <p:txBody>
          <a:bodyPr>
            <a:normAutofit/>
          </a:bodyPr>
          <a:lstStyle/>
          <a:p>
            <a:pPr marL="0" indent="0">
              <a:buNone/>
            </a:pPr>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MyTable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t>
            </a:r>
          </a:p>
          <a:p>
            <a:pPr marL="457200" lvl="1" indent="0">
              <a:buNone/>
            </a:pPr>
            <a:r>
              <a:rPr lang="en-US" sz="2400" dirty="0">
                <a:latin typeface="Courier New" panose="02070309020205020404" pitchFamily="49" charset="0"/>
                <a:cs typeface="Courier New" panose="02070309020205020404" pitchFamily="49" charset="0"/>
              </a:rPr>
              <a:t>Column1 int NOT NULL,</a:t>
            </a:r>
          </a:p>
          <a:p>
            <a:pPr marL="457200" lvl="1" indent="0">
              <a:buNone/>
            </a:pPr>
            <a:r>
              <a:rPr lang="en-US" sz="2400" dirty="0">
                <a:latin typeface="Courier New" panose="02070309020205020404" pitchFamily="49" charset="0"/>
                <a:cs typeface="Courier New" panose="02070309020205020404" pitchFamily="49" charset="0"/>
              </a:rPr>
              <a:t>Column2 varchar(20),</a:t>
            </a:r>
          </a:p>
          <a:p>
            <a:pPr marL="457200" lvl="1" indent="0">
              <a:buNone/>
            </a:pPr>
            <a:r>
              <a:rPr lang="en-US" sz="2400" dirty="0">
                <a:latin typeface="Courier New" panose="02070309020205020404" pitchFamily="49" charset="0"/>
                <a:cs typeface="Courier New" panose="02070309020205020404" pitchFamily="49" charset="0"/>
              </a:rPr>
              <a:t>Column3 varchar(12) NOT NULL</a:t>
            </a:r>
          </a:p>
          <a:p>
            <a:pPr marL="0" indent="0">
              <a:buNone/>
            </a:pP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71761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UNIQUE Constraint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The UNIQUE constraint prevents two records from having identical values in a particular column. </a:t>
            </a:r>
          </a:p>
          <a:p>
            <a:r>
              <a:rPr lang="en-US" dirty="0"/>
              <a:t>For example, you might want to prevent two or more people from having identical email addresses.</a:t>
            </a:r>
          </a:p>
          <a:p>
            <a:r>
              <a:rPr lang="en-US" dirty="0"/>
              <a:t>You can apply the UNIQUE constraint in two ways: add it when creating the table, or add it after creating the table.</a:t>
            </a:r>
          </a:p>
          <a:p>
            <a:endParaRPr lang="en-US" dirty="0"/>
          </a:p>
        </p:txBody>
      </p:sp>
    </p:spTree>
    <p:extLst>
      <p:ext uri="{BB962C8B-B14F-4D97-AF65-F5344CB8AC3E}">
        <p14:creationId xmlns:p14="http://schemas.microsoft.com/office/powerpoint/2010/main" val="2905332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UNIQUE Constraint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We can add the UNIQUE constraint to the table definition immediately after the column’s type definition:</a:t>
            </a:r>
          </a:p>
          <a:p>
            <a:pPr marL="0" indent="0">
              <a:buNone/>
            </a:pPr>
            <a:endParaRPr lang="fr-FR" dirty="0">
              <a:latin typeface="Courier New" panose="02070309020205020404" pitchFamily="49" charset="0"/>
              <a:cs typeface="Courier New" panose="02070309020205020404" pitchFamily="49" charset="0"/>
            </a:endParaRPr>
          </a:p>
          <a:p>
            <a:pPr marL="0" indent="0">
              <a:buNone/>
            </a:pPr>
            <a:r>
              <a:rPr lang="fr-FR" dirty="0">
                <a:latin typeface="Courier New" panose="02070309020205020404" pitchFamily="49" charset="0"/>
                <a:cs typeface="Courier New" panose="02070309020205020404" pitchFamily="49" charset="0"/>
              </a:rPr>
              <a:t>CREATE TABLE </a:t>
            </a:r>
            <a:r>
              <a:rPr lang="fr-FR" dirty="0" err="1">
                <a:latin typeface="Courier New" panose="02070309020205020404" pitchFamily="49" charset="0"/>
                <a:cs typeface="Courier New" panose="02070309020205020404" pitchFamily="49" charset="0"/>
              </a:rPr>
              <a:t>MyUniqueTable</a:t>
            </a:r>
            <a:endParaRPr lang="fr-FR" dirty="0">
              <a:latin typeface="Courier New" panose="02070309020205020404" pitchFamily="49" charset="0"/>
              <a:cs typeface="Courier New" panose="02070309020205020404" pitchFamily="49" charset="0"/>
            </a:endParaRPr>
          </a:p>
          <a:p>
            <a:pPr marL="0" indent="0">
              <a:buNone/>
            </a:pPr>
            <a:r>
              <a:rPr lang="fr-FR" dirty="0">
                <a:latin typeface="Courier New" panose="02070309020205020404" pitchFamily="49" charset="0"/>
                <a:cs typeface="Courier New" panose="02070309020205020404" pitchFamily="49" charset="0"/>
              </a:rPr>
              <a:t>(</a:t>
            </a:r>
          </a:p>
          <a:p>
            <a:pPr marL="457200" lvl="1" indent="0">
              <a:buNone/>
            </a:pPr>
            <a:r>
              <a:rPr lang="fr-FR" sz="2400" dirty="0">
                <a:latin typeface="Courier New" panose="02070309020205020404" pitchFamily="49" charset="0"/>
                <a:cs typeface="Courier New" panose="02070309020205020404" pitchFamily="49" charset="0"/>
              </a:rPr>
              <a:t>Column1 </a:t>
            </a:r>
            <a:r>
              <a:rPr lang="fr-FR" sz="2400" dirty="0" err="1">
                <a:latin typeface="Courier New" panose="02070309020205020404" pitchFamily="49" charset="0"/>
                <a:cs typeface="Courier New" panose="02070309020205020404" pitchFamily="49" charset="0"/>
              </a:rPr>
              <a:t>int</a:t>
            </a:r>
            <a:r>
              <a:rPr lang="fr-FR" sz="2400" dirty="0">
                <a:latin typeface="Courier New" panose="02070309020205020404" pitchFamily="49" charset="0"/>
                <a:cs typeface="Courier New" panose="02070309020205020404" pitchFamily="49" charset="0"/>
              </a:rPr>
              <a:t>,</a:t>
            </a:r>
          </a:p>
          <a:p>
            <a:pPr marL="457200" lvl="1" indent="0">
              <a:buNone/>
            </a:pPr>
            <a:r>
              <a:rPr lang="fr-FR" sz="2400" dirty="0">
                <a:latin typeface="Courier New" panose="02070309020205020404" pitchFamily="49" charset="0"/>
                <a:cs typeface="Courier New" panose="02070309020205020404" pitchFamily="49" charset="0"/>
              </a:rPr>
              <a:t>Column2 varchar(20) UNIQUE,</a:t>
            </a:r>
          </a:p>
          <a:p>
            <a:pPr marL="457200" lvl="1" indent="0">
              <a:buNone/>
            </a:pPr>
            <a:r>
              <a:rPr lang="fr-FR" sz="2400" dirty="0">
                <a:latin typeface="Courier New" panose="02070309020205020404" pitchFamily="49" charset="0"/>
                <a:cs typeface="Courier New" panose="02070309020205020404" pitchFamily="49" charset="0"/>
              </a:rPr>
              <a:t>Column3 varchar(12) UNIQUE</a:t>
            </a:r>
          </a:p>
          <a:p>
            <a:pPr marL="0" indent="0">
              <a:buNone/>
            </a:pPr>
            <a:r>
              <a:rPr lang="fr-FR"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53345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UNIQUE Constraint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Setting the UNIQUE constraint by simply adding UNIQUE after a column is nice and easy, but there’s another way that has two advantages. </a:t>
            </a:r>
          </a:p>
          <a:p>
            <a:r>
              <a:rPr lang="en-US" dirty="0"/>
              <a:t>In this alternative, you add the constraint at the end of the column listing in the table definition, which allows you to specify that two or more columns must in combination be unique.</a:t>
            </a:r>
          </a:p>
          <a:p>
            <a:r>
              <a:rPr lang="en-US" dirty="0"/>
              <a:t> The other advantage is that you can give the constraint a name and you can delete the constraint using SQL.</a:t>
            </a:r>
            <a:endParaRPr lang="fr-F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1316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UNIQUE Constraint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The following code creates a new table, </a:t>
            </a:r>
            <a:r>
              <a:rPr lang="en-US" dirty="0" err="1"/>
              <a:t>AnotherTable</a:t>
            </a:r>
            <a:r>
              <a:rPr lang="en-US" dirty="0"/>
              <a:t>, and adds a unique constraint called </a:t>
            </a:r>
            <a:r>
              <a:rPr lang="en-US" dirty="0" err="1"/>
              <a:t>MyUniqueConstraint</a:t>
            </a:r>
            <a:r>
              <a:rPr lang="en-US" dirty="0"/>
              <a:t>.</a:t>
            </a:r>
          </a:p>
          <a:p>
            <a:pPr marL="0" indent="0">
              <a:buNone/>
            </a:pPr>
            <a:r>
              <a:rPr lang="fr-FR" dirty="0">
                <a:latin typeface="Courier New" panose="02070309020205020404" pitchFamily="49" charset="0"/>
                <a:cs typeface="Courier New" panose="02070309020205020404" pitchFamily="49" charset="0"/>
              </a:rPr>
              <a:t>CREATE TABLE </a:t>
            </a:r>
            <a:r>
              <a:rPr lang="fr-FR" dirty="0" err="1">
                <a:latin typeface="Courier New" panose="02070309020205020404" pitchFamily="49" charset="0"/>
                <a:cs typeface="Courier New" panose="02070309020205020404" pitchFamily="49" charset="0"/>
              </a:rPr>
              <a:t>AnotherTable</a:t>
            </a:r>
            <a:endParaRPr lang="fr-FR" dirty="0">
              <a:latin typeface="Courier New" panose="02070309020205020404" pitchFamily="49" charset="0"/>
              <a:cs typeface="Courier New" panose="02070309020205020404" pitchFamily="49" charset="0"/>
            </a:endParaRPr>
          </a:p>
          <a:p>
            <a:pPr marL="0" indent="0">
              <a:buNone/>
            </a:pPr>
            <a:r>
              <a:rPr lang="fr-FR" dirty="0">
                <a:latin typeface="Courier New" panose="02070309020205020404" pitchFamily="49" charset="0"/>
                <a:cs typeface="Courier New" panose="02070309020205020404" pitchFamily="49" charset="0"/>
              </a:rPr>
              <a:t>(</a:t>
            </a:r>
          </a:p>
          <a:p>
            <a:pPr marL="457200" lvl="1" indent="0">
              <a:buNone/>
            </a:pPr>
            <a:r>
              <a:rPr lang="fr-FR" sz="2400" dirty="0">
                <a:latin typeface="Courier New" panose="02070309020205020404" pitchFamily="49" charset="0"/>
                <a:cs typeface="Courier New" panose="02070309020205020404" pitchFamily="49" charset="0"/>
              </a:rPr>
              <a:t>Column1 </a:t>
            </a:r>
            <a:r>
              <a:rPr lang="fr-FR" sz="2400" dirty="0" err="1">
                <a:latin typeface="Courier New" panose="02070309020205020404" pitchFamily="49" charset="0"/>
                <a:cs typeface="Courier New" panose="02070309020205020404" pitchFamily="49" charset="0"/>
              </a:rPr>
              <a:t>int</a:t>
            </a:r>
            <a:r>
              <a:rPr lang="fr-FR" sz="2400" dirty="0">
                <a:latin typeface="Courier New" panose="02070309020205020404" pitchFamily="49" charset="0"/>
                <a:cs typeface="Courier New" panose="02070309020205020404" pitchFamily="49" charset="0"/>
              </a:rPr>
              <a:t>,</a:t>
            </a:r>
          </a:p>
          <a:p>
            <a:pPr marL="457200" lvl="1" indent="0">
              <a:buNone/>
            </a:pPr>
            <a:r>
              <a:rPr lang="fr-FR" sz="2400" dirty="0">
                <a:latin typeface="Courier New" panose="02070309020205020404" pitchFamily="49" charset="0"/>
                <a:cs typeface="Courier New" panose="02070309020205020404" pitchFamily="49" charset="0"/>
              </a:rPr>
              <a:t>Column2 varchar(20),</a:t>
            </a:r>
          </a:p>
          <a:p>
            <a:pPr marL="457200" lvl="1" indent="0">
              <a:buNone/>
            </a:pPr>
            <a:r>
              <a:rPr lang="fr-FR" sz="2400" dirty="0">
                <a:latin typeface="Courier New" panose="02070309020205020404" pitchFamily="49" charset="0"/>
                <a:cs typeface="Courier New" panose="02070309020205020404" pitchFamily="49" charset="0"/>
              </a:rPr>
              <a:t>Column3 varchar(12),</a:t>
            </a:r>
          </a:p>
          <a:p>
            <a:pPr marL="457200" lvl="1" indent="0">
              <a:buNone/>
            </a:pPr>
            <a:r>
              <a:rPr lang="fr-FR" sz="2400" dirty="0">
                <a:latin typeface="Courier New" panose="02070309020205020404" pitchFamily="49" charset="0"/>
                <a:cs typeface="Courier New" panose="02070309020205020404" pitchFamily="49" charset="0"/>
              </a:rPr>
              <a:t>CONSTRAINT </a:t>
            </a:r>
            <a:r>
              <a:rPr lang="fr-FR" sz="2400" dirty="0" err="1">
                <a:latin typeface="Courier New" panose="02070309020205020404" pitchFamily="49" charset="0"/>
                <a:cs typeface="Courier New" panose="02070309020205020404" pitchFamily="49" charset="0"/>
              </a:rPr>
              <a:t>MyUniqueConstraint</a:t>
            </a:r>
            <a:r>
              <a:rPr lang="fr-FR" sz="2400" dirty="0">
                <a:latin typeface="Courier New" panose="02070309020205020404" pitchFamily="49" charset="0"/>
                <a:cs typeface="Courier New" panose="02070309020205020404" pitchFamily="49" charset="0"/>
              </a:rPr>
              <a:t> UNIQUE(Column2, Column3)</a:t>
            </a:r>
          </a:p>
          <a:p>
            <a:pPr marL="0" indent="0">
              <a:buNone/>
            </a:pPr>
            <a:r>
              <a:rPr lang="fr-FR" dirty="0">
                <a:latin typeface="Courier New" panose="02070309020205020404" pitchFamily="49" charset="0"/>
                <a:cs typeface="Courier New" panose="02070309020205020404" pitchFamily="49" charset="0"/>
              </a:rPr>
              <a:t>);</a:t>
            </a:r>
          </a:p>
          <a:p>
            <a:endParaRPr lang="fr-F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22885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UNIQUE Constraint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lnSpcReduction="10000"/>
          </a:bodyPr>
          <a:lstStyle/>
          <a:p>
            <a:r>
              <a:rPr lang="en-US" dirty="0"/>
              <a:t>You can add more than one constraint to a table, so long as each constraint has a different name and is separated by a comma:</a:t>
            </a:r>
          </a:p>
          <a:p>
            <a:pPr marL="0" indent="0">
              <a:buNone/>
            </a:pPr>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AnotherTable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t>
            </a:r>
          </a:p>
          <a:p>
            <a:pPr marL="457200" lvl="1" indent="0">
              <a:buNone/>
            </a:pPr>
            <a:r>
              <a:rPr lang="en-US" sz="2400" dirty="0">
                <a:latin typeface="Courier New" panose="02070309020205020404" pitchFamily="49" charset="0"/>
                <a:cs typeface="Courier New" panose="02070309020205020404" pitchFamily="49" charset="0"/>
              </a:rPr>
              <a:t>Column1 int,</a:t>
            </a:r>
          </a:p>
          <a:p>
            <a:pPr marL="457200" lvl="1" indent="0">
              <a:buNone/>
            </a:pPr>
            <a:r>
              <a:rPr lang="en-US" sz="2400" dirty="0">
                <a:latin typeface="Courier New" panose="02070309020205020404" pitchFamily="49" charset="0"/>
                <a:cs typeface="Courier New" panose="02070309020205020404" pitchFamily="49" charset="0"/>
              </a:rPr>
              <a:t>Column2 varchar(20),</a:t>
            </a:r>
          </a:p>
          <a:p>
            <a:pPr marL="457200" lvl="1" indent="0">
              <a:buNone/>
            </a:pPr>
            <a:r>
              <a:rPr lang="en-US" sz="2400" dirty="0">
                <a:latin typeface="Courier New" panose="02070309020205020404" pitchFamily="49" charset="0"/>
                <a:cs typeface="Courier New" panose="02070309020205020404" pitchFamily="49" charset="0"/>
              </a:rPr>
              <a:t>Column3 varchar(12),</a:t>
            </a:r>
          </a:p>
          <a:p>
            <a:pPr marL="457200" lvl="1" indent="0">
              <a:buNone/>
            </a:pPr>
            <a:r>
              <a:rPr lang="en-US" sz="2400" dirty="0">
                <a:latin typeface="Courier New" panose="02070309020205020404" pitchFamily="49" charset="0"/>
                <a:cs typeface="Courier New" panose="02070309020205020404" pitchFamily="49" charset="0"/>
              </a:rPr>
              <a:t>CONSTRAINT </a:t>
            </a:r>
            <a:r>
              <a:rPr lang="en-US" sz="2400" dirty="0" err="1">
                <a:latin typeface="Courier New" panose="02070309020205020404" pitchFamily="49" charset="0"/>
                <a:cs typeface="Courier New" panose="02070309020205020404" pitchFamily="49" charset="0"/>
              </a:rPr>
              <a:t>MyUniqueConstraint</a:t>
            </a:r>
            <a:r>
              <a:rPr lang="en-US" sz="2400" dirty="0">
                <a:latin typeface="Courier New" panose="02070309020205020404" pitchFamily="49" charset="0"/>
                <a:cs typeface="Courier New" panose="02070309020205020404" pitchFamily="49" charset="0"/>
              </a:rPr>
              <a:t> UNIQUE(Column2, Column3),</a:t>
            </a:r>
          </a:p>
          <a:p>
            <a:pPr marL="457200" lvl="1" indent="0">
              <a:buNone/>
            </a:pPr>
            <a:r>
              <a:rPr lang="en-US" sz="2400" dirty="0">
                <a:latin typeface="Courier New" panose="02070309020205020404" pitchFamily="49" charset="0"/>
                <a:cs typeface="Courier New" panose="02070309020205020404" pitchFamily="49" charset="0"/>
              </a:rPr>
              <a:t>CONSTRAINT </a:t>
            </a:r>
            <a:r>
              <a:rPr lang="en-US" sz="2400" dirty="0" err="1">
                <a:latin typeface="Courier New" panose="02070309020205020404" pitchFamily="49" charset="0"/>
                <a:cs typeface="Courier New" panose="02070309020205020404" pitchFamily="49" charset="0"/>
              </a:rPr>
              <a:t>AnotherConstraint</a:t>
            </a:r>
            <a:r>
              <a:rPr lang="en-US" sz="2400" dirty="0">
                <a:latin typeface="Courier New" panose="02070309020205020404" pitchFamily="49" charset="0"/>
                <a:cs typeface="Courier New" panose="02070309020205020404" pitchFamily="49" charset="0"/>
              </a:rPr>
              <a:t> UNIQUE(Column1, Column3)</a:t>
            </a:r>
          </a:p>
          <a:p>
            <a:pPr marL="0" indent="0">
              <a:buNone/>
            </a:pP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92100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50556"/>
            <a:ext cx="10018713" cy="1752599"/>
          </a:xfrm>
        </p:spPr>
        <p:txBody>
          <a:bodyPr/>
          <a:lstStyle/>
          <a:p>
            <a:r>
              <a:rPr lang="en-US" dirty="0"/>
              <a:t>UNIQUE Constraint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fontScale="92500" lnSpcReduction="20000"/>
          </a:bodyPr>
          <a:lstStyle/>
          <a:p>
            <a:r>
              <a:rPr lang="en-US" dirty="0"/>
              <a:t>So far we know how to add a UNIQUE constraint at the time of a table’s creation. However, using the ALTER TABLE statement, we can add and remove a UNIQUE constraint after the table’s creation.</a:t>
            </a:r>
          </a:p>
          <a:p>
            <a:pPr marL="0" indent="0">
              <a:buNone/>
            </a:pPr>
            <a:r>
              <a:rPr lang="en-US" dirty="0">
                <a:latin typeface="Courier New" panose="02070309020205020404" pitchFamily="49" charset="0"/>
                <a:cs typeface="Courier New" panose="02070309020205020404" pitchFamily="49" charset="0"/>
              </a:rPr>
              <a:t>ALTER TABLE </a:t>
            </a:r>
            <a:r>
              <a:rPr lang="en-US" dirty="0" err="1">
                <a:latin typeface="Courier New" panose="02070309020205020404" pitchFamily="49" charset="0"/>
                <a:cs typeface="Courier New" panose="02070309020205020404" pitchFamily="49" charset="0"/>
              </a:rPr>
              <a:t>YetAnotherTable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ADD CONSTRAINT </a:t>
            </a:r>
            <a:r>
              <a:rPr lang="en-US" dirty="0" err="1">
                <a:latin typeface="Courier New" panose="02070309020205020404" pitchFamily="49" charset="0"/>
                <a:cs typeface="Courier New" panose="02070309020205020404" pitchFamily="49" charset="0"/>
              </a:rPr>
              <a:t>MyUniqueConstraint</a:t>
            </a:r>
            <a:r>
              <a:rPr lang="en-US" dirty="0">
                <a:latin typeface="Courier New" panose="02070309020205020404" pitchFamily="49" charset="0"/>
                <a:cs typeface="Courier New" panose="02070309020205020404" pitchFamily="49" charset="0"/>
              </a:rPr>
              <a:t> UNIQUE(Column2, Column3);</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To delete constraint we use:</a:t>
            </a:r>
          </a:p>
          <a:p>
            <a:pPr marL="0" indent="0">
              <a:buNone/>
            </a:pPr>
            <a:r>
              <a:rPr lang="en-US" dirty="0">
                <a:latin typeface="Courier New" panose="02070309020205020404" pitchFamily="49" charset="0"/>
                <a:cs typeface="Courier New" panose="02070309020205020404" pitchFamily="49" charset="0"/>
              </a:rPr>
              <a:t>ALTER TABLE </a:t>
            </a:r>
            <a:r>
              <a:rPr lang="en-US" dirty="0" err="1">
                <a:latin typeface="Courier New" panose="02070309020205020404" pitchFamily="49" charset="0"/>
                <a:cs typeface="Courier New" panose="02070309020205020404" pitchFamily="49" charset="0"/>
              </a:rPr>
              <a:t>YetAnotherTable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DROP CONSTRAINT </a:t>
            </a:r>
            <a:r>
              <a:rPr lang="en-US" dirty="0" err="1">
                <a:latin typeface="Courier New" panose="02070309020205020404" pitchFamily="49" charset="0"/>
                <a:cs typeface="Courier New" panose="02070309020205020404" pitchFamily="49" charset="0"/>
              </a:rPr>
              <a:t>MyUniqueConstraint</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Note: in MySQL we use the following:</a:t>
            </a:r>
          </a:p>
          <a:p>
            <a:pPr marL="0" indent="0">
              <a:buNone/>
            </a:pPr>
            <a:r>
              <a:rPr lang="en-US" dirty="0">
                <a:latin typeface="Courier New" panose="02070309020205020404" pitchFamily="49" charset="0"/>
                <a:cs typeface="Courier New" panose="02070309020205020404" pitchFamily="49" charset="0"/>
              </a:rPr>
              <a:t>ALTER TABLE </a:t>
            </a:r>
            <a:r>
              <a:rPr lang="en-US" dirty="0" err="1">
                <a:latin typeface="Courier New" panose="02070309020205020404" pitchFamily="49" charset="0"/>
                <a:cs typeface="Courier New" panose="02070309020205020404" pitchFamily="49" charset="0"/>
              </a:rPr>
              <a:t>YetAnotherTable</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DROP INDEX </a:t>
            </a:r>
            <a:r>
              <a:rPr lang="en-US" dirty="0" err="1">
                <a:latin typeface="Courier New" panose="02070309020205020404" pitchFamily="49" charset="0"/>
                <a:cs typeface="Courier New" panose="02070309020205020404" pitchFamily="49" charset="0"/>
              </a:rPr>
              <a:t>MyUniqueConstraint</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00150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50556"/>
            <a:ext cx="10018713" cy="1752599"/>
          </a:xfrm>
        </p:spPr>
        <p:txBody>
          <a:bodyPr/>
          <a:lstStyle/>
          <a:p>
            <a:r>
              <a:rPr lang="en-US" dirty="0"/>
              <a:t>CHECK Constraint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The CHECK constraint enables a condition to check the value being entered into a record.</a:t>
            </a:r>
          </a:p>
          <a:p>
            <a:r>
              <a:rPr lang="en-US" dirty="0"/>
              <a:t> If the condition evaluates to false, the record violates the constraint and isn’t entered into the table. For example, allowing a column storing an age to contain a negative value doesn’t make sense.</a:t>
            </a:r>
          </a:p>
          <a:p>
            <a:pPr marL="0" indent="0">
              <a:buNone/>
            </a:pPr>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NamesAges</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t>
            </a:r>
          </a:p>
          <a:p>
            <a:pPr marL="457200" lvl="1" indent="0">
              <a:buNone/>
            </a:pPr>
            <a:r>
              <a:rPr lang="en-US" sz="2400" dirty="0">
                <a:latin typeface="Courier New" panose="02070309020205020404" pitchFamily="49" charset="0"/>
                <a:cs typeface="Courier New" panose="02070309020205020404" pitchFamily="49" charset="0"/>
              </a:rPr>
              <a:t>Name varchar(50),</a:t>
            </a:r>
          </a:p>
          <a:p>
            <a:pPr marL="457200" lvl="1" indent="0">
              <a:buNone/>
            </a:pPr>
            <a:r>
              <a:rPr lang="en-US" sz="2400" dirty="0">
                <a:latin typeface="Courier New" panose="02070309020205020404" pitchFamily="49" charset="0"/>
                <a:cs typeface="Courier New" panose="02070309020205020404" pitchFamily="49" charset="0"/>
              </a:rPr>
              <a:t>Age int CHECK (Age &gt;= 0)</a:t>
            </a:r>
          </a:p>
          <a:p>
            <a:pPr marL="0" indent="0">
              <a:buNone/>
            </a:pP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31897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50556"/>
            <a:ext cx="10018713" cy="1752599"/>
          </a:xfrm>
        </p:spPr>
        <p:txBody>
          <a:bodyPr/>
          <a:lstStyle/>
          <a:p>
            <a:r>
              <a:rPr lang="en-US" dirty="0"/>
              <a:t>CHECK Constraint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lnSpcReduction="10000"/>
          </a:bodyPr>
          <a:lstStyle/>
          <a:p>
            <a:r>
              <a:rPr lang="en-US" dirty="0"/>
              <a:t>A problem with adding a CHECK clause to an individual column definition is that the condition can check only that column.</a:t>
            </a:r>
          </a:p>
          <a:p>
            <a:r>
              <a:rPr lang="en-US" dirty="0"/>
              <a:t>If you want your CHECK condition clause (the clause defined following the CHECK statement) to include multiple columns from the table, you need to define it at the end of the column definitions.</a:t>
            </a:r>
          </a:p>
          <a:p>
            <a:pPr marL="457200" lvl="1" indent="0">
              <a:buNone/>
            </a:pPr>
            <a:r>
              <a:rPr lang="en-US" sz="2400" dirty="0">
                <a:latin typeface="Courier New" panose="02070309020205020404" pitchFamily="49" charset="0"/>
                <a:cs typeface="Courier New" panose="02070309020205020404" pitchFamily="49" charset="0"/>
              </a:rPr>
              <a:t>CREATE TABLE Employee</a:t>
            </a:r>
          </a:p>
          <a:p>
            <a:pPr marL="457200" lvl="1" indent="0">
              <a:buNone/>
            </a:pPr>
            <a:r>
              <a:rPr lang="en-US" sz="2400" dirty="0">
                <a:latin typeface="Courier New" panose="02070309020205020404" pitchFamily="49" charset="0"/>
                <a:cs typeface="Courier New" panose="02070309020205020404" pitchFamily="49" charset="0"/>
              </a:rPr>
              <a:t>(</a:t>
            </a:r>
          </a:p>
          <a:p>
            <a:pPr marL="914400" lvl="2" indent="0">
              <a:buNone/>
            </a:pPr>
            <a:r>
              <a:rPr lang="en-US" sz="2400" dirty="0">
                <a:latin typeface="Courier New" panose="02070309020205020404" pitchFamily="49" charset="0"/>
                <a:cs typeface="Courier New" panose="02070309020205020404" pitchFamily="49" charset="0"/>
              </a:rPr>
              <a:t>Name varchar(50),</a:t>
            </a:r>
          </a:p>
          <a:p>
            <a:pPr marL="914400" lvl="2" indent="0">
              <a:buNone/>
            </a:pPr>
            <a:r>
              <a:rPr lang="en-US" sz="2400" dirty="0">
                <a:latin typeface="Courier New" panose="02070309020205020404" pitchFamily="49" charset="0"/>
                <a:cs typeface="Courier New" panose="02070309020205020404" pitchFamily="49" charset="0"/>
              </a:rPr>
              <a:t>a decimal(12,2),</a:t>
            </a:r>
          </a:p>
          <a:p>
            <a:pPr marL="914400" lvl="2" indent="0">
              <a:buNone/>
            </a:pPr>
            <a:r>
              <a:rPr lang="en-US" sz="2400" dirty="0">
                <a:latin typeface="Courier New" panose="02070309020205020404" pitchFamily="49" charset="0"/>
                <a:cs typeface="Courier New" panose="02070309020205020404" pitchFamily="49" charset="0"/>
              </a:rPr>
              <a:t>b decimal(12,2),</a:t>
            </a:r>
          </a:p>
          <a:p>
            <a:pPr marL="914400" lvl="2" indent="0">
              <a:buNone/>
            </a:pPr>
            <a:r>
              <a:rPr lang="en-US" sz="2400" dirty="0">
                <a:latin typeface="Courier New" panose="02070309020205020404" pitchFamily="49" charset="0"/>
                <a:cs typeface="Courier New" panose="02070309020205020404" pitchFamily="49" charset="0"/>
              </a:rPr>
              <a:t>CONSTRAINT </a:t>
            </a:r>
            <a:r>
              <a:rPr lang="en-US" sz="2400" dirty="0" err="1">
                <a:latin typeface="Courier New" panose="02070309020205020404" pitchFamily="49" charset="0"/>
                <a:cs typeface="Courier New" panose="02070309020205020404" pitchFamily="49" charset="0"/>
              </a:rPr>
              <a:t>MyConstraint</a:t>
            </a:r>
            <a:r>
              <a:rPr lang="en-US" sz="2400" dirty="0">
                <a:latin typeface="Courier New" panose="02070309020205020404" pitchFamily="49" charset="0"/>
                <a:cs typeface="Courier New" panose="02070309020205020404" pitchFamily="49" charset="0"/>
              </a:rPr>
              <a:t> CHECK (a &gt; b)</a:t>
            </a:r>
          </a:p>
          <a:p>
            <a:pPr marL="457200" lvl="1" indent="0">
              <a:buNone/>
            </a:pPr>
            <a:r>
              <a:rPr lang="en-US" sz="2400"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7005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250556"/>
            <a:ext cx="10018713" cy="1752599"/>
          </a:xfrm>
        </p:spPr>
        <p:txBody>
          <a:bodyPr/>
          <a:lstStyle/>
          <a:p>
            <a:r>
              <a:rPr lang="en-US" dirty="0"/>
              <a:t>Primary Key and PRIMARY KEY Constraint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Of all the constraints, PRIMARY KEY is the most important and most commonly used. In fact, every table should have a primary key because first normal form requires it.</a:t>
            </a:r>
          </a:p>
          <a:p>
            <a:r>
              <a:rPr lang="en-US" dirty="0"/>
              <a:t>To specify a single column, simply insert PRIMARY KEY after its definition, like this:</a:t>
            </a:r>
          </a:p>
          <a:p>
            <a:pPr marL="457200" lvl="1" indent="0">
              <a:buNone/>
            </a:pPr>
            <a:r>
              <a:rPr lang="en-US" sz="2400" dirty="0">
                <a:latin typeface="Courier New" panose="02070309020205020404" pitchFamily="49" charset="0"/>
                <a:cs typeface="Courier New" panose="02070309020205020404" pitchFamily="49" charset="0"/>
              </a:rPr>
              <a:t>CREATE TABLE Books</a:t>
            </a:r>
          </a:p>
          <a:p>
            <a:pPr marL="457200" lvl="1" indent="0">
              <a:buNone/>
            </a:pPr>
            <a:r>
              <a:rPr lang="en-US" sz="2400" dirty="0">
                <a:latin typeface="Courier New" panose="02070309020205020404" pitchFamily="49" charset="0"/>
                <a:cs typeface="Courier New" panose="02070309020205020404" pitchFamily="49" charset="0"/>
              </a:rPr>
              <a:t>(</a:t>
            </a:r>
          </a:p>
          <a:p>
            <a:pPr marL="914400" lvl="2" indent="0">
              <a:buNone/>
            </a:pPr>
            <a:r>
              <a:rPr lang="en-US" sz="2400" dirty="0" err="1">
                <a:latin typeface="Courier New" panose="02070309020205020404" pitchFamily="49" charset="0"/>
                <a:cs typeface="Courier New" panose="02070309020205020404" pitchFamily="49" charset="0"/>
              </a:rPr>
              <a:t>BookId</a:t>
            </a:r>
            <a:r>
              <a:rPr lang="en-US" sz="2400" dirty="0">
                <a:latin typeface="Courier New" panose="02070309020205020404" pitchFamily="49" charset="0"/>
                <a:cs typeface="Courier New" panose="02070309020205020404" pitchFamily="49" charset="0"/>
              </a:rPr>
              <a:t> int PRIMARY KEY,</a:t>
            </a:r>
          </a:p>
          <a:p>
            <a:pPr marL="914400" lvl="2" indent="0">
              <a:buNone/>
            </a:pPr>
            <a:r>
              <a:rPr lang="en-US" sz="2400" dirty="0">
                <a:latin typeface="Courier New" panose="02070309020205020404" pitchFamily="49" charset="0"/>
                <a:cs typeface="Courier New" panose="02070309020205020404" pitchFamily="49" charset="0"/>
              </a:rPr>
              <a:t>Year int,</a:t>
            </a:r>
          </a:p>
          <a:p>
            <a:pPr marL="914400" lvl="2" indent="0">
              <a:buNone/>
            </a:pPr>
            <a:r>
              <a:rPr lang="en-US" sz="2400" dirty="0" err="1">
                <a:latin typeface="Courier New" panose="02070309020205020404" pitchFamily="49" charset="0"/>
                <a:cs typeface="Courier New" panose="02070309020205020404" pitchFamily="49" charset="0"/>
              </a:rPr>
              <a:t>BookName</a:t>
            </a:r>
            <a:r>
              <a:rPr lang="en-US" sz="2400" dirty="0">
                <a:latin typeface="Courier New" panose="02070309020205020404" pitchFamily="49" charset="0"/>
                <a:cs typeface="Courier New" panose="02070309020205020404" pitchFamily="49" charset="0"/>
              </a:rPr>
              <a:t> varchar(50)</a:t>
            </a:r>
          </a:p>
          <a:p>
            <a:pPr marL="457200" lvl="1" indent="0">
              <a:buNone/>
            </a:pPr>
            <a:r>
              <a:rPr lang="en-US" sz="2400"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9117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743845" y="-138260"/>
            <a:ext cx="11438353" cy="1566008"/>
          </a:xfrm>
        </p:spPr>
        <p:txBody>
          <a:bodyPr/>
          <a:lstStyle/>
          <a:p>
            <a:r>
              <a:rPr lang="en-US" dirty="0"/>
              <a:t>Primary Key and PRIMARY KEY Constraint </a:t>
            </a:r>
            <a:br>
              <a:rPr lang="en-US" dirty="0"/>
            </a:br>
            <a:r>
              <a:rPr lang="en-US" dirty="0"/>
              <a:t>(cont.)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fontScale="92500" lnSpcReduction="20000"/>
          </a:bodyPr>
          <a:lstStyle/>
          <a:p>
            <a:r>
              <a:rPr lang="en-US" dirty="0"/>
              <a:t>In the preceding code, </a:t>
            </a:r>
            <a:r>
              <a:rPr lang="en-US" dirty="0" err="1"/>
              <a:t>BookId</a:t>
            </a:r>
            <a:r>
              <a:rPr lang="en-US" dirty="0"/>
              <a:t> is the primary key. Alternatively, more than one column can act as the primary key, in which case you need to add the constraint at the end of the table, after the column definitions.</a:t>
            </a:r>
          </a:p>
          <a:p>
            <a:pPr marL="457200" lvl="1" indent="0">
              <a:buNone/>
            </a:pPr>
            <a:r>
              <a:rPr lang="en-US" sz="2400" dirty="0">
                <a:latin typeface="Courier New" panose="02070309020205020404" pitchFamily="49" charset="0"/>
                <a:cs typeface="Courier New" panose="02070309020205020404" pitchFamily="49" charset="0"/>
              </a:rPr>
              <a:t>CREATE TABLE T1</a:t>
            </a:r>
          </a:p>
          <a:p>
            <a:pPr marL="457200" lvl="1" indent="0">
              <a:buNone/>
            </a:pPr>
            <a:r>
              <a:rPr lang="en-US" sz="2400" dirty="0">
                <a:latin typeface="Courier New" panose="02070309020205020404" pitchFamily="49" charset="0"/>
                <a:cs typeface="Courier New" panose="02070309020205020404" pitchFamily="49" charset="0"/>
              </a:rPr>
              <a:t>(</a:t>
            </a:r>
          </a:p>
          <a:p>
            <a:pPr marL="914400" lvl="2" indent="0">
              <a:buNone/>
            </a:pPr>
            <a:r>
              <a:rPr lang="en-US" sz="2400" dirty="0">
                <a:latin typeface="Courier New" panose="02070309020205020404" pitchFamily="49" charset="0"/>
                <a:cs typeface="Courier New" panose="02070309020205020404" pitchFamily="49" charset="0"/>
              </a:rPr>
              <a:t>Pk1 int,</a:t>
            </a:r>
          </a:p>
          <a:p>
            <a:pPr marL="914400" lvl="2" indent="0">
              <a:buNone/>
            </a:pPr>
            <a:r>
              <a:rPr lang="en-US" sz="2400" dirty="0">
                <a:latin typeface="Courier New" panose="02070309020205020404" pitchFamily="49" charset="0"/>
                <a:cs typeface="Courier New" panose="02070309020205020404" pitchFamily="49" charset="0"/>
              </a:rPr>
              <a:t>Pk2 int,</a:t>
            </a:r>
          </a:p>
          <a:p>
            <a:pPr marL="914400" lvl="2" indent="0">
              <a:buNone/>
            </a:pPr>
            <a:r>
              <a:rPr lang="en-US" sz="2400" dirty="0">
                <a:latin typeface="Courier New" panose="02070309020205020404" pitchFamily="49" charset="0"/>
                <a:cs typeface="Courier New" panose="02070309020205020404" pitchFamily="49" charset="0"/>
              </a:rPr>
              <a:t>name varchar(50),</a:t>
            </a:r>
          </a:p>
          <a:p>
            <a:pPr marL="914400" lvl="2" indent="0">
              <a:buNone/>
            </a:pPr>
            <a:r>
              <a:rPr lang="en-US" sz="2400" dirty="0">
                <a:latin typeface="Courier New" panose="02070309020205020404" pitchFamily="49" charset="0"/>
                <a:cs typeface="Courier New" panose="02070309020205020404" pitchFamily="49" charset="0"/>
              </a:rPr>
              <a:t>CONSTRAINT pks PRIMARY KEY (Pk1, Pk2)</a:t>
            </a:r>
          </a:p>
          <a:p>
            <a:pPr marL="457200" lvl="1" indent="0">
              <a:buNone/>
            </a:pPr>
            <a:r>
              <a:rPr lang="en-US" sz="2400" dirty="0">
                <a:latin typeface="Courier New" panose="02070309020205020404" pitchFamily="49" charset="0"/>
                <a:cs typeface="Courier New" panose="02070309020205020404" pitchFamily="49" charset="0"/>
              </a:rPr>
              <a:t>);</a:t>
            </a:r>
          </a:p>
          <a:p>
            <a:r>
              <a:rPr lang="en-US" dirty="0">
                <a:cs typeface="Courier New" panose="02070309020205020404" pitchFamily="49" charset="0"/>
              </a:rPr>
              <a:t>Note: Always you can use ADD &amp; DROP  CONSTRAINT in ALTER TABLE statement but in MySQL to delete primary key use:</a:t>
            </a:r>
          </a:p>
          <a:p>
            <a:pPr marL="457200" lvl="1" indent="0">
              <a:buNone/>
            </a:pPr>
            <a:r>
              <a:rPr lang="en-US" sz="2100" dirty="0">
                <a:latin typeface="Courier New" panose="02070309020205020404" pitchFamily="49" charset="0"/>
                <a:cs typeface="Courier New" panose="02070309020205020404" pitchFamily="49" charset="0"/>
              </a:rPr>
              <a:t>ALTER TABLE </a:t>
            </a:r>
            <a:r>
              <a:rPr lang="en-US" sz="2100" dirty="0" err="1">
                <a:latin typeface="Courier New" panose="02070309020205020404" pitchFamily="49" charset="0"/>
                <a:cs typeface="Courier New" panose="02070309020205020404" pitchFamily="49" charset="0"/>
              </a:rPr>
              <a:t>MoreHolidayBookings</a:t>
            </a:r>
            <a:endParaRPr lang="en-US" sz="2100" dirty="0">
              <a:latin typeface="Courier New" panose="02070309020205020404" pitchFamily="49" charset="0"/>
              <a:cs typeface="Courier New" panose="02070309020205020404" pitchFamily="49" charset="0"/>
            </a:endParaRPr>
          </a:p>
          <a:p>
            <a:pPr marL="457200" lvl="1" indent="0">
              <a:buNone/>
            </a:pPr>
            <a:r>
              <a:rPr lang="en-US" sz="2100" dirty="0">
                <a:latin typeface="Courier New" panose="02070309020205020404" pitchFamily="49" charset="0"/>
                <a:cs typeface="Courier New" panose="02070309020205020404" pitchFamily="49" charset="0"/>
              </a:rPr>
              <a:t>DROP PRIMARY KEY;</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5315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Foreign Key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Foreign keys are columns that refer to primary keys in another table. Primary and foreign keys create relations between data in different tables.</a:t>
            </a:r>
          </a:p>
          <a:p>
            <a:r>
              <a:rPr lang="en-US" dirty="0"/>
              <a:t>The basic syntax to create a foreign key is shown in the following code:</a:t>
            </a:r>
          </a:p>
          <a:p>
            <a:pPr marL="0" indent="0">
              <a:buNone/>
            </a:pPr>
            <a:r>
              <a:rPr lang="en-US" dirty="0">
                <a:latin typeface="Courier New" panose="02070309020205020404" pitchFamily="49" charset="0"/>
                <a:cs typeface="Courier New" panose="02070309020205020404" pitchFamily="49" charset="0"/>
              </a:rPr>
              <a:t>ALTER TABLE </a:t>
            </a:r>
            <a:r>
              <a:rPr lang="en-US" dirty="0" err="1">
                <a:latin typeface="Courier New" panose="02070309020205020404" pitchFamily="49" charset="0"/>
                <a:cs typeface="Courier New" panose="02070309020205020404" pitchFamily="49" charset="0"/>
              </a:rPr>
              <a:t>name_of_table_to_add_foreign_key</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ADD CONSTRAINT </a:t>
            </a:r>
            <a:r>
              <a:rPr lang="en-US" dirty="0" err="1">
                <a:latin typeface="Courier New" panose="02070309020205020404" pitchFamily="49" charset="0"/>
                <a:cs typeface="Courier New" panose="02070309020205020404" pitchFamily="49" charset="0"/>
              </a:rPr>
              <a:t>name_of_foreign_key_constraint</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FOREIGN KEY (</a:t>
            </a:r>
            <a:r>
              <a:rPr lang="en-US" dirty="0" err="1">
                <a:latin typeface="Courier New" panose="02070309020205020404" pitchFamily="49" charset="0"/>
                <a:cs typeface="Courier New" panose="02070309020205020404" pitchFamily="49" charset="0"/>
              </a:rPr>
              <a:t>name_of_column_that_is_foreign_key_column</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REFERENCES </a:t>
            </a:r>
            <a:r>
              <a:rPr lang="en-US" dirty="0" err="1">
                <a:latin typeface="Courier New" panose="02070309020205020404" pitchFamily="49" charset="0"/>
                <a:cs typeface="Courier New" panose="02070309020205020404" pitchFamily="49" charset="0"/>
              </a:rPr>
              <a:t>name_of_table_that_is_referenced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name_of_column_being_referenced</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39375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Foreign Key Example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pPr marL="0" indent="0">
              <a:buNone/>
            </a:pPr>
            <a:r>
              <a:rPr lang="en-US" dirty="0">
                <a:latin typeface="Courier New" panose="02070309020205020404" pitchFamily="49" charset="0"/>
                <a:cs typeface="Courier New" panose="02070309020205020404" pitchFamily="49" charset="0"/>
              </a:rPr>
              <a:t>ALTER TABLE Attendance</a:t>
            </a:r>
          </a:p>
          <a:p>
            <a:pPr marL="0" indent="0">
              <a:buNone/>
            </a:pPr>
            <a:r>
              <a:rPr lang="en-US" dirty="0">
                <a:latin typeface="Courier New" panose="02070309020205020404" pitchFamily="49" charset="0"/>
                <a:cs typeface="Courier New" panose="02070309020205020404" pitchFamily="49" charset="0"/>
              </a:rPr>
              <a:t>ADD CONSTRAINT </a:t>
            </a:r>
            <a:r>
              <a:rPr lang="en-US" dirty="0" err="1">
                <a:latin typeface="Courier New" panose="02070309020205020404" pitchFamily="49" charset="0"/>
                <a:cs typeface="Courier New" panose="02070309020205020404" pitchFamily="49" charset="0"/>
              </a:rPr>
              <a:t>locationid_fk</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FOREIGN KEY (</a:t>
            </a:r>
            <a:r>
              <a:rPr lang="en-US" dirty="0" err="1">
                <a:latin typeface="Courier New" panose="02070309020205020404" pitchFamily="49" charset="0"/>
                <a:cs typeface="Courier New" panose="02070309020205020404" pitchFamily="49" charset="0"/>
              </a:rPr>
              <a:t>LocationId</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REFERENCES Location(</a:t>
            </a:r>
            <a:r>
              <a:rPr lang="en-US" dirty="0" err="1">
                <a:latin typeface="Courier New" panose="02070309020205020404" pitchFamily="49" charset="0"/>
                <a:cs typeface="Courier New" panose="02070309020205020404" pitchFamily="49" charset="0"/>
              </a:rPr>
              <a:t>LocationId</a:t>
            </a:r>
            <a:r>
              <a:rPr lang="en-US" dirty="0">
                <a:latin typeface="Courier New" panose="02070309020205020404" pitchFamily="49" charset="0"/>
                <a:cs typeface="Courier New" panose="02070309020205020404" pitchFamily="49" charset="0"/>
              </a:rPr>
              <a:t>);</a:t>
            </a:r>
          </a:p>
          <a:p>
            <a:endParaRPr lang="en-US" dirty="0">
              <a:cs typeface="Courier New" panose="02070309020205020404" pitchFamily="49" charset="0"/>
            </a:endParaRPr>
          </a:p>
          <a:p>
            <a:r>
              <a:rPr lang="en-US" dirty="0">
                <a:cs typeface="Courier New" panose="02070309020205020404" pitchFamily="49" charset="0"/>
              </a:rPr>
              <a:t>Note: You can also use FOREIGN KEY constraint in CREATE TABLE statement.</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63964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Speeding Up Results with Indexes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cs typeface="Courier New" panose="02070309020205020404" pitchFamily="49" charset="0"/>
              </a:rPr>
              <a:t>Indexes are special lookup tables that the database search engine can use to speed up data retrieval. </a:t>
            </a:r>
          </a:p>
          <a:p>
            <a:r>
              <a:rPr lang="en-US" dirty="0">
                <a:cs typeface="Courier New" panose="02070309020205020404" pitchFamily="49" charset="0"/>
              </a:rPr>
              <a:t>They also organize the way in which the database stores data. </a:t>
            </a:r>
          </a:p>
          <a:p>
            <a:r>
              <a:rPr lang="en-US" dirty="0">
                <a:cs typeface="Courier New" panose="02070309020205020404" pitchFamily="49" charset="0"/>
              </a:rPr>
              <a:t>A good real-world example is a book, much like this one, that has an index at the back that helps you find where the important information is.</a:t>
            </a:r>
          </a:p>
          <a:p>
            <a:r>
              <a:rPr lang="en-US" dirty="0">
                <a:cs typeface="Courier New" panose="02070309020205020404" pitchFamily="49" charset="0"/>
              </a:rPr>
              <a:t>Creating an index involves the CREATE INDEX statement, which allows you to name the index, to specify the table and which column or columns to index, and to indicate whether the index is in ascending or descending order. </a:t>
            </a:r>
          </a:p>
          <a:p>
            <a:r>
              <a:rPr lang="en-US" dirty="0">
                <a:cs typeface="Courier New" panose="02070309020205020404" pitchFamily="49" charset="0"/>
              </a:rPr>
              <a:t>Indexes can also be unique, similar to the UNIQUE constraint, in that the index prevents duplicate entries in the column or combination of columns on which there’s an index. </a:t>
            </a:r>
          </a:p>
          <a:p>
            <a:endParaRPr lang="en-US" dirty="0">
              <a:cs typeface="Courier New" panose="02070309020205020404" pitchFamily="49" charset="0"/>
            </a:endParaRPr>
          </a:p>
        </p:txBody>
      </p:sp>
    </p:spTree>
    <p:extLst>
      <p:ext uri="{BB962C8B-B14F-4D97-AF65-F5344CB8AC3E}">
        <p14:creationId xmlns:p14="http://schemas.microsoft.com/office/powerpoint/2010/main" val="8197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Speeding Up Results with Indexes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cs typeface="Courier New" panose="02070309020205020404" pitchFamily="49" charset="0"/>
              </a:rPr>
              <a:t>The basic format of the statement is as follows:</a:t>
            </a:r>
          </a:p>
          <a:p>
            <a:pPr marL="0" indent="0">
              <a:buNone/>
            </a:pPr>
            <a:r>
              <a:rPr lang="en-US" dirty="0">
                <a:latin typeface="Courier New" panose="02070309020205020404" pitchFamily="49" charset="0"/>
                <a:cs typeface="Courier New" panose="02070309020205020404" pitchFamily="49" charset="0"/>
              </a:rPr>
              <a:t>CREATE INDEX &lt;</a:t>
            </a:r>
            <a:r>
              <a:rPr lang="en-US" dirty="0" err="1">
                <a:latin typeface="Courier New" panose="02070309020205020404" pitchFamily="49" charset="0"/>
                <a:cs typeface="Courier New" panose="02070309020205020404" pitchFamily="49" charset="0"/>
              </a:rPr>
              <a:t>index_name</a:t>
            </a:r>
            <a:r>
              <a:rPr lang="en-US" dirty="0">
                <a:latin typeface="Courier New" panose="02070309020205020404" pitchFamily="49" charset="0"/>
                <a:cs typeface="Courier New" panose="02070309020205020404" pitchFamily="49" charset="0"/>
              </a:rPr>
              <a:t>&gt;</a:t>
            </a:r>
          </a:p>
          <a:p>
            <a:pPr marL="0" indent="0">
              <a:buNone/>
            </a:pPr>
            <a:r>
              <a:rPr lang="en-US" dirty="0">
                <a:latin typeface="Courier New" panose="02070309020205020404" pitchFamily="49" charset="0"/>
                <a:cs typeface="Courier New" panose="02070309020205020404" pitchFamily="49" charset="0"/>
              </a:rPr>
              <a:t>ON &lt;</a:t>
            </a:r>
            <a:r>
              <a:rPr lang="en-US" dirty="0" err="1">
                <a:latin typeface="Courier New" panose="02070309020205020404" pitchFamily="49" charset="0"/>
                <a:cs typeface="Courier New" panose="02070309020205020404" pitchFamily="49" charset="0"/>
              </a:rPr>
              <a:t>table_name</a:t>
            </a:r>
            <a:r>
              <a:rPr lang="en-US" dirty="0">
                <a:latin typeface="Courier New" panose="02070309020205020404" pitchFamily="49" charset="0"/>
                <a:cs typeface="Courier New" panose="02070309020205020404" pitchFamily="49" charset="0"/>
              </a:rPr>
              <a:t>&gt; (&lt;</a:t>
            </a:r>
            <a:r>
              <a:rPr lang="en-US" dirty="0" err="1">
                <a:latin typeface="Courier New" panose="02070309020205020404" pitchFamily="49" charset="0"/>
                <a:cs typeface="Courier New" panose="02070309020205020404" pitchFamily="49" charset="0"/>
              </a:rPr>
              <a:t>column_names</a:t>
            </a:r>
            <a:r>
              <a:rPr lang="en-US" dirty="0">
                <a:latin typeface="Courier New" panose="02070309020205020404" pitchFamily="49" charset="0"/>
                <a:cs typeface="Courier New" panose="02070309020205020404" pitchFamily="49" charset="0"/>
              </a:rPr>
              <a:t>&gt;)</a:t>
            </a:r>
          </a:p>
          <a:p>
            <a:pPr marL="0" indent="0">
              <a:buNone/>
            </a:pP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column_names</a:t>
            </a:r>
            <a:r>
              <a:rPr lang="en-US" dirty="0">
                <a:latin typeface="Courier New" panose="02070309020205020404" pitchFamily="49" charset="0"/>
                <a:cs typeface="Courier New" panose="02070309020205020404" pitchFamily="49" charset="0"/>
              </a:rPr>
              <a:t>&gt;= column_name1 [DESC], column_name2 [DESC],….., </a:t>
            </a:r>
            <a:r>
              <a:rPr lang="en-US" dirty="0" err="1">
                <a:latin typeface="Courier New" panose="02070309020205020404" pitchFamily="49" charset="0"/>
                <a:cs typeface="Courier New" panose="02070309020205020404" pitchFamily="49" charset="0"/>
              </a:rPr>
              <a:t>column_name</a:t>
            </a:r>
            <a:r>
              <a:rPr lang="en-US" dirty="0">
                <a:latin typeface="Courier New" panose="02070309020205020404" pitchFamily="49" charset="0"/>
                <a:cs typeface="Courier New" panose="02070309020205020404" pitchFamily="49" charset="0"/>
              </a:rPr>
              <a:t> n [DESC]</a:t>
            </a:r>
          </a:p>
          <a:p>
            <a:endParaRPr lang="en-US" dirty="0">
              <a:cs typeface="Courier New" panose="02070309020205020404" pitchFamily="49" charset="0"/>
            </a:endParaRPr>
          </a:p>
        </p:txBody>
      </p:sp>
    </p:spTree>
    <p:extLst>
      <p:ext uri="{BB962C8B-B14F-4D97-AF65-F5344CB8AC3E}">
        <p14:creationId xmlns:p14="http://schemas.microsoft.com/office/powerpoint/2010/main" val="895408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Indexes Examples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endParaRPr lang="en-US" dirty="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CREATE INDEX </a:t>
            </a:r>
            <a:r>
              <a:rPr lang="en-US" dirty="0" err="1">
                <a:latin typeface="Courier New" panose="02070309020205020404" pitchFamily="49" charset="0"/>
                <a:cs typeface="Courier New" panose="02070309020205020404" pitchFamily="49" charset="0"/>
              </a:rPr>
              <a:t>member_name_index</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ON </a:t>
            </a:r>
            <a:r>
              <a:rPr lang="en-US" dirty="0" err="1">
                <a:latin typeface="Courier New" panose="02070309020205020404" pitchFamily="49" charset="0"/>
                <a:cs typeface="Courier New" panose="02070309020205020404" pitchFamily="49" charset="0"/>
              </a:rPr>
              <a:t>MemberDetails</a:t>
            </a:r>
            <a:r>
              <a:rPr lang="en-US" dirty="0">
                <a:latin typeface="Courier New" panose="02070309020205020404" pitchFamily="49" charset="0"/>
                <a:cs typeface="Courier New" panose="02070309020205020404" pitchFamily="49" charset="0"/>
              </a:rPr>
              <a:t> (FirstName,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a:t>
            </a:r>
          </a:p>
          <a:p>
            <a:endParaRPr lang="en-US" dirty="0">
              <a:cs typeface="Courier New" panose="02070309020205020404" pitchFamily="49" charset="0"/>
            </a:endParaRPr>
          </a:p>
          <a:p>
            <a:endParaRPr lang="en-US" dirty="0">
              <a:cs typeface="Courier New" panose="02070309020205020404" pitchFamily="49" charset="0"/>
            </a:endParaRPr>
          </a:p>
        </p:txBody>
      </p:sp>
    </p:spTree>
    <p:extLst>
      <p:ext uri="{BB962C8B-B14F-4D97-AF65-F5344CB8AC3E}">
        <p14:creationId xmlns:p14="http://schemas.microsoft.com/office/powerpoint/2010/main" val="954003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Drop Indexes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92967" y="1283368"/>
            <a:ext cx="9555187" cy="5440177"/>
          </a:xfrm>
        </p:spPr>
        <p:txBody>
          <a:bodyPr>
            <a:normAutofit fontScale="92500" lnSpcReduction="20000"/>
          </a:bodyPr>
          <a:lstStyle/>
          <a:p>
            <a:r>
              <a:rPr lang="en-US" dirty="0">
                <a:cs typeface="Courier New" panose="02070309020205020404" pitchFamily="49" charset="0"/>
              </a:rPr>
              <a:t>The SQL to drop the index just created in MS SQL Server is as follows:</a:t>
            </a:r>
          </a:p>
          <a:p>
            <a:pPr marL="0" indent="0">
              <a:buNone/>
            </a:pPr>
            <a:r>
              <a:rPr lang="en-US" dirty="0">
                <a:latin typeface="Courier New" panose="02070309020205020404" pitchFamily="49" charset="0"/>
                <a:cs typeface="Courier New" panose="02070309020205020404" pitchFamily="49" charset="0"/>
              </a:rPr>
              <a:t>DROP INDEX </a:t>
            </a:r>
            <a:r>
              <a:rPr lang="en-US" dirty="0" err="1">
                <a:latin typeface="Courier New" panose="02070309020205020404" pitchFamily="49" charset="0"/>
                <a:cs typeface="Courier New" panose="02070309020205020404" pitchFamily="49" charset="0"/>
              </a:rPr>
              <a:t>MemberDetails.member_name_indx</a:t>
            </a:r>
            <a:r>
              <a:rPr lang="en-US" dirty="0">
                <a:latin typeface="Courier New" panose="02070309020205020404" pitchFamily="49" charset="0"/>
                <a:cs typeface="Courier New" panose="02070309020205020404" pitchFamily="49" charset="0"/>
              </a:rPr>
              <a:t>;</a:t>
            </a:r>
          </a:p>
          <a:p>
            <a:endParaRPr lang="en-US" dirty="0">
              <a:cs typeface="Courier New" panose="02070309020205020404" pitchFamily="49" charset="0"/>
            </a:endParaRPr>
          </a:p>
          <a:p>
            <a:r>
              <a:rPr lang="en-US" dirty="0">
                <a:cs typeface="Courier New" panose="02070309020205020404" pitchFamily="49" charset="0"/>
              </a:rPr>
              <a:t>In IBM DB2 and Oracle, the DROP INDEX statement simply requires the index name without the table name prefixed:</a:t>
            </a:r>
          </a:p>
          <a:p>
            <a:pPr marL="0" indent="0">
              <a:buNone/>
            </a:pPr>
            <a:r>
              <a:rPr lang="en-US" dirty="0">
                <a:latin typeface="Courier New" panose="02070309020205020404" pitchFamily="49" charset="0"/>
                <a:cs typeface="Courier New" panose="02070309020205020404" pitchFamily="49" charset="0"/>
              </a:rPr>
              <a:t>DROP INDEX </a:t>
            </a:r>
            <a:r>
              <a:rPr lang="en-US" dirty="0" err="1">
                <a:latin typeface="Courier New" panose="02070309020205020404" pitchFamily="49" charset="0"/>
                <a:cs typeface="Courier New" panose="02070309020205020404" pitchFamily="49" charset="0"/>
              </a:rPr>
              <a:t>member_name_indx</a:t>
            </a:r>
            <a:r>
              <a:rPr lang="en-US" dirty="0">
                <a:latin typeface="Courier New" panose="02070309020205020404" pitchFamily="49" charset="0"/>
                <a:cs typeface="Courier New" panose="02070309020205020404" pitchFamily="49" charset="0"/>
              </a:rPr>
              <a:t>;</a:t>
            </a:r>
          </a:p>
          <a:p>
            <a:endParaRPr lang="en-US" dirty="0">
              <a:cs typeface="Courier New" panose="02070309020205020404" pitchFamily="49" charset="0"/>
            </a:endParaRPr>
          </a:p>
          <a:p>
            <a:r>
              <a:rPr lang="en-US" dirty="0">
                <a:cs typeface="Courier New" panose="02070309020205020404" pitchFamily="49" charset="0"/>
              </a:rPr>
              <a:t>In MySQL, the code to drop the index is as follows:</a:t>
            </a:r>
          </a:p>
          <a:p>
            <a:pPr marL="0" indent="0">
              <a:buNone/>
            </a:pPr>
            <a:r>
              <a:rPr lang="en-US" dirty="0">
                <a:latin typeface="Courier New" panose="02070309020205020404" pitchFamily="49" charset="0"/>
                <a:cs typeface="Courier New" panose="02070309020205020404" pitchFamily="49" charset="0"/>
              </a:rPr>
              <a:t>ALTER TABLE </a:t>
            </a:r>
            <a:r>
              <a:rPr lang="en-US" dirty="0" err="1">
                <a:latin typeface="Courier New" panose="02070309020205020404" pitchFamily="49" charset="0"/>
                <a:cs typeface="Courier New" panose="02070309020205020404" pitchFamily="49" charset="0"/>
              </a:rPr>
              <a:t>MemberDetails</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DROP INDEX </a:t>
            </a:r>
            <a:r>
              <a:rPr lang="en-US" dirty="0" err="1">
                <a:latin typeface="Courier New" panose="02070309020205020404" pitchFamily="49" charset="0"/>
                <a:cs typeface="Courier New" panose="02070309020205020404" pitchFamily="49" charset="0"/>
              </a:rPr>
              <a:t>member_name_indx</a:t>
            </a:r>
            <a:r>
              <a:rPr lang="en-US" dirty="0">
                <a:latin typeface="Courier New" panose="02070309020205020404" pitchFamily="49" charset="0"/>
                <a:cs typeface="Courier New" panose="02070309020205020404" pitchFamily="49" charset="0"/>
              </a:rPr>
              <a:t>;</a:t>
            </a:r>
          </a:p>
          <a:p>
            <a:endParaRPr lang="en-US" dirty="0">
              <a:cs typeface="Courier New" panose="02070309020205020404" pitchFamily="49" charset="0"/>
            </a:endParaRPr>
          </a:p>
          <a:p>
            <a:r>
              <a:rPr lang="en-US" dirty="0">
                <a:cs typeface="Courier New" panose="02070309020205020404" pitchFamily="49" charset="0"/>
              </a:rPr>
              <a:t>MS Access has yet another way of dropping the index:</a:t>
            </a:r>
          </a:p>
          <a:p>
            <a:pPr marL="0" indent="0">
              <a:buNone/>
            </a:pPr>
            <a:r>
              <a:rPr lang="en-US" dirty="0">
                <a:latin typeface="Courier New" panose="02070309020205020404" pitchFamily="49" charset="0"/>
                <a:cs typeface="Courier New" panose="02070309020205020404" pitchFamily="49" charset="0"/>
              </a:rPr>
              <a:t>DROP INDEX </a:t>
            </a:r>
            <a:r>
              <a:rPr lang="en-US" dirty="0" err="1">
                <a:latin typeface="Courier New" panose="02070309020205020404" pitchFamily="49" charset="0"/>
                <a:cs typeface="Courier New" panose="02070309020205020404" pitchFamily="49" charset="0"/>
              </a:rPr>
              <a:t>member_name_indx</a:t>
            </a:r>
            <a:r>
              <a:rPr lang="en-US" dirty="0">
                <a:latin typeface="Courier New" panose="02070309020205020404" pitchFamily="49" charset="0"/>
                <a:cs typeface="Courier New" panose="02070309020205020404" pitchFamily="49" charset="0"/>
              </a:rPr>
              <a:t> ON </a:t>
            </a:r>
            <a:r>
              <a:rPr lang="en-US" dirty="0" err="1">
                <a:latin typeface="Courier New" panose="02070309020205020404" pitchFamily="49" charset="0"/>
                <a:cs typeface="Courier New" panose="02070309020205020404" pitchFamily="49" charset="0"/>
              </a:rPr>
              <a:t>MemberDetails</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16035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1347</TotalTime>
  <Words>1959</Words>
  <Application>Microsoft Office PowerPoint</Application>
  <PresentationFormat>Widescreen</PresentationFormat>
  <Paragraphs>206</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Corbel</vt:lpstr>
      <vt:lpstr>Courier New</vt:lpstr>
      <vt:lpstr>Parallax</vt:lpstr>
      <vt:lpstr>Database Systems 2</vt:lpstr>
      <vt:lpstr>Database II - Lecture 2  Data Definition Language (DDL)</vt:lpstr>
      <vt:lpstr>Introduction</vt:lpstr>
      <vt:lpstr>Creating a Database</vt:lpstr>
      <vt:lpstr>Data types in SQL</vt:lpstr>
      <vt:lpstr>Data types in SQL - STRING</vt:lpstr>
      <vt:lpstr>Other data types in SQL</vt:lpstr>
      <vt:lpstr>Creating, Altering, and Deleting Tables Creating Tables</vt:lpstr>
      <vt:lpstr>An example for creating a table</vt:lpstr>
      <vt:lpstr>ALTER Tables</vt:lpstr>
      <vt:lpstr> Deleting an Existing Table</vt:lpstr>
      <vt:lpstr>Ensuring Data Validity with Constraints</vt:lpstr>
      <vt:lpstr>NOT NULL Constraint</vt:lpstr>
      <vt:lpstr>UNIQUE Constraint</vt:lpstr>
      <vt:lpstr>UNIQUE Constraint (cont.)</vt:lpstr>
      <vt:lpstr>UNIQUE Constraint (cont.)</vt:lpstr>
      <vt:lpstr>UNIQUE Constraint (cont.)</vt:lpstr>
      <vt:lpstr>UNIQUE Constraint (cont.)</vt:lpstr>
      <vt:lpstr>UNIQUE Constraint (cont.)</vt:lpstr>
      <vt:lpstr>CHECK Constraint</vt:lpstr>
      <vt:lpstr>CHECK Constraint (cont.)</vt:lpstr>
      <vt:lpstr>Primary Key and PRIMARY KEY Constraint</vt:lpstr>
      <vt:lpstr>Primary Key and PRIMARY KEY Constraint  (cont.)</vt:lpstr>
      <vt:lpstr>Foreign Key</vt:lpstr>
      <vt:lpstr>Foreign Key Example</vt:lpstr>
      <vt:lpstr>Speeding Up Results with Indexes</vt:lpstr>
      <vt:lpstr>Speeding Up Results with Indexes (cont.)</vt:lpstr>
      <vt:lpstr>Indexes Examples</vt:lpstr>
      <vt:lpstr>Drop Indexes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133</cp:revision>
  <dcterms:created xsi:type="dcterms:W3CDTF">2020-02-18T05:03:49Z</dcterms:created>
  <dcterms:modified xsi:type="dcterms:W3CDTF">2021-05-22T05:26:19Z</dcterms:modified>
</cp:coreProperties>
</file>