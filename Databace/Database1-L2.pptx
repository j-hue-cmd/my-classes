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60" r:id="rId3"/>
    <p:sldId id="262" r:id="rId4"/>
    <p:sldId id="263" r:id="rId5"/>
    <p:sldId id="264" r:id="rId6"/>
    <p:sldId id="265" r:id="rId7"/>
    <p:sldId id="266" r:id="rId8"/>
    <p:sldId id="268" r:id="rId9"/>
    <p:sldId id="270" r:id="rId10"/>
    <p:sldId id="269"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38" autoAdjust="0"/>
  </p:normalViewPr>
  <p:slideViewPr>
    <p:cSldViewPr snapToGrid="0">
      <p:cViewPr varScale="1">
        <p:scale>
          <a:sx n="86" d="100"/>
          <a:sy n="86"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AU" dirty="0"/>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5" name="Footer Placeholder 4"/>
          <p:cNvSpPr>
            <a:spLocks noGrp="1"/>
          </p:cNvSpPr>
          <p:nvPr>
            <p:ph type="ftr" sz="quarter" idx="11"/>
          </p:nvPr>
        </p:nvSpPr>
        <p:spPr>
          <a:xfrm>
            <a:off x="5332412" y="5883275"/>
            <a:ext cx="4324044" cy="365125"/>
          </a:xfrm>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28453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a:xfrm>
            <a:off x="10951856" y="5867131"/>
            <a:ext cx="551167" cy="365125"/>
          </a:xfrm>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893890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93213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2054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784649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418546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8635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66940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3608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069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677619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2352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60458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23604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95815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83560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19/12/2020</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28317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3400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2BE6EF5-D501-45B9-BF1D-4F3958A2C023}" type="datetimeFigureOut">
              <a:rPr lang="en-AU" smtClean="0"/>
              <a:t>19/12/2020</a:t>
            </a:fld>
            <a:endParaRPr lang="en-AU"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A86AD4-3B45-4902-8FDB-DE84D31C86CD}" type="slidenum">
              <a:rPr lang="en-AU" smtClean="0"/>
              <a:t>‹#›</a:t>
            </a:fld>
            <a:endParaRPr lang="en-AU" dirty="0"/>
          </a:p>
        </p:txBody>
      </p:sp>
    </p:spTree>
    <p:extLst>
      <p:ext uri="{BB962C8B-B14F-4D97-AF65-F5344CB8AC3E}">
        <p14:creationId xmlns:p14="http://schemas.microsoft.com/office/powerpoint/2010/main" val="298609944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B6A14-583D-428B-BCEA-39BC26517A96}"/>
              </a:ext>
            </a:extLst>
          </p:cNvPr>
          <p:cNvSpPr>
            <a:spLocks noGrp="1"/>
          </p:cNvSpPr>
          <p:nvPr>
            <p:ph type="ctrTitle"/>
          </p:nvPr>
        </p:nvSpPr>
        <p:spPr>
          <a:xfrm>
            <a:off x="2820918" y="0"/>
            <a:ext cx="8574622" cy="2616199"/>
          </a:xfrm>
        </p:spPr>
        <p:txBody>
          <a:bodyPr/>
          <a:lstStyle/>
          <a:p>
            <a:pPr algn="ctr"/>
            <a:r>
              <a:rPr lang="en-AU" dirty="0"/>
              <a:t>Database Systems I</a:t>
            </a:r>
          </a:p>
        </p:txBody>
      </p:sp>
      <p:sp>
        <p:nvSpPr>
          <p:cNvPr id="3" name="Subtitle 2">
            <a:extLst>
              <a:ext uri="{FF2B5EF4-FFF2-40B4-BE49-F238E27FC236}">
                <a16:creationId xmlns:a16="http://schemas.microsoft.com/office/drawing/2014/main" id="{E9053E97-050B-432A-8023-71AA641A2B49}"/>
              </a:ext>
            </a:extLst>
          </p:cNvPr>
          <p:cNvSpPr>
            <a:spLocks noGrp="1"/>
          </p:cNvSpPr>
          <p:nvPr>
            <p:ph type="subTitle" idx="1"/>
          </p:nvPr>
        </p:nvSpPr>
        <p:spPr>
          <a:xfrm>
            <a:off x="4138863" y="2782682"/>
            <a:ext cx="6481012" cy="3842708"/>
          </a:xfrm>
        </p:spPr>
        <p:txBody>
          <a:bodyPr>
            <a:normAutofit/>
          </a:bodyPr>
          <a:lstStyle/>
          <a:p>
            <a:pPr algn="ctr"/>
            <a:r>
              <a:rPr lang="en-US" b="1" dirty="0"/>
              <a:t>Dr. Rasool Hisham</a:t>
            </a:r>
          </a:p>
          <a:p>
            <a:pPr algn="ctr"/>
            <a:r>
              <a:rPr lang="en-US" b="1" dirty="0"/>
              <a:t>For 3</a:t>
            </a:r>
            <a:r>
              <a:rPr lang="en-US" b="1" baseline="30000" dirty="0"/>
              <a:t>rd</a:t>
            </a:r>
            <a:r>
              <a:rPr lang="en-US" b="1" dirty="0"/>
              <a:t> year students, 1</a:t>
            </a:r>
            <a:r>
              <a:rPr lang="en-US" b="1" baseline="30000" dirty="0"/>
              <a:t>st</a:t>
            </a:r>
            <a:r>
              <a:rPr lang="en-US" b="1" dirty="0"/>
              <a:t> semester</a:t>
            </a:r>
          </a:p>
          <a:p>
            <a:pPr algn="l"/>
            <a:endParaRPr lang="en-US" b="1" dirty="0"/>
          </a:p>
          <a:p>
            <a:pPr algn="l"/>
            <a:r>
              <a:rPr lang="en-US" b="1" dirty="0"/>
              <a:t>Al-</a:t>
            </a:r>
            <a:r>
              <a:rPr lang="en-US" b="1" dirty="0" err="1"/>
              <a:t>Nahrain</a:t>
            </a:r>
            <a:r>
              <a:rPr lang="en-US" b="1" dirty="0"/>
              <a:t> University</a:t>
            </a:r>
          </a:p>
          <a:p>
            <a:pPr algn="l"/>
            <a:r>
              <a:rPr lang="en-US" b="1" dirty="0"/>
              <a:t>College of Science</a:t>
            </a:r>
          </a:p>
          <a:p>
            <a:pPr algn="l"/>
            <a:r>
              <a:rPr lang="en-US" b="1" dirty="0"/>
              <a:t>Computer Science Department</a:t>
            </a:r>
          </a:p>
        </p:txBody>
      </p:sp>
    </p:spTree>
    <p:extLst>
      <p:ext uri="{BB962C8B-B14F-4D97-AF65-F5344CB8AC3E}">
        <p14:creationId xmlns:p14="http://schemas.microsoft.com/office/powerpoint/2010/main" val="256319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DBMS Approach</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485999"/>
            <a:ext cx="9877894" cy="1752599"/>
          </a:xfrm>
        </p:spPr>
        <p:txBody>
          <a:bodyPr>
            <a:normAutofit/>
          </a:bodyPr>
          <a:lstStyle/>
          <a:p>
            <a:r>
              <a:rPr lang="en-US" dirty="0"/>
              <a:t>DBMS is software that provides a set of primitives for defining, accessing, and manipulating data. </a:t>
            </a:r>
          </a:p>
          <a:p>
            <a:r>
              <a:rPr lang="en-US" dirty="0"/>
              <a:t>In DBMS approach, the same data are being shared by different application programs; DBMS approach of data access is shown in Fig. (3). </a:t>
            </a:r>
          </a:p>
        </p:txBody>
      </p:sp>
      <p:pic>
        <p:nvPicPr>
          <p:cNvPr id="1026" name="Picture 2">
            <a:extLst>
              <a:ext uri="{FF2B5EF4-FFF2-40B4-BE49-F238E27FC236}">
                <a16:creationId xmlns:a16="http://schemas.microsoft.com/office/drawing/2014/main" id="{FA60DDBB-CA73-4ADC-AB02-2ECAC695C4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6089" y="3238598"/>
            <a:ext cx="7093123" cy="317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6032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338640"/>
            <a:ext cx="10018713" cy="1752599"/>
          </a:xfrm>
        </p:spPr>
        <p:txBody>
          <a:bodyPr/>
          <a:lstStyle/>
          <a:p>
            <a:r>
              <a:rPr lang="en-US" dirty="0"/>
              <a:t>Advantages of DBMS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1774757"/>
            <a:ext cx="10082881" cy="4369369"/>
          </a:xfrm>
        </p:spPr>
        <p:txBody>
          <a:bodyPr>
            <a:normAutofit/>
          </a:bodyPr>
          <a:lstStyle/>
          <a:p>
            <a:r>
              <a:rPr lang="en-US" sz="2800" dirty="0"/>
              <a:t>There are many advantages of database management system. Some of the advantages are listed later:</a:t>
            </a:r>
          </a:p>
          <a:p>
            <a:pPr marL="914400" lvl="1" indent="-457200">
              <a:buFont typeface="+mj-lt"/>
              <a:buAutoNum type="arabicPeriod"/>
            </a:pPr>
            <a:r>
              <a:rPr lang="en-US" sz="2400" dirty="0"/>
              <a:t>Centralized data management.</a:t>
            </a:r>
          </a:p>
          <a:p>
            <a:pPr marL="914400" lvl="1" indent="-457200">
              <a:buFont typeface="+mj-lt"/>
              <a:buAutoNum type="arabicPeriod"/>
            </a:pPr>
            <a:r>
              <a:rPr lang="en-US" sz="2400" dirty="0"/>
              <a:t>Data Independence.</a:t>
            </a:r>
          </a:p>
          <a:p>
            <a:pPr marL="914400" lvl="1" indent="-457200">
              <a:buFont typeface="+mj-lt"/>
              <a:buAutoNum type="arabicPeriod"/>
            </a:pPr>
            <a:r>
              <a:rPr lang="en-US" sz="2400" dirty="0"/>
              <a:t>Data Consistency.</a:t>
            </a:r>
          </a:p>
          <a:p>
            <a:endParaRPr lang="en-US" sz="2800" dirty="0"/>
          </a:p>
        </p:txBody>
      </p:sp>
    </p:spTree>
    <p:extLst>
      <p:ext uri="{BB962C8B-B14F-4D97-AF65-F5344CB8AC3E}">
        <p14:creationId xmlns:p14="http://schemas.microsoft.com/office/powerpoint/2010/main" val="2106351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67768" y="776138"/>
            <a:ext cx="10018713" cy="1752599"/>
          </a:xfrm>
        </p:spPr>
        <p:txBody>
          <a:bodyPr/>
          <a:lstStyle/>
          <a:p>
            <a:r>
              <a:rPr lang="en-US" dirty="0"/>
              <a:t>Centralized Data Management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2063515"/>
            <a:ext cx="9877894" cy="3804625"/>
          </a:xfrm>
        </p:spPr>
        <p:txBody>
          <a:bodyPr>
            <a:normAutofit/>
          </a:bodyPr>
          <a:lstStyle/>
          <a:p>
            <a:r>
              <a:rPr lang="en-US" dirty="0"/>
              <a:t>In DBMS all files are integrated into one system thus reducing redundancies and making data management more efficient. </a:t>
            </a:r>
          </a:p>
        </p:txBody>
      </p:sp>
    </p:spTree>
    <p:extLst>
      <p:ext uri="{BB962C8B-B14F-4D97-AF65-F5344CB8AC3E}">
        <p14:creationId xmlns:p14="http://schemas.microsoft.com/office/powerpoint/2010/main" val="2202915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 Independence</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fontScale="92500"/>
          </a:bodyPr>
          <a:lstStyle/>
          <a:p>
            <a:r>
              <a:rPr lang="en-US" dirty="0"/>
              <a:t>Data independence means that programs are isolated from changes in the way the data are structured and stored. </a:t>
            </a:r>
          </a:p>
          <a:p>
            <a:r>
              <a:rPr lang="en-US" dirty="0"/>
              <a:t>In a database system, the database management system provides the interface between the application programs and the data.</a:t>
            </a:r>
          </a:p>
          <a:p>
            <a:r>
              <a:rPr lang="en-US" dirty="0"/>
              <a:t> Data independence is the immunity of application programs to changes in storage structures and access techniques.</a:t>
            </a:r>
          </a:p>
          <a:p>
            <a:r>
              <a:rPr lang="en-US" b="1" dirty="0"/>
              <a:t>Physical data independence </a:t>
            </a:r>
            <a:r>
              <a:rPr lang="en-US" dirty="0"/>
              <a:t>is the ability to modify physical schema without causing the conceptual schema or application programs to be rewritten.</a:t>
            </a:r>
          </a:p>
          <a:p>
            <a:r>
              <a:rPr lang="en-US" dirty="0"/>
              <a:t> </a:t>
            </a:r>
            <a:r>
              <a:rPr lang="en-US" b="1" dirty="0"/>
              <a:t>Logical data independence </a:t>
            </a:r>
            <a:r>
              <a:rPr lang="en-US" dirty="0"/>
              <a:t>is the ability to modify the conceptual schema without having to change the external schemas or application programs.</a:t>
            </a:r>
          </a:p>
          <a:p>
            <a:endParaRPr lang="en-US" dirty="0"/>
          </a:p>
        </p:txBody>
      </p:sp>
    </p:spTree>
    <p:extLst>
      <p:ext uri="{BB962C8B-B14F-4D97-AF65-F5344CB8AC3E}">
        <p14:creationId xmlns:p14="http://schemas.microsoft.com/office/powerpoint/2010/main" val="4086604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 Consistency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a:bodyPr>
          <a:lstStyle/>
          <a:p>
            <a:r>
              <a:rPr lang="en-US" dirty="0"/>
              <a:t>Data </a:t>
            </a:r>
            <a:r>
              <a:rPr lang="en-US" dirty="0">
                <a:solidFill>
                  <a:srgbClr val="FF0000"/>
                </a:solidFill>
              </a:rPr>
              <a:t>in</a:t>
            </a:r>
            <a:r>
              <a:rPr lang="en-US" dirty="0">
                <a:solidFill>
                  <a:schemeClr val="accent6">
                    <a:lumMod val="50000"/>
                  </a:schemeClr>
                </a:solidFill>
              </a:rPr>
              <a:t>consistency</a:t>
            </a:r>
            <a:r>
              <a:rPr lang="en-US" dirty="0"/>
              <a:t> means different copies of the same data will have different values. </a:t>
            </a:r>
          </a:p>
          <a:p>
            <a:r>
              <a:rPr lang="en-US" dirty="0"/>
              <a:t>For example, consider a person working in a branch of an organization. The details of the person should be stored and maintained both in the branch office as well as in the main office in order to ensure data consistency. </a:t>
            </a:r>
          </a:p>
        </p:txBody>
      </p:sp>
    </p:spTree>
    <p:extLst>
      <p:ext uri="{BB962C8B-B14F-4D97-AF65-F5344CB8AC3E}">
        <p14:creationId xmlns:p14="http://schemas.microsoft.com/office/powerpoint/2010/main" val="3673641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Some of the qualities achieved in DBMS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216242"/>
            <a:ext cx="10399652" cy="5216642"/>
          </a:xfrm>
        </p:spPr>
        <p:txBody>
          <a:bodyPr>
            <a:normAutofit/>
          </a:bodyPr>
          <a:lstStyle/>
          <a:p>
            <a:pPr marL="457200" indent="-457200">
              <a:buFont typeface="+mj-lt"/>
              <a:buAutoNum type="arabicPeriod"/>
            </a:pPr>
            <a:r>
              <a:rPr lang="en-US" dirty="0"/>
              <a:t>Data redundancy </a:t>
            </a:r>
            <a:r>
              <a:rPr lang="en-US" dirty="0">
                <a:sym typeface="Wingdings" panose="05000000000000000000" pitchFamily="2" charset="2"/>
              </a:rPr>
              <a:t></a:t>
            </a:r>
            <a:r>
              <a:rPr lang="en-US" dirty="0"/>
              <a:t> Reduced in DBMS</a:t>
            </a:r>
          </a:p>
          <a:p>
            <a:pPr marL="457200" indent="-457200">
              <a:buFont typeface="+mj-lt"/>
              <a:buAutoNum type="arabicPeriod"/>
            </a:pPr>
            <a:r>
              <a:rPr lang="en-US" dirty="0"/>
              <a:t>Data independence </a:t>
            </a:r>
            <a:r>
              <a:rPr lang="en-US" dirty="0">
                <a:sym typeface="Wingdings" panose="05000000000000000000" pitchFamily="2" charset="2"/>
              </a:rPr>
              <a:t></a:t>
            </a:r>
            <a:r>
              <a:rPr lang="en-US" dirty="0"/>
              <a:t> Activated in DBMS.</a:t>
            </a:r>
          </a:p>
          <a:p>
            <a:pPr marL="457200" indent="-457200">
              <a:buFont typeface="+mj-lt"/>
              <a:buAutoNum type="arabicPeriod"/>
            </a:pPr>
            <a:r>
              <a:rPr lang="en-US" dirty="0"/>
              <a:t>Data inconsistency </a:t>
            </a:r>
            <a:r>
              <a:rPr lang="en-US" dirty="0">
                <a:sym typeface="Wingdings" panose="05000000000000000000" pitchFamily="2" charset="2"/>
              </a:rPr>
              <a:t> </a:t>
            </a:r>
            <a:r>
              <a:rPr lang="en-US" dirty="0"/>
              <a:t>Avoided in DBMS.</a:t>
            </a:r>
          </a:p>
          <a:p>
            <a:pPr marL="457200" indent="-457200">
              <a:buFont typeface="+mj-lt"/>
              <a:buAutoNum type="arabicPeriod"/>
            </a:pPr>
            <a:r>
              <a:rPr lang="en-US" dirty="0"/>
              <a:t> Centralizing the data </a:t>
            </a:r>
            <a:r>
              <a:rPr lang="en-US" dirty="0">
                <a:sym typeface="Wingdings" panose="05000000000000000000" pitchFamily="2" charset="2"/>
              </a:rPr>
              <a:t></a:t>
            </a:r>
            <a:r>
              <a:rPr lang="en-US" dirty="0"/>
              <a:t> Achieved in DBMS.</a:t>
            </a:r>
          </a:p>
          <a:p>
            <a:pPr marL="457200" indent="-457200">
              <a:buFont typeface="+mj-lt"/>
              <a:buAutoNum type="arabicPeriod"/>
            </a:pPr>
            <a:r>
              <a:rPr lang="en-US" dirty="0"/>
              <a:t> Data integrity </a:t>
            </a:r>
            <a:r>
              <a:rPr lang="en-US" dirty="0">
                <a:sym typeface="Wingdings" panose="05000000000000000000" pitchFamily="2" charset="2"/>
              </a:rPr>
              <a:t></a:t>
            </a:r>
            <a:r>
              <a:rPr lang="en-US" dirty="0"/>
              <a:t> Necessary for efficient Transaction.</a:t>
            </a:r>
          </a:p>
          <a:p>
            <a:pPr marL="457200" indent="-457200">
              <a:buFont typeface="+mj-lt"/>
              <a:buAutoNum type="arabicPeriod"/>
            </a:pPr>
            <a:r>
              <a:rPr lang="en-US" dirty="0"/>
              <a:t> Support for multiple views </a:t>
            </a:r>
            <a:r>
              <a:rPr lang="en-US" dirty="0">
                <a:sym typeface="Wingdings" panose="05000000000000000000" pitchFamily="2" charset="2"/>
              </a:rPr>
              <a:t></a:t>
            </a:r>
            <a:r>
              <a:rPr lang="en-US" dirty="0"/>
              <a:t> Necessary for security reasons.</a:t>
            </a:r>
          </a:p>
          <a:p>
            <a:pPr marL="457200" indent="-457200">
              <a:buFont typeface="+mj-lt"/>
              <a:buAutoNum type="arabicPeriod"/>
            </a:pPr>
            <a:endParaRPr lang="en-US" dirty="0"/>
          </a:p>
        </p:txBody>
      </p:sp>
    </p:spTree>
    <p:extLst>
      <p:ext uri="{BB962C8B-B14F-4D97-AF65-F5344CB8AC3E}">
        <p14:creationId xmlns:p14="http://schemas.microsoft.com/office/powerpoint/2010/main" val="1934847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13559"/>
            <a:ext cx="10588123" cy="1752599"/>
          </a:xfrm>
        </p:spPr>
        <p:txBody>
          <a:bodyPr/>
          <a:lstStyle/>
          <a:p>
            <a:r>
              <a:rPr lang="en-US" dirty="0"/>
              <a:t>Some of the qualities achieved in DBMS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fontScale="85000" lnSpcReduction="20000"/>
          </a:bodyPr>
          <a:lstStyle/>
          <a:p>
            <a:r>
              <a:rPr lang="en-US" dirty="0"/>
              <a:t>Data redundancy means duplication of data. Data redundancy will occupy more space hence it is not desirable.</a:t>
            </a:r>
          </a:p>
          <a:p>
            <a:r>
              <a:rPr lang="en-US" dirty="0"/>
              <a:t>Data independence means independence between application program and the data. The advantage is that when the data representation changes, it is not necessary to change the application program.</a:t>
            </a:r>
          </a:p>
          <a:p>
            <a:r>
              <a:rPr lang="en-US" dirty="0"/>
              <a:t>Data inconsistency means different copies of the same data will have different values.</a:t>
            </a:r>
          </a:p>
          <a:p>
            <a:r>
              <a:rPr lang="en-US" dirty="0"/>
              <a:t>Centralizing the data means data can be easily shared between the users </a:t>
            </a:r>
            <a:r>
              <a:rPr lang="en-US" i="1" dirty="0"/>
              <a:t>but the main concern is data security.</a:t>
            </a:r>
          </a:p>
          <a:p>
            <a:r>
              <a:rPr lang="en-US" dirty="0"/>
              <a:t>The main threat to data integrity comes from several different users attempting to update the same data at the same time. For example, The number of booking made is larger than the capacity of the aircraft/train.</a:t>
            </a:r>
          </a:p>
          <a:p>
            <a:r>
              <a:rPr lang="en-US" dirty="0"/>
              <a:t>Support for multiple views means DBMS allows different users to see different views of the database, according to the perspective each one requires. This concept is used to enhance the security of the database.</a:t>
            </a:r>
          </a:p>
        </p:txBody>
      </p:sp>
    </p:spTree>
    <p:extLst>
      <p:ext uri="{BB962C8B-B14F-4D97-AF65-F5344CB8AC3E}">
        <p14:creationId xmlns:p14="http://schemas.microsoft.com/office/powerpoint/2010/main" val="3279088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ANSI/Spark Data Model</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a:bodyPr>
          <a:lstStyle/>
          <a:p>
            <a:r>
              <a:rPr lang="en-US" dirty="0"/>
              <a:t>The distinction between the logical and physical representation of data were recognized in 1978 when ANSI/SPARK committee proposed a generalized framework for database systems.</a:t>
            </a:r>
          </a:p>
          <a:p>
            <a:r>
              <a:rPr lang="en-US" dirty="0"/>
              <a:t> This framework provided a three-level architecture, three levels of abstraction at which the database could be viewed. </a:t>
            </a:r>
          </a:p>
        </p:txBody>
      </p:sp>
    </p:spTree>
    <p:extLst>
      <p:ext uri="{BB962C8B-B14F-4D97-AF65-F5344CB8AC3E}">
        <p14:creationId xmlns:p14="http://schemas.microsoft.com/office/powerpoint/2010/main" val="203488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Need for Abstraction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491450"/>
            <a:ext cx="9813726" cy="4971494"/>
          </a:xfrm>
        </p:spPr>
        <p:txBody>
          <a:bodyPr>
            <a:normAutofit/>
          </a:bodyPr>
          <a:lstStyle/>
          <a:p>
            <a:r>
              <a:rPr lang="en-US" dirty="0"/>
              <a:t>The main objective of DBMS is to store and retrieve information efficiently; all the users should be able to access same data.</a:t>
            </a:r>
          </a:p>
          <a:p>
            <a:r>
              <a:rPr lang="en-US" dirty="0"/>
              <a:t> The designers use complex data structure to represent the data, so that data can be efficiently stored and retrieved, but it is not necessary for the users to know physical database storage details.</a:t>
            </a:r>
          </a:p>
          <a:p>
            <a:r>
              <a:rPr lang="en-US" dirty="0"/>
              <a:t> The developers hide the complexity from users through several levels of abstraction.</a:t>
            </a:r>
          </a:p>
          <a:p>
            <a:r>
              <a:rPr lang="en-US" dirty="0"/>
              <a:t>Data independence means the internal structure of database should be unaffected by changes to physical aspects of storage. Because of data independence, the Database administrator can change the database storage structures without affecting the users view.</a:t>
            </a:r>
          </a:p>
        </p:txBody>
      </p:sp>
    </p:spTree>
    <p:extLst>
      <p:ext uri="{BB962C8B-B14F-4D97-AF65-F5344CB8AC3E}">
        <p14:creationId xmlns:p14="http://schemas.microsoft.com/office/powerpoint/2010/main" val="2366025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The three levels of data abstraction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423738"/>
            <a:ext cx="9813726" cy="1752599"/>
          </a:xfrm>
        </p:spPr>
        <p:txBody>
          <a:bodyPr>
            <a:normAutofit/>
          </a:bodyPr>
          <a:lstStyle/>
          <a:p>
            <a:r>
              <a:rPr lang="en-US" dirty="0"/>
              <a:t>1. Physical level or internal level </a:t>
            </a:r>
          </a:p>
          <a:p>
            <a:r>
              <a:rPr lang="en-US" dirty="0"/>
              <a:t>2. Logical level or conceptual level</a:t>
            </a:r>
          </a:p>
          <a:p>
            <a:r>
              <a:rPr lang="en-US" dirty="0"/>
              <a:t>3. View level or external level </a:t>
            </a:r>
          </a:p>
        </p:txBody>
      </p:sp>
      <p:pic>
        <p:nvPicPr>
          <p:cNvPr id="2050" name="Picture 2">
            <a:extLst>
              <a:ext uri="{FF2B5EF4-FFF2-40B4-BE49-F238E27FC236}">
                <a16:creationId xmlns:a16="http://schemas.microsoft.com/office/drawing/2014/main" id="{C5D84963-F314-4383-B725-7A26E0EE6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974" y="3303023"/>
            <a:ext cx="5600700"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2183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Physical Level</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929429" y="1887053"/>
            <a:ext cx="9813726" cy="3463921"/>
          </a:xfrm>
        </p:spPr>
        <p:txBody>
          <a:bodyPr>
            <a:normAutofit/>
          </a:bodyPr>
          <a:lstStyle/>
          <a:p>
            <a:r>
              <a:rPr lang="en-US" dirty="0"/>
              <a:t>It is concerned with the physical storage of the information. </a:t>
            </a:r>
            <a:endParaRPr lang="ar-IQ" dirty="0"/>
          </a:p>
          <a:p>
            <a:r>
              <a:rPr lang="en-US" dirty="0"/>
              <a:t>It provides the internal view of the actual physical storage of data.</a:t>
            </a:r>
          </a:p>
          <a:p>
            <a:r>
              <a:rPr lang="en-US" dirty="0"/>
              <a:t> The physical level describes complex low-level data structures in detail. </a:t>
            </a:r>
          </a:p>
        </p:txBody>
      </p:sp>
    </p:spTree>
    <p:extLst>
      <p:ext uri="{BB962C8B-B14F-4D97-AF65-F5344CB8AC3E}">
        <p14:creationId xmlns:p14="http://schemas.microsoft.com/office/powerpoint/2010/main" val="1071761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Logical Level</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t>Logical level describes what data are stored in the database and what relationships exist among those data. </a:t>
            </a:r>
          </a:p>
          <a:p>
            <a:r>
              <a:rPr lang="en-US" dirty="0"/>
              <a:t>Logical level describes the entire database in terms of a small number of simple structures. </a:t>
            </a:r>
          </a:p>
          <a:p>
            <a:r>
              <a:rPr lang="en-US" dirty="0"/>
              <a:t>The implementation of simple structure of the logical level may involve complex physical level structures; the user of the logical level does not need to be aware of this complexity. </a:t>
            </a:r>
          </a:p>
          <a:p>
            <a:r>
              <a:rPr lang="en-US" dirty="0"/>
              <a:t>Database administrator use the logical level of abstraction. </a:t>
            </a:r>
          </a:p>
        </p:txBody>
      </p:sp>
    </p:spTree>
    <p:extLst>
      <p:ext uri="{BB962C8B-B14F-4D97-AF65-F5344CB8AC3E}">
        <p14:creationId xmlns:p14="http://schemas.microsoft.com/office/powerpoint/2010/main" val="2905332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View Level</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887053"/>
            <a:ext cx="9813726" cy="3497179"/>
          </a:xfrm>
        </p:spPr>
        <p:txBody>
          <a:bodyPr>
            <a:normAutofit/>
          </a:bodyPr>
          <a:lstStyle/>
          <a:p>
            <a:r>
              <a:rPr lang="en-US" dirty="0"/>
              <a:t>View level is the highest level of abstraction.</a:t>
            </a:r>
          </a:p>
          <a:p>
            <a:r>
              <a:rPr lang="en-US" dirty="0"/>
              <a:t> It is the view that the individual user of the database has. </a:t>
            </a:r>
          </a:p>
          <a:p>
            <a:r>
              <a:rPr lang="en-US" dirty="0"/>
              <a:t>There can be many view level abstractions of the same data. </a:t>
            </a:r>
          </a:p>
        </p:txBody>
      </p:sp>
    </p:spTree>
    <p:extLst>
      <p:ext uri="{BB962C8B-B14F-4D97-AF65-F5344CB8AC3E}">
        <p14:creationId xmlns:p14="http://schemas.microsoft.com/office/powerpoint/2010/main" val="3674282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Database Instances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77453"/>
            <a:ext cx="9813726" cy="3497179"/>
          </a:xfrm>
        </p:spPr>
        <p:txBody>
          <a:bodyPr>
            <a:normAutofit/>
          </a:bodyPr>
          <a:lstStyle/>
          <a:p>
            <a:r>
              <a:rPr lang="en-US" dirty="0"/>
              <a:t>Database change over time as information is inserted and deleted. </a:t>
            </a:r>
          </a:p>
          <a:p>
            <a:r>
              <a:rPr lang="en-US" i="1" dirty="0"/>
              <a:t>The collection of information stored in the database at a particular moment is called an instance of the database</a:t>
            </a:r>
            <a:r>
              <a:rPr lang="en-US" dirty="0"/>
              <a:t>. </a:t>
            </a:r>
          </a:p>
        </p:txBody>
      </p:sp>
    </p:spTree>
    <p:extLst>
      <p:ext uri="{BB962C8B-B14F-4D97-AF65-F5344CB8AC3E}">
        <p14:creationId xmlns:p14="http://schemas.microsoft.com/office/powerpoint/2010/main" val="1913958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Database Schema</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887053"/>
            <a:ext cx="9813726" cy="3497179"/>
          </a:xfrm>
        </p:spPr>
        <p:txBody>
          <a:bodyPr>
            <a:normAutofit lnSpcReduction="10000"/>
          </a:bodyPr>
          <a:lstStyle/>
          <a:p>
            <a:r>
              <a:rPr lang="en-US" dirty="0"/>
              <a:t>The overall design of the database is called the database schema. </a:t>
            </a:r>
          </a:p>
          <a:p>
            <a:r>
              <a:rPr lang="en-US" dirty="0"/>
              <a:t>A schema is a collection of named objects.</a:t>
            </a:r>
          </a:p>
          <a:p>
            <a:r>
              <a:rPr lang="en-US" dirty="0"/>
              <a:t> Schemas provide a logical classification of objects in the database.</a:t>
            </a:r>
          </a:p>
          <a:p>
            <a:r>
              <a:rPr lang="en-US" dirty="0"/>
              <a:t> A schema can contain tables, views, triggers, functions, packages, and other objects.</a:t>
            </a:r>
          </a:p>
          <a:p>
            <a:r>
              <a:rPr lang="en-US" dirty="0"/>
              <a:t>A schema is also an object in the database. It is explicitly created using the CREATE SCHEMA statement with the current user recorded as the schema owner.</a:t>
            </a:r>
          </a:p>
        </p:txBody>
      </p:sp>
    </p:spTree>
    <p:extLst>
      <p:ext uri="{BB962C8B-B14F-4D97-AF65-F5344CB8AC3E}">
        <p14:creationId xmlns:p14="http://schemas.microsoft.com/office/powerpoint/2010/main" val="1364871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Database Schema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887053"/>
            <a:ext cx="9813726" cy="3497179"/>
          </a:xfrm>
        </p:spPr>
        <p:txBody>
          <a:bodyPr>
            <a:normAutofit/>
          </a:bodyPr>
          <a:lstStyle/>
          <a:p>
            <a:endParaRPr lang="en-US" dirty="0"/>
          </a:p>
        </p:txBody>
      </p:sp>
      <p:pic>
        <p:nvPicPr>
          <p:cNvPr id="3074" name="Picture 2">
            <a:extLst>
              <a:ext uri="{FF2B5EF4-FFF2-40B4-BE49-F238E27FC236}">
                <a16:creationId xmlns:a16="http://schemas.microsoft.com/office/drawing/2014/main" id="{2D6E43EA-AB06-4F87-8978-BB49B87F87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516" t="2084" r="7202" b="12578"/>
          <a:stretch>
            <a:fillRect/>
          </a:stretch>
        </p:blipFill>
        <p:spPr bwMode="auto">
          <a:xfrm>
            <a:off x="2040473" y="1887053"/>
            <a:ext cx="9001637" cy="365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2867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Components and Interfaces of Database Management System</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2384204"/>
            <a:ext cx="9813726" cy="2586744"/>
          </a:xfrm>
        </p:spPr>
        <p:txBody>
          <a:bodyPr>
            <a:normAutofit/>
          </a:bodyPr>
          <a:lstStyle/>
          <a:p>
            <a:r>
              <a:rPr lang="en-US" dirty="0"/>
              <a:t>A database management system involves five major components: </a:t>
            </a:r>
            <a:r>
              <a:rPr lang="en-US" b="1" dirty="0"/>
              <a:t>data, hardware, software, procedure, and users</a:t>
            </a:r>
            <a:r>
              <a:rPr lang="en-US" dirty="0"/>
              <a:t>.</a:t>
            </a:r>
          </a:p>
          <a:p>
            <a:r>
              <a:rPr lang="en-US" dirty="0"/>
              <a:t> These components and the interface between the components are shown in the next figure.</a:t>
            </a:r>
          </a:p>
        </p:txBody>
      </p:sp>
    </p:spTree>
    <p:extLst>
      <p:ext uri="{BB962C8B-B14F-4D97-AF65-F5344CB8AC3E}">
        <p14:creationId xmlns:p14="http://schemas.microsoft.com/office/powerpoint/2010/main" val="1507299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Components and Interfaces of Database Management System (cont.)</a:t>
            </a:r>
          </a:p>
        </p:txBody>
      </p:sp>
      <p:pic>
        <p:nvPicPr>
          <p:cNvPr id="4098" name="Picture 2">
            <a:extLst>
              <a:ext uri="{FF2B5EF4-FFF2-40B4-BE49-F238E27FC236}">
                <a16:creationId xmlns:a16="http://schemas.microsoft.com/office/drawing/2014/main" id="{954B8FAF-2D6B-4CE4-A212-8C7555964F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6579" y="1512073"/>
            <a:ext cx="5291091" cy="535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a:extLst>
              <a:ext uri="{FF2B5EF4-FFF2-40B4-BE49-F238E27FC236}">
                <a16:creationId xmlns:a16="http://schemas.microsoft.com/office/drawing/2014/main" id="{DC71E125-6360-4F69-9439-150EA68214C1}"/>
              </a:ext>
            </a:extLst>
          </p:cNvPr>
          <p:cNvSpPr>
            <a:spLocks noGrp="1"/>
          </p:cNvSpPr>
          <p:nvPr>
            <p:ph idx="1"/>
          </p:nvPr>
        </p:nvSpPr>
        <p:spPr/>
        <p:txBody>
          <a:bodyPr/>
          <a:lstStyle/>
          <a:p>
            <a:endParaRPr lang="en-AU" dirty="0"/>
          </a:p>
        </p:txBody>
      </p:sp>
    </p:spTree>
    <p:extLst>
      <p:ext uri="{BB962C8B-B14F-4D97-AF65-F5344CB8AC3E}">
        <p14:creationId xmlns:p14="http://schemas.microsoft.com/office/powerpoint/2010/main" val="2744015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84310" y="258741"/>
            <a:ext cx="10018713" cy="1752599"/>
          </a:xfrm>
        </p:spPr>
        <p:txBody>
          <a:bodyPr/>
          <a:lstStyle/>
          <a:p>
            <a:r>
              <a:rPr lang="en-US" dirty="0"/>
              <a:t>Hardware</a:t>
            </a:r>
          </a:p>
        </p:txBody>
      </p:sp>
      <p:sp>
        <p:nvSpPr>
          <p:cNvPr id="5" name="Content Placeholder 4">
            <a:extLst>
              <a:ext uri="{FF2B5EF4-FFF2-40B4-BE49-F238E27FC236}">
                <a16:creationId xmlns:a16="http://schemas.microsoft.com/office/drawing/2014/main" id="{DC71E125-6360-4F69-9439-150EA68214C1}"/>
              </a:ext>
            </a:extLst>
          </p:cNvPr>
          <p:cNvSpPr>
            <a:spLocks noGrp="1"/>
          </p:cNvSpPr>
          <p:nvPr>
            <p:ph idx="1"/>
          </p:nvPr>
        </p:nvSpPr>
        <p:spPr/>
        <p:txBody>
          <a:bodyPr>
            <a:normAutofit/>
          </a:bodyPr>
          <a:lstStyle/>
          <a:p>
            <a:r>
              <a:rPr lang="en-US" dirty="0"/>
              <a:t>The hardware can range from a single personal computer, to a single mainframe, to a network of computers.</a:t>
            </a:r>
          </a:p>
          <a:p>
            <a:r>
              <a:rPr lang="en-US" dirty="0"/>
              <a:t> The particular hardware depends on the requirements of the organization and the DBMS used.</a:t>
            </a:r>
          </a:p>
          <a:p>
            <a:r>
              <a:rPr lang="en-US" dirty="0"/>
              <a:t> Some DBMSs run only on particular machine, while others run on a wide variety of machines.</a:t>
            </a:r>
          </a:p>
          <a:p>
            <a:endParaRPr lang="en-US" dirty="0"/>
          </a:p>
          <a:p>
            <a:endParaRPr lang="en-AU" dirty="0"/>
          </a:p>
        </p:txBody>
      </p:sp>
    </p:spTree>
    <p:extLst>
      <p:ext uri="{BB962C8B-B14F-4D97-AF65-F5344CB8AC3E}">
        <p14:creationId xmlns:p14="http://schemas.microsoft.com/office/powerpoint/2010/main" val="770391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Software</a:t>
            </a:r>
          </a:p>
        </p:txBody>
      </p:sp>
      <p:sp>
        <p:nvSpPr>
          <p:cNvPr id="5" name="Content Placeholder 4">
            <a:extLst>
              <a:ext uri="{FF2B5EF4-FFF2-40B4-BE49-F238E27FC236}">
                <a16:creationId xmlns:a16="http://schemas.microsoft.com/office/drawing/2014/main" id="{DC71E125-6360-4F69-9439-150EA68214C1}"/>
              </a:ext>
            </a:extLst>
          </p:cNvPr>
          <p:cNvSpPr>
            <a:spLocks noGrp="1"/>
          </p:cNvSpPr>
          <p:nvPr>
            <p:ph idx="1"/>
          </p:nvPr>
        </p:nvSpPr>
        <p:spPr>
          <a:xfrm>
            <a:off x="1484310" y="1731147"/>
            <a:ext cx="10018713" cy="4060054"/>
          </a:xfrm>
        </p:spPr>
        <p:txBody>
          <a:bodyPr>
            <a:normAutofit fontScale="92500"/>
          </a:bodyPr>
          <a:lstStyle/>
          <a:p>
            <a:r>
              <a:rPr lang="en-US" dirty="0"/>
              <a:t>The software includes the DBMS software, application programs together with the operating systems including the network software if the DBMS is being used over a network.</a:t>
            </a:r>
          </a:p>
          <a:p>
            <a:r>
              <a:rPr lang="en-US" dirty="0"/>
              <a:t> The application programs are written in third-generation programming languages like “C,” COBOL, FORTRAN, Ada, Pascal, etc. or using fourth-generation language such as SQL, embedded in a third-generation language.</a:t>
            </a:r>
          </a:p>
          <a:p>
            <a:r>
              <a:rPr lang="en-US" dirty="0"/>
              <a:t> The target DBMS may have its own fourth-generation tools which allow development of applications through the provision of nonprocedural query languages, report generators, graphics generators, and application generators.</a:t>
            </a:r>
          </a:p>
          <a:p>
            <a:endParaRPr lang="en-AU" dirty="0"/>
          </a:p>
        </p:txBody>
      </p:sp>
    </p:spTree>
    <p:extLst>
      <p:ext uri="{BB962C8B-B14F-4D97-AF65-F5344CB8AC3E}">
        <p14:creationId xmlns:p14="http://schemas.microsoft.com/office/powerpoint/2010/main" val="480083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Data</a:t>
            </a:r>
          </a:p>
        </p:txBody>
      </p:sp>
      <p:sp>
        <p:nvSpPr>
          <p:cNvPr id="5" name="Content Placeholder 4">
            <a:extLst>
              <a:ext uri="{FF2B5EF4-FFF2-40B4-BE49-F238E27FC236}">
                <a16:creationId xmlns:a16="http://schemas.microsoft.com/office/drawing/2014/main" id="{DC71E125-6360-4F69-9439-150EA68214C1}"/>
              </a:ext>
            </a:extLst>
          </p:cNvPr>
          <p:cNvSpPr>
            <a:spLocks noGrp="1"/>
          </p:cNvSpPr>
          <p:nvPr>
            <p:ph idx="1"/>
          </p:nvPr>
        </p:nvSpPr>
        <p:spPr>
          <a:xfrm>
            <a:off x="1484310" y="1731147"/>
            <a:ext cx="10018713" cy="4060054"/>
          </a:xfrm>
        </p:spPr>
        <p:txBody>
          <a:bodyPr>
            <a:normAutofit/>
          </a:bodyPr>
          <a:lstStyle/>
          <a:p>
            <a:r>
              <a:rPr lang="en-US" dirty="0"/>
              <a:t>A database is a repository for data which, in general, is both integrated and shared.</a:t>
            </a:r>
          </a:p>
          <a:p>
            <a:r>
              <a:rPr lang="en-US" dirty="0"/>
              <a:t> Integration means that the database may be thought of as a unification of several otherwise distinct files, with any redundancy among those files partially or wholly eliminated.</a:t>
            </a:r>
          </a:p>
          <a:p>
            <a:r>
              <a:rPr lang="en-US" dirty="0"/>
              <a:t> The sharing of a database refers to the sharing of data by different users, in the sense that each of those users may have access to the same piece of data and may use it for different purposes.</a:t>
            </a:r>
          </a:p>
        </p:txBody>
      </p:sp>
    </p:spTree>
    <p:extLst>
      <p:ext uri="{BB962C8B-B14F-4D97-AF65-F5344CB8AC3E}">
        <p14:creationId xmlns:p14="http://schemas.microsoft.com/office/powerpoint/2010/main" val="23364041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Procedure</a:t>
            </a:r>
          </a:p>
        </p:txBody>
      </p:sp>
      <p:sp>
        <p:nvSpPr>
          <p:cNvPr id="5" name="Content Placeholder 4">
            <a:extLst>
              <a:ext uri="{FF2B5EF4-FFF2-40B4-BE49-F238E27FC236}">
                <a16:creationId xmlns:a16="http://schemas.microsoft.com/office/drawing/2014/main" id="{DC71E125-6360-4F69-9439-150EA68214C1}"/>
              </a:ext>
            </a:extLst>
          </p:cNvPr>
          <p:cNvSpPr>
            <a:spLocks noGrp="1"/>
          </p:cNvSpPr>
          <p:nvPr>
            <p:ph idx="1"/>
          </p:nvPr>
        </p:nvSpPr>
        <p:spPr>
          <a:xfrm>
            <a:off x="1484310" y="1731147"/>
            <a:ext cx="10018713" cy="4060054"/>
          </a:xfrm>
        </p:spPr>
        <p:txBody>
          <a:bodyPr>
            <a:normAutofit/>
          </a:bodyPr>
          <a:lstStyle/>
          <a:p>
            <a:r>
              <a:rPr lang="en-US" dirty="0"/>
              <a:t>Procedures are the rules that govern the design and the use of </a:t>
            </a:r>
            <a:r>
              <a:rPr lang="en-US"/>
              <a:t>database.</a:t>
            </a:r>
          </a:p>
          <a:p>
            <a:r>
              <a:rPr lang="en-US"/>
              <a:t> </a:t>
            </a:r>
            <a:r>
              <a:rPr lang="en-US" dirty="0"/>
              <a:t>The procedure may contain information on how to log on to the DBMS, start and stop the DBMS, procedure on how to identify the failed component, how to recover the database, change the structure of the table, and improve the performance.</a:t>
            </a:r>
          </a:p>
        </p:txBody>
      </p:sp>
    </p:spTree>
    <p:extLst>
      <p:ext uri="{BB962C8B-B14F-4D97-AF65-F5344CB8AC3E}">
        <p14:creationId xmlns:p14="http://schemas.microsoft.com/office/powerpoint/2010/main" val="37161406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2432</TotalTime>
  <Words>1345</Words>
  <Application>Microsoft Office PowerPoint</Application>
  <PresentationFormat>Widescreen</PresentationFormat>
  <Paragraphs>94</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Corbel</vt:lpstr>
      <vt:lpstr>Parallax</vt:lpstr>
      <vt:lpstr>Database Systems I</vt:lpstr>
      <vt:lpstr>DBMS Approach</vt:lpstr>
      <vt:lpstr>Advantages of DBMS</vt:lpstr>
      <vt:lpstr>Centralized Data Management</vt:lpstr>
      <vt:lpstr>Data Independence</vt:lpstr>
      <vt:lpstr>Data Consistency </vt:lpstr>
      <vt:lpstr>Some of the qualities achieved in DBMS </vt:lpstr>
      <vt:lpstr>Some of the qualities achieved in DBMS  (cont.)</vt:lpstr>
      <vt:lpstr>ANSI/Spark Data Model</vt:lpstr>
      <vt:lpstr>Need for Abstraction </vt:lpstr>
      <vt:lpstr>The three levels of data abstraction</vt:lpstr>
      <vt:lpstr>Physical Level</vt:lpstr>
      <vt:lpstr>Logical Level</vt:lpstr>
      <vt:lpstr>View Level</vt:lpstr>
      <vt:lpstr>Database Instances</vt:lpstr>
      <vt:lpstr>Database Schema</vt:lpstr>
      <vt:lpstr>Database Schema (cont.)</vt:lpstr>
      <vt:lpstr>Components and Interfaces of Database Management System</vt:lpstr>
      <vt:lpstr>Components and Interfaces of Database Management System (cont.)</vt:lpstr>
      <vt:lpstr>Hardware</vt:lpstr>
      <vt:lpstr>Software</vt:lpstr>
      <vt:lpstr>Data</vt:lpstr>
      <vt:lpstr>Procedure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Troubleshoot network connectivity issues</dc:title>
  <dc:creator>Rasool Al-Saadi</dc:creator>
  <cp:lastModifiedBy>Rasool Al-Saadi</cp:lastModifiedBy>
  <cp:revision>110</cp:revision>
  <dcterms:created xsi:type="dcterms:W3CDTF">2020-02-18T05:03:49Z</dcterms:created>
  <dcterms:modified xsi:type="dcterms:W3CDTF">2020-12-19T15:57:20Z</dcterms:modified>
</cp:coreProperties>
</file>