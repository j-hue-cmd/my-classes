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9" r:id="rId4"/>
    <p:sldId id="258" r:id="rId5"/>
    <p:sldId id="260" r:id="rId6"/>
    <p:sldId id="262" r:id="rId7"/>
    <p:sldId id="263" r:id="rId8"/>
    <p:sldId id="264" r:id="rId9"/>
    <p:sldId id="265" r:id="rId10"/>
    <p:sldId id="266" r:id="rId11"/>
    <p:sldId id="268" r:id="rId12"/>
    <p:sldId id="270" r:id="rId13"/>
    <p:sldId id="269"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38" autoAdjust="0"/>
  </p:normalViewPr>
  <p:slideViewPr>
    <p:cSldViewPr snapToGrid="0">
      <p:cViewPr varScale="1">
        <p:scale>
          <a:sx n="48" d="100"/>
          <a:sy n="48" d="100"/>
        </p:scale>
        <p:origin x="67" y="8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11/12/2020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11/12/2020</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I</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1</a:t>
            </a:r>
            <a:r>
              <a:rPr lang="en-US" b="1" baseline="30000" dirty="0"/>
              <a:t>st</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5"/>
            <a:ext cx="10018713" cy="717802"/>
          </a:xfrm>
        </p:spPr>
        <p:txBody>
          <a:bodyPr/>
          <a:lstStyle/>
          <a:p>
            <a:r>
              <a:rPr lang="en-US" dirty="0"/>
              <a:t>Syllabus</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124201"/>
          </a:xfrm>
        </p:spPr>
        <p:txBody>
          <a:bodyPr/>
          <a:lstStyle/>
          <a:p>
            <a:endParaRPr lang="en-AU" dirty="0"/>
          </a:p>
        </p:txBody>
      </p:sp>
      <p:graphicFrame>
        <p:nvGraphicFramePr>
          <p:cNvPr id="3" name="Table 2">
            <a:extLst>
              <a:ext uri="{FF2B5EF4-FFF2-40B4-BE49-F238E27FC236}">
                <a16:creationId xmlns:a16="http://schemas.microsoft.com/office/drawing/2014/main" id="{731D10A4-8D15-41E7-8AE0-A12124183BB7}"/>
              </a:ext>
            </a:extLst>
          </p:cNvPr>
          <p:cNvGraphicFramePr>
            <a:graphicFrameLocks noGrp="1"/>
          </p:cNvGraphicFramePr>
          <p:nvPr>
            <p:extLst>
              <p:ext uri="{D42A27DB-BD31-4B8C-83A1-F6EECF244321}">
                <p14:modId xmlns:p14="http://schemas.microsoft.com/office/powerpoint/2010/main" val="986624014"/>
              </p:ext>
            </p:extLst>
          </p:nvPr>
        </p:nvGraphicFramePr>
        <p:xfrm>
          <a:off x="1620713" y="937576"/>
          <a:ext cx="10170857" cy="5553340"/>
        </p:xfrm>
        <a:graphic>
          <a:graphicData uri="http://schemas.openxmlformats.org/drawingml/2006/table">
            <a:tbl>
              <a:tblPr firstRow="1" firstCol="1" lastRow="1" lastCol="1" bandRow="1" bandCol="1">
                <a:tableStyleId>{5C22544A-7EE6-4342-B048-85BDC9FD1C3A}</a:tableStyleId>
              </a:tblPr>
              <a:tblGrid>
                <a:gridCol w="1151145">
                  <a:extLst>
                    <a:ext uri="{9D8B030D-6E8A-4147-A177-3AD203B41FA5}">
                      <a16:colId xmlns:a16="http://schemas.microsoft.com/office/drawing/2014/main" val="3563850490"/>
                    </a:ext>
                  </a:extLst>
                </a:gridCol>
                <a:gridCol w="9019712">
                  <a:extLst>
                    <a:ext uri="{9D8B030D-6E8A-4147-A177-3AD203B41FA5}">
                      <a16:colId xmlns:a16="http://schemas.microsoft.com/office/drawing/2014/main" val="3148603914"/>
                    </a:ext>
                  </a:extLst>
                </a:gridCol>
              </a:tblGrid>
              <a:tr h="0">
                <a:tc>
                  <a:txBody>
                    <a:bodyPr/>
                    <a:lstStyle/>
                    <a:p>
                      <a:pPr algn="ctr">
                        <a:spcAft>
                          <a:spcPts val="0"/>
                        </a:spcAft>
                      </a:pPr>
                      <a:r>
                        <a:rPr lang="en-US" sz="1600" dirty="0">
                          <a:solidFill>
                            <a:schemeClr val="tx1"/>
                          </a:solidFill>
                          <a:effectLst/>
                        </a:rPr>
                        <a:t>Week</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60000"/>
                        <a:lumOff val="40000"/>
                      </a:schemeClr>
                    </a:solidFill>
                  </a:tcPr>
                </a:tc>
                <a:tc>
                  <a:txBody>
                    <a:bodyPr/>
                    <a:lstStyle/>
                    <a:p>
                      <a:pPr algn="ctr">
                        <a:spcAft>
                          <a:spcPts val="0"/>
                        </a:spcAft>
                      </a:pPr>
                      <a:r>
                        <a:rPr lang="en-US" sz="1600" dirty="0">
                          <a:solidFill>
                            <a:schemeClr val="tx1"/>
                          </a:solidFill>
                          <a:effectLst/>
                        </a:rPr>
                        <a:t>Topics</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60000"/>
                        <a:lumOff val="40000"/>
                      </a:schemeClr>
                    </a:solidFill>
                  </a:tcPr>
                </a:tc>
                <a:extLst>
                  <a:ext uri="{0D108BD9-81ED-4DB2-BD59-A6C34878D82A}">
                    <a16:rowId xmlns:a16="http://schemas.microsoft.com/office/drawing/2014/main" val="2626839648"/>
                  </a:ext>
                </a:extLst>
              </a:tr>
              <a:tr h="630967">
                <a:tc>
                  <a:txBody>
                    <a:bodyPr/>
                    <a:lstStyle/>
                    <a:p>
                      <a:pPr algn="ctr">
                        <a:spcAft>
                          <a:spcPts val="0"/>
                        </a:spcAft>
                      </a:pPr>
                      <a:r>
                        <a:rPr lang="en-US" sz="1600" dirty="0">
                          <a:solidFill>
                            <a:schemeClr val="tx1"/>
                          </a:solidFill>
                          <a:effectLst/>
                        </a:rPr>
                        <a:t>1</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Data and Information, Database, Database Management System, Objectives of DBMS (Data Availability, Data Integrity, Data Security, Data Independence).</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3383864053"/>
                  </a:ext>
                </a:extLst>
              </a:tr>
              <a:tr h="816746">
                <a:tc>
                  <a:txBody>
                    <a:bodyPr/>
                    <a:lstStyle/>
                    <a:p>
                      <a:pPr algn="ctr">
                        <a:spcAft>
                          <a:spcPts val="0"/>
                        </a:spcAft>
                      </a:pPr>
                      <a:r>
                        <a:rPr lang="en-US" sz="1600" dirty="0">
                          <a:solidFill>
                            <a:schemeClr val="tx1"/>
                          </a:solidFill>
                          <a:effectLst/>
                        </a:rPr>
                        <a:t>2</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File-Based System, Drawbacks of File-Based System( Duplication of Data, Data Dependence, Incompatible File Formats, Separation and Isolation of Data), DBMS Approach, Advantages of DBMS(Centralized Data Management, Data Independence, Data Consistency )</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476070703"/>
                  </a:ext>
                </a:extLst>
              </a:tr>
              <a:tr h="506027">
                <a:tc>
                  <a:txBody>
                    <a:bodyPr/>
                    <a:lstStyle/>
                    <a:p>
                      <a:pPr algn="ctr">
                        <a:spcAft>
                          <a:spcPts val="0"/>
                        </a:spcAft>
                      </a:pPr>
                      <a:r>
                        <a:rPr lang="en-US" sz="1600">
                          <a:solidFill>
                            <a:schemeClr val="tx1"/>
                          </a:solidFill>
                          <a:effectLst/>
                        </a:rPr>
                        <a:t>3</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ANSI/Spark Data Model, Need for Abstraction ,  Data Independence , Physical Level, Logical Level, View Level, Database Instances, Database Schema</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85342533"/>
                  </a:ext>
                </a:extLst>
              </a:tr>
              <a:tr h="594804">
                <a:tc>
                  <a:txBody>
                    <a:bodyPr/>
                    <a:lstStyle/>
                    <a:p>
                      <a:pPr algn="ctr">
                        <a:spcAft>
                          <a:spcPts val="0"/>
                        </a:spcAft>
                      </a:pPr>
                      <a:r>
                        <a:rPr lang="en-US" sz="1600">
                          <a:solidFill>
                            <a:schemeClr val="tx1"/>
                          </a:solidFill>
                          <a:effectLst/>
                        </a:rPr>
                        <a:t>4</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Data Models, Components and Interfaces of Database Management System(Hardware, Software, Data, Procedure, People Interacting with Database, Data Dictionary)</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3807459068"/>
                  </a:ext>
                </a:extLst>
              </a:tr>
              <a:tr h="951052">
                <a:tc>
                  <a:txBody>
                    <a:bodyPr/>
                    <a:lstStyle/>
                    <a:p>
                      <a:pPr algn="ctr">
                        <a:spcAft>
                          <a:spcPts val="0"/>
                        </a:spcAft>
                      </a:pPr>
                      <a:r>
                        <a:rPr lang="en-US" sz="1600">
                          <a:solidFill>
                            <a:schemeClr val="tx1"/>
                          </a:solidFill>
                          <a:effectLst/>
                        </a:rPr>
                        <a:t>5</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Functional Components of Database System Structure, Storage Manager(Authorization and Integrity Manager, Transaction Manager, File Manager, Buffer Manager), Database Architecture( Two-Tier Architecture, Three-tier Architecture), Overview of Database Design</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602586375"/>
                  </a:ext>
                </a:extLst>
              </a:tr>
              <a:tr h="1809904">
                <a:tc>
                  <a:txBody>
                    <a:bodyPr/>
                    <a:lstStyle/>
                    <a:p>
                      <a:pPr algn="ctr">
                        <a:spcAft>
                          <a:spcPts val="0"/>
                        </a:spcAft>
                      </a:pPr>
                      <a:r>
                        <a:rPr lang="en-US" sz="1600">
                          <a:solidFill>
                            <a:schemeClr val="tx1"/>
                          </a:solidFill>
                          <a:effectLst/>
                        </a:rPr>
                        <a:t>6</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Data Modeling Using the Entity-Relationship Model , The Building Blocks of an Entity–Relationship Diagram( Entity, Relationship, Attributes), ER Diagram, Classification of Entity Sets(Strong Entity, Weak Entity), Attribute Classification(Single value attribute,  </a:t>
                      </a:r>
                      <a:r>
                        <a:rPr lang="en-US" sz="1600" dirty="0" err="1">
                          <a:solidFill>
                            <a:schemeClr val="tx1"/>
                          </a:solidFill>
                          <a:effectLst/>
                        </a:rPr>
                        <a:t>Multivalue</a:t>
                      </a:r>
                      <a:r>
                        <a:rPr lang="en-US" sz="1600" dirty="0">
                          <a:solidFill>
                            <a:schemeClr val="tx1"/>
                          </a:solidFill>
                          <a:effectLst/>
                        </a:rPr>
                        <a:t> attribute, Derived Attribute, Null Value Attribute, Composite Attribute), Relationship Degree(Unary Relationship , Binary Relationship, Ternary Relationship), Relationship Classification(One-to-One Relationship Type,  One-to-Many Relationship Type, Many-to-One Relationship Type, Many-to-Many Relationship Type)</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246105011"/>
                  </a:ext>
                </a:extLst>
              </a:tr>
            </a:tbl>
          </a:graphicData>
        </a:graphic>
      </p:graphicFrame>
    </p:spTree>
    <p:extLst>
      <p:ext uri="{BB962C8B-B14F-4D97-AF65-F5344CB8AC3E}">
        <p14:creationId xmlns:p14="http://schemas.microsoft.com/office/powerpoint/2010/main" val="69951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5"/>
            <a:ext cx="10018713" cy="886478"/>
          </a:xfrm>
        </p:spPr>
        <p:txBody>
          <a:bodyPr/>
          <a:lstStyle/>
          <a:p>
            <a:r>
              <a:rPr lang="en-US" dirty="0"/>
              <a:t>Syllabus (cont.)</a:t>
            </a:r>
            <a:endParaRPr lang="en-AU"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124201"/>
          </a:xfrm>
        </p:spPr>
        <p:txBody>
          <a:bodyPr/>
          <a:lstStyle/>
          <a:p>
            <a:endParaRPr lang="en-AU" dirty="0"/>
          </a:p>
        </p:txBody>
      </p:sp>
      <p:graphicFrame>
        <p:nvGraphicFramePr>
          <p:cNvPr id="3" name="Table 2">
            <a:extLst>
              <a:ext uri="{FF2B5EF4-FFF2-40B4-BE49-F238E27FC236}">
                <a16:creationId xmlns:a16="http://schemas.microsoft.com/office/drawing/2014/main" id="{731D10A4-8D15-41E7-8AE0-A12124183BB7}"/>
              </a:ext>
            </a:extLst>
          </p:cNvPr>
          <p:cNvGraphicFramePr>
            <a:graphicFrameLocks noGrp="1"/>
          </p:cNvGraphicFramePr>
          <p:nvPr>
            <p:extLst>
              <p:ext uri="{D42A27DB-BD31-4B8C-83A1-F6EECF244321}">
                <p14:modId xmlns:p14="http://schemas.microsoft.com/office/powerpoint/2010/main" val="1345046219"/>
              </p:ext>
            </p:extLst>
          </p:nvPr>
        </p:nvGraphicFramePr>
        <p:xfrm>
          <a:off x="1379792" y="1020933"/>
          <a:ext cx="10170857" cy="5382878"/>
        </p:xfrm>
        <a:graphic>
          <a:graphicData uri="http://schemas.openxmlformats.org/drawingml/2006/table">
            <a:tbl>
              <a:tblPr firstRow="1" firstCol="1" lastRow="1" lastCol="1" bandRow="1" bandCol="1">
                <a:tableStyleId>{5C22544A-7EE6-4342-B048-85BDC9FD1C3A}</a:tableStyleId>
              </a:tblPr>
              <a:tblGrid>
                <a:gridCol w="1115634">
                  <a:extLst>
                    <a:ext uri="{9D8B030D-6E8A-4147-A177-3AD203B41FA5}">
                      <a16:colId xmlns:a16="http://schemas.microsoft.com/office/drawing/2014/main" val="3563850490"/>
                    </a:ext>
                  </a:extLst>
                </a:gridCol>
                <a:gridCol w="9055223">
                  <a:extLst>
                    <a:ext uri="{9D8B030D-6E8A-4147-A177-3AD203B41FA5}">
                      <a16:colId xmlns:a16="http://schemas.microsoft.com/office/drawing/2014/main" val="3148603914"/>
                    </a:ext>
                  </a:extLst>
                </a:gridCol>
              </a:tblGrid>
              <a:tr h="255771">
                <a:tc>
                  <a:txBody>
                    <a:bodyPr/>
                    <a:lstStyle/>
                    <a:p>
                      <a:pPr algn="ctr">
                        <a:spcAft>
                          <a:spcPts val="0"/>
                        </a:spcAft>
                      </a:pPr>
                      <a:r>
                        <a:rPr lang="en-US" sz="1600" dirty="0">
                          <a:solidFill>
                            <a:schemeClr val="tx1"/>
                          </a:solidFill>
                          <a:effectLst/>
                        </a:rPr>
                        <a:t>Week</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60000"/>
                        <a:lumOff val="40000"/>
                      </a:schemeClr>
                    </a:solidFill>
                  </a:tcPr>
                </a:tc>
                <a:tc>
                  <a:txBody>
                    <a:bodyPr/>
                    <a:lstStyle/>
                    <a:p>
                      <a:pPr algn="ctr">
                        <a:spcAft>
                          <a:spcPts val="0"/>
                        </a:spcAft>
                      </a:pPr>
                      <a:r>
                        <a:rPr lang="en-US" sz="1600" dirty="0">
                          <a:solidFill>
                            <a:schemeClr val="tx1"/>
                          </a:solidFill>
                          <a:effectLst/>
                        </a:rPr>
                        <a:t>Topics</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60000"/>
                        <a:lumOff val="40000"/>
                      </a:schemeClr>
                    </a:solidFill>
                  </a:tcPr>
                </a:tc>
                <a:extLst>
                  <a:ext uri="{0D108BD9-81ED-4DB2-BD59-A6C34878D82A}">
                    <a16:rowId xmlns:a16="http://schemas.microsoft.com/office/drawing/2014/main" val="2626839648"/>
                  </a:ext>
                </a:extLst>
              </a:tr>
              <a:tr h="816745">
                <a:tc>
                  <a:txBody>
                    <a:bodyPr/>
                    <a:lstStyle/>
                    <a:p>
                      <a:pPr algn="ctr">
                        <a:spcAft>
                          <a:spcPts val="0"/>
                        </a:spcAft>
                      </a:pPr>
                      <a:r>
                        <a:rPr lang="en-US" sz="1600" dirty="0">
                          <a:solidFill>
                            <a:schemeClr val="tx1"/>
                          </a:solidFill>
                          <a:effectLst/>
                        </a:rPr>
                        <a:t>7</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Relational Model, CODD’S Rules, Relational Model Properties, Relation Schema and Relation Instance, Concept of Key, Relational Integrity(Entity Integrity, Null Integrity, Domain Integrity Constraint, Referential Integrity)</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3623652332"/>
                  </a:ext>
                </a:extLst>
              </a:tr>
              <a:tr h="905523">
                <a:tc>
                  <a:txBody>
                    <a:bodyPr/>
                    <a:lstStyle/>
                    <a:p>
                      <a:pPr algn="ctr">
                        <a:spcAft>
                          <a:spcPts val="0"/>
                        </a:spcAft>
                      </a:pPr>
                      <a:r>
                        <a:rPr lang="en-US" sz="1600" dirty="0">
                          <a:solidFill>
                            <a:schemeClr val="tx1"/>
                          </a:solidFill>
                          <a:effectLst/>
                        </a:rPr>
                        <a:t>8</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Arial" panose="020B0604020202020204" pitchFamily="34" charset="0"/>
                        <a:buNone/>
                        <a:tabLst>
                          <a:tab pos="160020" algn="l"/>
                        </a:tabLst>
                      </a:pPr>
                      <a:r>
                        <a:rPr lang="en-US" sz="1600" dirty="0">
                          <a:solidFill>
                            <a:schemeClr val="tx1"/>
                          </a:solidFill>
                          <a:effectLst/>
                        </a:rPr>
                        <a:t>Relational Algebra, Role of Relational Algebra in DBMS, Relational Algebra Operations, Selection Operation, Projection Operation, Union Compatibility and Union Operation, Intersection Operation, Difference Operation</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2018419818"/>
                  </a:ext>
                </a:extLst>
              </a:tr>
              <a:tr h="603681">
                <a:tc>
                  <a:txBody>
                    <a:bodyPr/>
                    <a:lstStyle/>
                    <a:p>
                      <a:pPr algn="ctr">
                        <a:spcAft>
                          <a:spcPts val="0"/>
                        </a:spcAft>
                      </a:pPr>
                      <a:r>
                        <a:rPr lang="en-US" sz="1600">
                          <a:solidFill>
                            <a:schemeClr val="tx1"/>
                          </a:solidFill>
                          <a:effectLst/>
                        </a:rPr>
                        <a:t>9</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Cartesian Product Operation, Join Operations, Types of Join Operation, Natural Join, </a:t>
                      </a:r>
                      <a:r>
                        <a:rPr lang="en-US" sz="1600" dirty="0" err="1">
                          <a:solidFill>
                            <a:schemeClr val="tx1"/>
                          </a:solidFill>
                          <a:effectLst/>
                        </a:rPr>
                        <a:t>Equi</a:t>
                      </a:r>
                      <a:r>
                        <a:rPr lang="en-US" sz="1600" dirty="0">
                          <a:solidFill>
                            <a:schemeClr val="tx1"/>
                          </a:solidFill>
                          <a:effectLst/>
                        </a:rPr>
                        <a:t> Join, Theta Join, Outer Join, Examples of Relational Algebra Queries</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3425014138"/>
                  </a:ext>
                </a:extLst>
              </a:tr>
              <a:tr h="1065321">
                <a:tc>
                  <a:txBody>
                    <a:bodyPr/>
                    <a:lstStyle/>
                    <a:p>
                      <a:pPr algn="ctr">
                        <a:spcAft>
                          <a:spcPts val="0"/>
                        </a:spcAft>
                      </a:pPr>
                      <a:r>
                        <a:rPr lang="en-US" sz="1600">
                          <a:solidFill>
                            <a:schemeClr val="tx1"/>
                          </a:solidFill>
                          <a:effectLst/>
                        </a:rPr>
                        <a:t>10</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Structured Query Language, Commands in SQL, Data Definition Language, Creating a Database, Data types in SQL, Creating, Altering, and Deleting Tables</a:t>
                      </a:r>
                      <a:endParaRPr lang="en-AU" sz="1600" dirty="0">
                        <a:solidFill>
                          <a:schemeClr val="tx1"/>
                        </a:solidFill>
                        <a:effectLst/>
                      </a:endParaRPr>
                    </a:p>
                    <a:p>
                      <a:pPr marL="0" indent="0" algn="justLow">
                        <a:spcAft>
                          <a:spcPts val="0"/>
                        </a:spcAft>
                        <a:buFont typeface="Arial" panose="020B0604020202020204" pitchFamily="34" charset="0"/>
                        <a:buNone/>
                      </a:pPr>
                      <a:r>
                        <a:rPr lang="en-US" sz="1600" dirty="0">
                          <a:solidFill>
                            <a:schemeClr val="tx1"/>
                          </a:solidFill>
                          <a:effectLst/>
                        </a:rPr>
                        <a:t>Ensuring Data Validity with Constraints(NOT NULL Constraint, UNIQUE Constraint, CHECK Constraint, Primary Key and PRIMARY KEY Constraint, Foreign Key)</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506563829"/>
                  </a:ext>
                </a:extLst>
              </a:tr>
              <a:tr h="683580">
                <a:tc>
                  <a:txBody>
                    <a:bodyPr/>
                    <a:lstStyle/>
                    <a:p>
                      <a:pPr algn="ctr">
                        <a:spcAft>
                          <a:spcPts val="0"/>
                        </a:spcAft>
                      </a:pPr>
                      <a:r>
                        <a:rPr lang="en-US" sz="1600">
                          <a:solidFill>
                            <a:schemeClr val="tx1"/>
                          </a:solidFill>
                          <a:effectLst/>
                        </a:rPr>
                        <a:t>11</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Speeding Up Results with Indexes, Data Manipulation Language, Inserting New Data, Updating Data, The WHERE Clause, The Logical Operators AND </a:t>
                      </a:r>
                      <a:r>
                        <a:rPr lang="en-US" sz="1600" dirty="0" err="1">
                          <a:solidFill>
                            <a:schemeClr val="tx1"/>
                          </a:solidFill>
                          <a:effectLst/>
                        </a:rPr>
                        <a:t>and</a:t>
                      </a:r>
                      <a:r>
                        <a:rPr lang="en-US" sz="1600" dirty="0">
                          <a:solidFill>
                            <a:schemeClr val="tx1"/>
                          </a:solidFill>
                          <a:effectLst/>
                        </a:rPr>
                        <a:t> OR, Deleting Data</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1545803952"/>
                  </a:ext>
                </a:extLst>
              </a:tr>
              <a:tr h="1052257">
                <a:tc>
                  <a:txBody>
                    <a:bodyPr/>
                    <a:lstStyle/>
                    <a:p>
                      <a:pPr algn="ctr">
                        <a:spcAft>
                          <a:spcPts val="0"/>
                        </a:spcAft>
                      </a:pPr>
                      <a:r>
                        <a:rPr lang="en-US" sz="1600">
                          <a:solidFill>
                            <a:schemeClr val="tx1"/>
                          </a:solidFill>
                          <a:effectLst/>
                        </a:rPr>
                        <a:t>12</a:t>
                      </a:r>
                      <a:endParaRPr lang="en-AU" sz="1600">
                        <a:solidFill>
                          <a:schemeClr val="tx1"/>
                        </a:solidFill>
                        <a:effectLst/>
                        <a:latin typeface="Times New Roman" panose="02020603050405020304" pitchFamily="18" charset="0"/>
                        <a:ea typeface="Times New Roman" panose="02020603050405020304" pitchFamily="18" charset="0"/>
                      </a:endParaRPr>
                    </a:p>
                  </a:txBody>
                  <a:tcPr marL="10409" marR="10409" marT="0" marB="0" anchor="ctr">
                    <a:solidFill>
                      <a:schemeClr val="accent2">
                        <a:lumMod val="20000"/>
                        <a:lumOff val="80000"/>
                      </a:schemeClr>
                    </a:solidFill>
                  </a:tcPr>
                </a:tc>
                <a:tc>
                  <a:txBody>
                    <a:bodyPr/>
                    <a:lstStyle/>
                    <a:p>
                      <a:pPr marL="0" lvl="0" indent="0" algn="justLow" rtl="0">
                        <a:spcAft>
                          <a:spcPts val="0"/>
                        </a:spcAft>
                        <a:buFont typeface="Symbol" panose="05050102010706020507" pitchFamily="18" charset="2"/>
                        <a:buNone/>
                        <a:tabLst>
                          <a:tab pos="160020" algn="l"/>
                        </a:tabLst>
                      </a:pPr>
                      <a:r>
                        <a:rPr lang="en-US" sz="1600" dirty="0">
                          <a:solidFill>
                            <a:schemeClr val="tx1"/>
                          </a:solidFill>
                          <a:effectLst/>
                        </a:rPr>
                        <a:t>Extracting Information Using the SELECT Statement, Returning Only Distinct Rows, Using Aliases, Filtering Results with the WHERE Clause, Using Logical Operators, NOT Operator, BETWEEN Operator, LIKE Operator, IN Operator, Ordering Results with ORDER BY, Selecting Data from More Than One Table</a:t>
                      </a:r>
                      <a:endParaRPr lang="en-AU" sz="1600" dirty="0">
                        <a:solidFill>
                          <a:schemeClr val="tx1"/>
                        </a:solidFill>
                        <a:effectLst/>
                        <a:latin typeface="Times New Roman" panose="02020603050405020304" pitchFamily="18" charset="0"/>
                        <a:ea typeface="Times New Roman" panose="02020603050405020304" pitchFamily="18" charset="0"/>
                      </a:endParaRPr>
                    </a:p>
                  </a:txBody>
                  <a:tcPr marL="10409" marR="10409" marT="0" marB="0">
                    <a:solidFill>
                      <a:schemeClr val="accent2">
                        <a:lumMod val="20000"/>
                        <a:lumOff val="80000"/>
                      </a:schemeClr>
                    </a:solidFill>
                  </a:tcPr>
                </a:tc>
                <a:extLst>
                  <a:ext uri="{0D108BD9-81ED-4DB2-BD59-A6C34878D82A}">
                    <a16:rowId xmlns:a16="http://schemas.microsoft.com/office/drawing/2014/main" val="490538878"/>
                  </a:ext>
                </a:extLst>
              </a:tr>
            </a:tbl>
          </a:graphicData>
        </a:graphic>
      </p:graphicFrame>
    </p:spTree>
    <p:extLst>
      <p:ext uri="{BB962C8B-B14F-4D97-AF65-F5344CB8AC3E}">
        <p14:creationId xmlns:p14="http://schemas.microsoft.com/office/powerpoint/2010/main" val="638169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Reference books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124201"/>
          </a:xfrm>
        </p:spPr>
        <p:txBody>
          <a:bodyPr>
            <a:normAutofit fontScale="92500" lnSpcReduction="20000"/>
          </a:bodyPr>
          <a:lstStyle/>
          <a:p>
            <a:r>
              <a:rPr lang="en-US" dirty="0"/>
              <a:t>1.	S. Sumathi, S. </a:t>
            </a:r>
            <a:r>
              <a:rPr lang="en-US" dirty="0" err="1"/>
              <a:t>Esakkirajan</a:t>
            </a:r>
            <a:r>
              <a:rPr lang="en-US" dirty="0"/>
              <a:t>, "Fundamentals of Relational Database Management Systems", Springer, 2007.</a:t>
            </a:r>
          </a:p>
          <a:p>
            <a:r>
              <a:rPr lang="en-US" dirty="0"/>
              <a:t>2.	</a:t>
            </a:r>
            <a:r>
              <a:rPr lang="en-US" dirty="0" err="1"/>
              <a:t>Ramez</a:t>
            </a:r>
            <a:r>
              <a:rPr lang="en-US" dirty="0"/>
              <a:t> </a:t>
            </a:r>
            <a:r>
              <a:rPr lang="en-US" dirty="0" err="1"/>
              <a:t>Elmasri</a:t>
            </a:r>
            <a:r>
              <a:rPr lang="en-US" dirty="0"/>
              <a:t>, </a:t>
            </a:r>
            <a:r>
              <a:rPr lang="en-US" dirty="0" err="1"/>
              <a:t>Shamkant</a:t>
            </a:r>
            <a:r>
              <a:rPr lang="en-US" dirty="0"/>
              <a:t> B. </a:t>
            </a:r>
            <a:r>
              <a:rPr lang="en-US" dirty="0" err="1"/>
              <a:t>Navathe</a:t>
            </a:r>
            <a:r>
              <a:rPr lang="en-US" dirty="0"/>
              <a:t>, "Fundamentals of Database Systems", 4th Edition, Addison Wesley, 2003.</a:t>
            </a:r>
          </a:p>
          <a:p>
            <a:r>
              <a:rPr lang="en-US" dirty="0"/>
              <a:t>3.	C. J. Date, "An Introduction to Database Systems", 8th Edition, Addison Wesley, 2004.</a:t>
            </a:r>
          </a:p>
          <a:p>
            <a:r>
              <a:rPr lang="en-US" dirty="0"/>
              <a:t>4.	Raghu Ramakrishnan , Johannes </a:t>
            </a:r>
            <a:r>
              <a:rPr lang="en-US" dirty="0" err="1"/>
              <a:t>Gehrke</a:t>
            </a:r>
            <a:r>
              <a:rPr lang="en-US" dirty="0"/>
              <a:t>, "Database Management Systems", 3rd Edition, McGraw Hill, 2003.</a:t>
            </a:r>
          </a:p>
          <a:p>
            <a:r>
              <a:rPr lang="en-US" dirty="0"/>
              <a:t>5.	Paul Wilton, John W. Colby,  "Beginning SQL", Wiley Publishing, Inc. 2005</a:t>
            </a:r>
          </a:p>
        </p:txBody>
      </p:sp>
    </p:spTree>
    <p:extLst>
      <p:ext uri="{BB962C8B-B14F-4D97-AF65-F5344CB8AC3E}">
        <p14:creationId xmlns:p14="http://schemas.microsoft.com/office/powerpoint/2010/main" val="134516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Introduction to Database Systems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124201"/>
          </a:xfrm>
        </p:spPr>
        <p:txBody>
          <a:bodyPr>
            <a:normAutofit/>
          </a:bodyPr>
          <a:lstStyle/>
          <a:p>
            <a:r>
              <a:rPr lang="en-US" dirty="0"/>
              <a:t>Information is a valuable resource to an organization</a:t>
            </a:r>
          </a:p>
          <a:p>
            <a:r>
              <a:rPr lang="en-US" dirty="0"/>
              <a:t>Computer software provides an efficient means of processing information</a:t>
            </a:r>
          </a:p>
          <a:p>
            <a:r>
              <a:rPr lang="en-US" dirty="0"/>
              <a:t>Database systems are becoming increasingly common means by which it is possible to store and retrieve information in an effective manner. </a:t>
            </a:r>
          </a:p>
          <a:p>
            <a:r>
              <a:rPr lang="en-US" dirty="0"/>
              <a:t>Relational databases are the most popular database management systems </a:t>
            </a:r>
          </a:p>
          <a:p>
            <a:r>
              <a:rPr lang="en-US" dirty="0"/>
              <a:t>Essential component of everyday life in modern society</a:t>
            </a:r>
          </a:p>
        </p:txBody>
      </p:sp>
    </p:spTree>
    <p:extLst>
      <p:ext uri="{BB962C8B-B14F-4D97-AF65-F5344CB8AC3E}">
        <p14:creationId xmlns:p14="http://schemas.microsoft.com/office/powerpoint/2010/main" val="158603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Examples of traditional database applications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124201"/>
          </a:xfrm>
        </p:spPr>
        <p:txBody>
          <a:bodyPr>
            <a:normAutofit lnSpcReduction="10000"/>
          </a:bodyPr>
          <a:lstStyle/>
          <a:p>
            <a:r>
              <a:rPr lang="en-US" dirty="0"/>
              <a:t>a bank</a:t>
            </a:r>
          </a:p>
          <a:p>
            <a:r>
              <a:rPr lang="en-US" dirty="0"/>
              <a:t>a hotel  or airline reservation,</a:t>
            </a:r>
          </a:p>
          <a:p>
            <a:r>
              <a:rPr lang="en-US" dirty="0"/>
              <a:t> access a computerized library catalog </a:t>
            </a:r>
          </a:p>
          <a:p>
            <a:r>
              <a:rPr lang="en-US" dirty="0"/>
              <a:t>buy some item from an Internet vendor through its Web page</a:t>
            </a:r>
          </a:p>
          <a:p>
            <a:r>
              <a:rPr lang="en-US" dirty="0"/>
              <a:t>Even purchasing items from a supermarket nowadays in many cases involves an automatic update of the database that keeps the inventory of supermarket items.</a:t>
            </a:r>
          </a:p>
          <a:p>
            <a:endParaRPr lang="en-US" dirty="0"/>
          </a:p>
        </p:txBody>
      </p:sp>
    </p:spTree>
    <p:extLst>
      <p:ext uri="{BB962C8B-B14F-4D97-AF65-F5344CB8AC3E}">
        <p14:creationId xmlns:p14="http://schemas.microsoft.com/office/powerpoint/2010/main" val="2106351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Other types of databases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804625"/>
          </a:xfrm>
        </p:spPr>
        <p:txBody>
          <a:bodyPr>
            <a:normAutofit fontScale="92500" lnSpcReduction="10000"/>
          </a:bodyPr>
          <a:lstStyle/>
          <a:p>
            <a:r>
              <a:rPr lang="en-US" b="1" dirty="0"/>
              <a:t>Multimedia databases </a:t>
            </a:r>
            <a:r>
              <a:rPr lang="en-US" dirty="0"/>
              <a:t>can now store pictures, video clips, and sound messages.</a:t>
            </a:r>
          </a:p>
          <a:p>
            <a:r>
              <a:rPr lang="en-US" b="1" dirty="0"/>
              <a:t>Geographic information systems </a:t>
            </a:r>
            <a:r>
              <a:rPr lang="en-US" dirty="0"/>
              <a:t>(GIS) can store and analyze maps, weather data, and satellite images. </a:t>
            </a:r>
          </a:p>
          <a:p>
            <a:r>
              <a:rPr lang="en-US" b="1" dirty="0"/>
              <a:t>Data warehouses and online analytical processing</a:t>
            </a:r>
            <a:r>
              <a:rPr lang="en-US" dirty="0"/>
              <a:t> (OLAP) systems are used in many companies to extract and analyze useful information from very large databases for decision making.</a:t>
            </a:r>
          </a:p>
          <a:p>
            <a:r>
              <a:rPr lang="en-US" b="1" dirty="0"/>
              <a:t> Real-time and active database technology </a:t>
            </a:r>
            <a:r>
              <a:rPr lang="en-US" dirty="0"/>
              <a:t>is used in controlling industrial and manufacturing processes. </a:t>
            </a:r>
          </a:p>
          <a:p>
            <a:r>
              <a:rPr lang="en-US" b="1" dirty="0"/>
              <a:t>Database search techniques </a:t>
            </a:r>
            <a:r>
              <a:rPr lang="en-US" dirty="0"/>
              <a:t>are being applied to the World Wide Web to improve the search for information that is needed by users browsing the Internet.</a:t>
            </a:r>
          </a:p>
          <a:p>
            <a:endParaRPr lang="en-US" dirty="0"/>
          </a:p>
        </p:txBody>
      </p:sp>
    </p:spTree>
    <p:extLst>
      <p:ext uri="{BB962C8B-B14F-4D97-AF65-F5344CB8AC3E}">
        <p14:creationId xmlns:p14="http://schemas.microsoft.com/office/powerpoint/2010/main" val="220291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What is a database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fontScale="92500" lnSpcReduction="20000"/>
          </a:bodyPr>
          <a:lstStyle/>
          <a:p>
            <a:r>
              <a:rPr lang="en-US" dirty="0"/>
              <a:t>A database system is basically just a computerized record-keeping system. </a:t>
            </a:r>
          </a:p>
          <a:p>
            <a:r>
              <a:rPr lang="en-US" dirty="0"/>
              <a:t>The database itself can be regarded as a kind of electronic filing cabinet; that is, it is a container for a collection of computerized data files. </a:t>
            </a:r>
          </a:p>
          <a:p>
            <a:r>
              <a:rPr lang="en-US" dirty="0"/>
              <a:t>Users of the system can perform (or request the system, to perform, rather) a variety of operations involving such files-for example:</a:t>
            </a:r>
          </a:p>
          <a:p>
            <a:pPr lvl="1">
              <a:buFont typeface="Wingdings" panose="05000000000000000000" pitchFamily="2" charset="2"/>
              <a:buChar char="§"/>
            </a:pPr>
            <a:r>
              <a:rPr lang="en-US" dirty="0"/>
              <a:t>Adding new files to the database </a:t>
            </a:r>
          </a:p>
          <a:p>
            <a:pPr lvl="1">
              <a:buFont typeface="Wingdings" panose="05000000000000000000" pitchFamily="2" charset="2"/>
              <a:buChar char="§"/>
            </a:pPr>
            <a:r>
              <a:rPr lang="en-US" dirty="0"/>
              <a:t>Inserting data into existing files </a:t>
            </a:r>
          </a:p>
          <a:p>
            <a:pPr lvl="1">
              <a:buFont typeface="Wingdings" panose="05000000000000000000" pitchFamily="2" charset="2"/>
              <a:buChar char="§"/>
            </a:pPr>
            <a:r>
              <a:rPr lang="en-US" dirty="0"/>
              <a:t>Retrieving data from existing files </a:t>
            </a:r>
          </a:p>
          <a:p>
            <a:pPr lvl="1">
              <a:buFont typeface="Wingdings" panose="05000000000000000000" pitchFamily="2" charset="2"/>
              <a:buChar char="§"/>
            </a:pPr>
            <a:r>
              <a:rPr lang="en-US" dirty="0"/>
              <a:t>Deleting data from existing files </a:t>
            </a:r>
          </a:p>
          <a:p>
            <a:pPr lvl="1">
              <a:buFont typeface="Wingdings" panose="05000000000000000000" pitchFamily="2" charset="2"/>
              <a:buChar char="§"/>
            </a:pPr>
            <a:r>
              <a:rPr lang="en-US" dirty="0"/>
              <a:t>Changing data in existing files </a:t>
            </a:r>
          </a:p>
          <a:p>
            <a:pPr lvl="1">
              <a:buFont typeface="Wingdings" panose="05000000000000000000" pitchFamily="2" charset="2"/>
              <a:buChar char="§"/>
            </a:pPr>
            <a:r>
              <a:rPr lang="en-US" dirty="0"/>
              <a:t>Removing existing files from the database </a:t>
            </a:r>
          </a:p>
          <a:p>
            <a:endParaRPr lang="en-US" dirty="0"/>
          </a:p>
        </p:txBody>
      </p:sp>
    </p:spTree>
    <p:extLst>
      <p:ext uri="{BB962C8B-B14F-4D97-AF65-F5344CB8AC3E}">
        <p14:creationId xmlns:p14="http://schemas.microsoft.com/office/powerpoint/2010/main" val="4086604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and Information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lnSpcReduction="10000"/>
          </a:bodyPr>
          <a:lstStyle/>
          <a:p>
            <a:r>
              <a:rPr lang="en-US" dirty="0"/>
              <a:t>Data are raw facts that constitute building block of information. </a:t>
            </a:r>
          </a:p>
          <a:p>
            <a:r>
              <a:rPr lang="en-US" dirty="0"/>
              <a:t>Data are the heart of the DBMS. </a:t>
            </a:r>
          </a:p>
          <a:p>
            <a:r>
              <a:rPr lang="en-US" dirty="0"/>
              <a:t>The data will not convey useful information. </a:t>
            </a:r>
          </a:p>
          <a:p>
            <a:r>
              <a:rPr lang="en-US" dirty="0"/>
              <a:t>Useful information is obtained from processed data. </a:t>
            </a:r>
          </a:p>
          <a:p>
            <a:r>
              <a:rPr lang="en-US" dirty="0"/>
              <a:t>In other words, data has to be interpreted in order to obtain information. Good, timely, relevant information is the key to decision making.</a:t>
            </a:r>
          </a:p>
          <a:p>
            <a:r>
              <a:rPr lang="en-US" dirty="0"/>
              <a:t> Good decision making is the key to organizational survival.</a:t>
            </a:r>
          </a:p>
          <a:p>
            <a:r>
              <a:rPr lang="en-US" dirty="0"/>
              <a:t>The data in DBMS can be broadly classified into two types, one is the collection of information needed by the organization and the other is “</a:t>
            </a:r>
            <a:r>
              <a:rPr lang="en-US" b="1" dirty="0"/>
              <a:t>metadata</a:t>
            </a:r>
            <a:r>
              <a:rPr lang="en-US" dirty="0"/>
              <a:t>” which is the information about the database.</a:t>
            </a:r>
          </a:p>
        </p:txBody>
      </p:sp>
    </p:spTree>
    <p:extLst>
      <p:ext uri="{BB962C8B-B14F-4D97-AF65-F5344CB8AC3E}">
        <p14:creationId xmlns:p14="http://schemas.microsoft.com/office/powerpoint/2010/main" val="3673641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216242"/>
            <a:ext cx="10399652" cy="3754706"/>
          </a:xfrm>
        </p:spPr>
        <p:txBody>
          <a:bodyPr>
            <a:normAutofit fontScale="92500"/>
          </a:bodyPr>
          <a:lstStyle/>
          <a:p>
            <a:r>
              <a:rPr lang="en-US" dirty="0"/>
              <a:t>A database is a well-organized collection of data that are related in a meaningful way.</a:t>
            </a:r>
          </a:p>
          <a:p>
            <a:r>
              <a:rPr lang="en-US" dirty="0"/>
              <a:t> Database systems are systems in which the interpretation and storage of information are of primary importance. </a:t>
            </a:r>
          </a:p>
          <a:p>
            <a:r>
              <a:rPr lang="en-US" dirty="0"/>
              <a:t>The database should contain all the data needed by the organization as a result, a huge volume of data, the need for long-term storage of the data, and access of the data by a large number of users generally characterize database systems.</a:t>
            </a:r>
          </a:p>
          <a:p>
            <a:r>
              <a:rPr lang="en-US" dirty="0"/>
              <a:t> The simplified view of database system is shown in Fig. (1). From this figure, it is clear that several users can access the data in an organization still the integrity of the data should be maintained. </a:t>
            </a:r>
          </a:p>
        </p:txBody>
      </p:sp>
      <p:pic>
        <p:nvPicPr>
          <p:cNvPr id="5" name="Picture 2">
            <a:extLst>
              <a:ext uri="{FF2B5EF4-FFF2-40B4-BE49-F238E27FC236}">
                <a16:creationId xmlns:a16="http://schemas.microsoft.com/office/drawing/2014/main" id="{66E361A4-F365-483B-B83C-C020EFDB541A}"/>
              </a:ext>
            </a:extLst>
          </p:cNvPr>
          <p:cNvPicPr>
            <a:picLocks noChangeAspect="1" noChangeArrowheads="1"/>
          </p:cNvPicPr>
          <p:nvPr/>
        </p:nvPicPr>
        <p:blipFill>
          <a:blip r:embed="rId3">
            <a:lum bright="-6000"/>
            <a:extLst>
              <a:ext uri="{28A0092B-C50C-407E-A947-70E740481C1C}">
                <a14:useLocalDpi xmlns:a14="http://schemas.microsoft.com/office/drawing/2010/main" val="0"/>
              </a:ext>
            </a:extLst>
          </a:blip>
          <a:srcRect/>
          <a:stretch>
            <a:fillRect/>
          </a:stretch>
        </p:blipFill>
        <p:spPr bwMode="auto">
          <a:xfrm>
            <a:off x="3856523" y="4970947"/>
            <a:ext cx="3609597" cy="1636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4847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Management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The database management system (DBMS) is a software component that manages the database and shields users from low-level details (in particular, details of how the database is physically stored and accessed).</a:t>
            </a:r>
          </a:p>
          <a:p>
            <a:r>
              <a:rPr lang="en-US" dirty="0"/>
              <a:t>A DBMS consists of collection of interrelated data and a set of programs to access that data. </a:t>
            </a:r>
          </a:p>
          <a:p>
            <a:r>
              <a:rPr lang="en-US" dirty="0"/>
              <a:t>A DBMS consists of:</a:t>
            </a:r>
          </a:p>
          <a:p>
            <a:pPr marL="914400" lvl="1" indent="-457200">
              <a:buFont typeface="+mj-lt"/>
              <a:buAutoNum type="arabicPeriod"/>
            </a:pPr>
            <a:r>
              <a:rPr lang="en-US" dirty="0"/>
              <a:t>A collection of interrelated and persistent data. This part of DBMS is referred to as database (DB).</a:t>
            </a:r>
          </a:p>
          <a:p>
            <a:pPr marL="914400" lvl="1" indent="-457200">
              <a:buFont typeface="+mj-lt"/>
              <a:buAutoNum type="arabicPeriod"/>
            </a:pPr>
            <a:r>
              <a:rPr lang="en-US" dirty="0"/>
              <a:t>A set of application programs used to access, update, and manage data. This part constitutes data management system (MS).</a:t>
            </a:r>
          </a:p>
          <a:p>
            <a:endParaRPr lang="en-US" dirty="0"/>
          </a:p>
        </p:txBody>
      </p:sp>
    </p:spTree>
    <p:extLst>
      <p:ext uri="{BB962C8B-B14F-4D97-AF65-F5344CB8AC3E}">
        <p14:creationId xmlns:p14="http://schemas.microsoft.com/office/powerpoint/2010/main" val="327908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Management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A DBMS is general-purpose software i.e., not application specific. </a:t>
            </a:r>
          </a:p>
          <a:p>
            <a:r>
              <a:rPr lang="en-US" dirty="0"/>
              <a:t>The same DBMS (e.g., Oracle, Microsoft Access, MySQL etc.) can be used in railway reservation system, library management, university, etc.</a:t>
            </a:r>
          </a:p>
          <a:p>
            <a:r>
              <a:rPr lang="en-US" dirty="0"/>
              <a:t>A DBMS takes care of storing and accessing data, leaving only application specific tasks to application programs.</a:t>
            </a:r>
          </a:p>
          <a:p>
            <a:r>
              <a:rPr lang="en-US" dirty="0"/>
              <a:t>DBMS is a complex system that allows a user to do many things to data, that DBMS allows user to input data, share the data, edit the data, manipulate the data, and display the data in the database. Because a DBMS allows more than one user to share the data; the complexity extends to its design and implementation.</a:t>
            </a:r>
          </a:p>
        </p:txBody>
      </p:sp>
    </p:spTree>
    <p:extLst>
      <p:ext uri="{BB962C8B-B14F-4D97-AF65-F5344CB8AC3E}">
        <p14:creationId xmlns:p14="http://schemas.microsoft.com/office/powerpoint/2010/main" val="203488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Objectives of DBMS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fontScale="92500" lnSpcReduction="10000"/>
          </a:bodyPr>
          <a:lstStyle/>
          <a:p>
            <a:r>
              <a:rPr lang="en-US" b="1" dirty="0"/>
              <a:t>Data Availability: </a:t>
            </a:r>
            <a:r>
              <a:rPr lang="en-US" dirty="0"/>
              <a:t>Data availability refers to the fact that the data are made available to wide variety of users in a meaningful format at reasonable cost so that the users can easily access the data.</a:t>
            </a:r>
          </a:p>
          <a:p>
            <a:r>
              <a:rPr lang="en-US" b="1" dirty="0"/>
              <a:t>Data Integrity: </a:t>
            </a:r>
            <a:r>
              <a:rPr lang="en-US" dirty="0"/>
              <a:t>Data integrity refers to the correctness of the data in the database. In other words, the data available in the database is a reliable data.</a:t>
            </a:r>
          </a:p>
          <a:p>
            <a:r>
              <a:rPr lang="en-US" b="1" dirty="0"/>
              <a:t>Data Security: </a:t>
            </a:r>
            <a:r>
              <a:rPr lang="en-US" dirty="0"/>
              <a:t>Data security refers to the fact that only authorized users can access the data. Data security can be enforced by passwords. If two separate users are accessing a particular data at the same time, the DBMS must not allow them to make conflicting changes. </a:t>
            </a:r>
          </a:p>
          <a:p>
            <a:r>
              <a:rPr lang="en-US" b="1" dirty="0"/>
              <a:t>Data Independence:</a:t>
            </a:r>
            <a:r>
              <a:rPr lang="en-US" dirty="0"/>
              <a:t> DBMS allows the user to store, update, and retrieve data in an efficient manner. DBMS provides an “abstract view” of how the data is stored in the database. In order to store the information efficiently, complex data structures are used to represent the data. The system hides certain details of how the data are stored and maintained.</a:t>
            </a:r>
          </a:p>
        </p:txBody>
      </p:sp>
    </p:spTree>
    <p:extLst>
      <p:ext uri="{BB962C8B-B14F-4D97-AF65-F5344CB8AC3E}">
        <p14:creationId xmlns:p14="http://schemas.microsoft.com/office/powerpoint/2010/main" val="2366025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File-Based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101051"/>
            <a:ext cx="9813726" cy="3625982"/>
          </a:xfrm>
        </p:spPr>
        <p:txBody>
          <a:bodyPr>
            <a:normAutofit/>
          </a:bodyPr>
          <a:lstStyle/>
          <a:p>
            <a:r>
              <a:rPr lang="en-US" dirty="0"/>
              <a:t>Prior to DBMS, file system provided by OS was used to store information.</a:t>
            </a:r>
          </a:p>
          <a:p>
            <a:r>
              <a:rPr lang="en-US" dirty="0"/>
              <a:t> In a file-based system, we have collection of application programs that perform services for the end users. </a:t>
            </a:r>
          </a:p>
          <a:p>
            <a:r>
              <a:rPr lang="en-US" dirty="0"/>
              <a:t>Each program defines and manages its own data. </a:t>
            </a:r>
          </a:p>
          <a:p>
            <a:r>
              <a:rPr lang="en-US" dirty="0"/>
              <a:t>Consider University database, the University database contains details about student, faculty, lists of courses offered, and duration of course, etc.</a:t>
            </a:r>
          </a:p>
          <a:p>
            <a:r>
              <a:rPr lang="en-US" dirty="0"/>
              <a:t>In File-based processing for each database there is separate application program which is shown in fig 2</a:t>
            </a:r>
          </a:p>
        </p:txBody>
      </p:sp>
    </p:spTree>
    <p:extLst>
      <p:ext uri="{BB962C8B-B14F-4D97-AF65-F5344CB8AC3E}">
        <p14:creationId xmlns:p14="http://schemas.microsoft.com/office/powerpoint/2010/main" val="3812183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File-Based System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49218" y="3634589"/>
            <a:ext cx="9813726" cy="3463921"/>
          </a:xfrm>
        </p:spPr>
        <p:txBody>
          <a:bodyPr>
            <a:normAutofit/>
          </a:bodyPr>
          <a:lstStyle/>
          <a:p>
            <a:r>
              <a:rPr lang="en-US" dirty="0"/>
              <a:t>One group of users may be interested in knowing the courses offered by the university. One group of users may be interested in knowing the faculty information. The information is stored in separate files and separate applications programs are written. </a:t>
            </a:r>
          </a:p>
        </p:txBody>
      </p:sp>
      <p:pic>
        <p:nvPicPr>
          <p:cNvPr id="5" name="Picture 2">
            <a:extLst>
              <a:ext uri="{FF2B5EF4-FFF2-40B4-BE49-F238E27FC236}">
                <a16:creationId xmlns:a16="http://schemas.microsoft.com/office/drawing/2014/main" id="{89074DD6-4A55-4198-AF55-8D6EE603D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049" y="1475408"/>
            <a:ext cx="5972350" cy="2807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1761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Drawbacks of File-Based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fontScale="92500" lnSpcReduction="20000"/>
          </a:bodyPr>
          <a:lstStyle/>
          <a:p>
            <a:r>
              <a:rPr lang="en-US" dirty="0"/>
              <a:t>The limitations of file-based approach are duplication of data, data dependence, incompatible file formats, separation, and isolation of data.</a:t>
            </a:r>
          </a:p>
          <a:p>
            <a:pPr marL="457200" indent="-457200">
              <a:buFont typeface="+mj-lt"/>
              <a:buAutoNum type="arabicPeriod"/>
            </a:pPr>
            <a:r>
              <a:rPr lang="en-US" b="1" dirty="0"/>
              <a:t>Duplication of Data</a:t>
            </a:r>
            <a:r>
              <a:rPr lang="en-US" dirty="0"/>
              <a:t>: Duplication of data means same data being stored more than once. This can also be termed as data redundancy. Data redundancy is a problem in file based approach due to the decentralized approach. Duplication of data leads to wastage of storage space and can lead to loss of data integrity. </a:t>
            </a:r>
          </a:p>
          <a:p>
            <a:pPr marL="457200" indent="-457200">
              <a:buFont typeface="+mj-lt"/>
              <a:buAutoNum type="arabicPeriod"/>
            </a:pPr>
            <a:r>
              <a:rPr lang="en-US" b="1" dirty="0"/>
              <a:t>Data Dependence</a:t>
            </a:r>
            <a:r>
              <a:rPr lang="en-US" dirty="0"/>
              <a:t>: Data dependence means the application program depends on the data. If some modifications have to be made in the data, then the application program has to be rewritten.</a:t>
            </a:r>
          </a:p>
          <a:p>
            <a:pPr marL="457200" indent="-457200">
              <a:buFont typeface="+mj-lt"/>
              <a:buAutoNum type="arabicPeriod"/>
            </a:pPr>
            <a:r>
              <a:rPr lang="en-US" b="1" dirty="0"/>
              <a:t>Incompatible File Formats</a:t>
            </a:r>
            <a:r>
              <a:rPr lang="en-US" dirty="0"/>
              <a:t>: As file-based system lacks program data independence, the structure of the file depends on the application programming language. For example, the structure of the file generated by FORTRAN program may be different from the structure of a file generated by “C” program.</a:t>
            </a:r>
          </a:p>
          <a:p>
            <a:pPr marL="457200" indent="-457200">
              <a:buFont typeface="+mj-lt"/>
              <a:buAutoNum type="arabicPeriod"/>
            </a:pPr>
            <a:r>
              <a:rPr lang="en-US" b="1" dirty="0"/>
              <a:t>Separation and Isolation of Data</a:t>
            </a:r>
            <a:r>
              <a:rPr lang="en-US" dirty="0"/>
              <a:t>: In file-based approach, data are isolated in separate files. Hence it is difficult to access data.</a:t>
            </a:r>
          </a:p>
        </p:txBody>
      </p:sp>
    </p:spTree>
    <p:extLst>
      <p:ext uri="{BB962C8B-B14F-4D97-AF65-F5344CB8AC3E}">
        <p14:creationId xmlns:p14="http://schemas.microsoft.com/office/powerpoint/2010/main" val="29053329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1200</TotalTime>
  <Words>1964</Words>
  <Application>Microsoft Office PowerPoint</Application>
  <PresentationFormat>Widescreen</PresentationFormat>
  <Paragraphs>115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Corbel</vt:lpstr>
      <vt:lpstr>Symbol</vt:lpstr>
      <vt:lpstr>Times New Roman</vt:lpstr>
      <vt:lpstr>Wingdings</vt:lpstr>
      <vt:lpstr>Parallax</vt:lpstr>
      <vt:lpstr>Database Systems I</vt:lpstr>
      <vt:lpstr>Syllabus</vt:lpstr>
      <vt:lpstr>Syllabus (cont.)</vt:lpstr>
      <vt:lpstr>Reference books</vt:lpstr>
      <vt:lpstr>Introduction to Database Systems</vt:lpstr>
      <vt:lpstr>Examples of traditional database applications</vt:lpstr>
      <vt:lpstr>Other types of databases</vt:lpstr>
      <vt:lpstr>What is a database system?</vt:lpstr>
      <vt:lpstr>Data and Information</vt:lpstr>
      <vt:lpstr>Database</vt:lpstr>
      <vt:lpstr>Database Management System</vt:lpstr>
      <vt:lpstr>Database Management System</vt:lpstr>
      <vt:lpstr>Objectives of DBMS</vt:lpstr>
      <vt:lpstr>File-Based System</vt:lpstr>
      <vt:lpstr>File-Based System (cont.)</vt:lpstr>
      <vt:lpstr>Drawbacks of File-Based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87</cp:revision>
  <dcterms:created xsi:type="dcterms:W3CDTF">2020-02-18T05:03:49Z</dcterms:created>
  <dcterms:modified xsi:type="dcterms:W3CDTF">2020-12-11T22:05:46Z</dcterms:modified>
</cp:coreProperties>
</file>