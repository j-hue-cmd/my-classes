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sldIdLst>
    <p:sldId id="256" r:id="rId2"/>
    <p:sldId id="260" r:id="rId3"/>
    <p:sldId id="262" r:id="rId4"/>
    <p:sldId id="288" r:id="rId5"/>
    <p:sldId id="263" r:id="rId6"/>
    <p:sldId id="264" r:id="rId7"/>
    <p:sldId id="266" r:id="rId8"/>
    <p:sldId id="268" r:id="rId9"/>
    <p:sldId id="270" r:id="rId10"/>
    <p:sldId id="269" r:id="rId11"/>
    <p:sldId id="265" r:id="rId12"/>
    <p:sldId id="271" r:id="rId13"/>
    <p:sldId id="272" r:id="rId14"/>
    <p:sldId id="289" r:id="rId15"/>
    <p:sldId id="273" r:id="rId16"/>
    <p:sldId id="290" r:id="rId17"/>
    <p:sldId id="284" r:id="rId18"/>
    <p:sldId id="291" r:id="rId19"/>
    <p:sldId id="292" r:id="rId20"/>
    <p:sldId id="293" r:id="rId21"/>
    <p:sldId id="294" r:id="rId22"/>
    <p:sldId id="295" r:id="rId23"/>
    <p:sldId id="296" r:id="rId24"/>
    <p:sldId id="297" r:id="rId25"/>
    <p:sldId id="298" r:id="rId26"/>
    <p:sldId id="299" r:id="rId27"/>
    <p:sldId id="300" r:id="rId28"/>
    <p:sldId id="301" r:id="rId29"/>
    <p:sldId id="302" r:id="rId30"/>
    <p:sldId id="303" r:id="rId31"/>
    <p:sldId id="304" r:id="rId32"/>
    <p:sldId id="305" r:id="rId33"/>
    <p:sldId id="306" r:id="rId34"/>
    <p:sldId id="307"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238" autoAdjust="0"/>
  </p:normalViewPr>
  <p:slideViewPr>
    <p:cSldViewPr snapToGrid="0">
      <p:cViewPr varScale="1">
        <p:scale>
          <a:sx n="86" d="100"/>
          <a:sy n="86"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AU" dirty="0"/>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9/01/2021</a:t>
            </a:fld>
            <a:endParaRPr lang="en-AU" dirty="0"/>
          </a:p>
        </p:txBody>
      </p:sp>
      <p:sp>
        <p:nvSpPr>
          <p:cNvPr id="5" name="Footer Placeholder 4"/>
          <p:cNvSpPr>
            <a:spLocks noGrp="1"/>
          </p:cNvSpPr>
          <p:nvPr>
            <p:ph type="ftr" sz="quarter" idx="11"/>
          </p:nvPr>
        </p:nvSpPr>
        <p:spPr>
          <a:xfrm>
            <a:off x="5332412" y="5883275"/>
            <a:ext cx="4324044" cy="365125"/>
          </a:xfrm>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284539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9/01/2021</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a:xfrm>
            <a:off x="10951856" y="5867131"/>
            <a:ext cx="551167" cy="365125"/>
          </a:xfrm>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8938905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9/01/2021</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932139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2BE6EF5-D501-45B9-BF1D-4F3958A2C023}" type="datetimeFigureOut">
              <a:rPr lang="en-AU" smtClean="0"/>
              <a:t>9/01/2021</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20544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2BE6EF5-D501-45B9-BF1D-4F3958A2C023}" type="datetimeFigureOut">
              <a:rPr lang="en-AU" smtClean="0"/>
              <a:t>9/01/2021</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784649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2BE6EF5-D501-45B9-BF1D-4F3958A2C023}" type="datetimeFigureOut">
              <a:rPr lang="en-AU" smtClean="0"/>
              <a:t>9/01/2021</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418546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BE6EF5-D501-45B9-BF1D-4F3958A2C023}" type="datetimeFigureOut">
              <a:rPr lang="en-AU" smtClean="0"/>
              <a:t>9/01/2021</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186357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9/01/2021</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669406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9/01/2021</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936086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9/01/2021</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106932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9/01/2021</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6776190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9/01/2021</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323524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9/01/2021</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4260458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9/01/2021</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23604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9/01/2021</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3958155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9/01/2021</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42835600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9/01/2021</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928317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alphaModFix amt="3400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2BE6EF5-D501-45B9-BF1D-4F3958A2C023}" type="datetimeFigureOut">
              <a:rPr lang="en-AU" smtClean="0"/>
              <a:t>9/01/2021</a:t>
            </a:fld>
            <a:endParaRPr lang="en-AU"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AU"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DA86AD4-3B45-4902-8FDB-DE84D31C86CD}" type="slidenum">
              <a:rPr lang="en-AU" smtClean="0"/>
              <a:t>‹#›</a:t>
            </a:fld>
            <a:endParaRPr lang="en-AU" dirty="0"/>
          </a:p>
        </p:txBody>
      </p:sp>
    </p:spTree>
    <p:extLst>
      <p:ext uri="{BB962C8B-B14F-4D97-AF65-F5344CB8AC3E}">
        <p14:creationId xmlns:p14="http://schemas.microsoft.com/office/powerpoint/2010/main" val="2986099449"/>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 id="2147483787" r:id="rId14"/>
    <p:sldLayoutId id="2147483788" r:id="rId15"/>
    <p:sldLayoutId id="2147483789" r:id="rId16"/>
    <p:sldLayoutId id="2147483790"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B6A14-583D-428B-BCEA-39BC26517A96}"/>
              </a:ext>
            </a:extLst>
          </p:cNvPr>
          <p:cNvSpPr>
            <a:spLocks noGrp="1"/>
          </p:cNvSpPr>
          <p:nvPr>
            <p:ph type="ctrTitle"/>
          </p:nvPr>
        </p:nvSpPr>
        <p:spPr>
          <a:xfrm>
            <a:off x="2820918" y="0"/>
            <a:ext cx="8574622" cy="2616199"/>
          </a:xfrm>
        </p:spPr>
        <p:txBody>
          <a:bodyPr/>
          <a:lstStyle/>
          <a:p>
            <a:pPr algn="ctr"/>
            <a:r>
              <a:rPr lang="en-AU" dirty="0"/>
              <a:t>Database Systems I</a:t>
            </a:r>
          </a:p>
        </p:txBody>
      </p:sp>
      <p:sp>
        <p:nvSpPr>
          <p:cNvPr id="3" name="Subtitle 2">
            <a:extLst>
              <a:ext uri="{FF2B5EF4-FFF2-40B4-BE49-F238E27FC236}">
                <a16:creationId xmlns:a16="http://schemas.microsoft.com/office/drawing/2014/main" id="{E9053E97-050B-432A-8023-71AA641A2B49}"/>
              </a:ext>
            </a:extLst>
          </p:cNvPr>
          <p:cNvSpPr>
            <a:spLocks noGrp="1"/>
          </p:cNvSpPr>
          <p:nvPr>
            <p:ph type="subTitle" idx="1"/>
          </p:nvPr>
        </p:nvSpPr>
        <p:spPr>
          <a:xfrm>
            <a:off x="4138863" y="2782682"/>
            <a:ext cx="6481012" cy="3842708"/>
          </a:xfrm>
        </p:spPr>
        <p:txBody>
          <a:bodyPr>
            <a:normAutofit/>
          </a:bodyPr>
          <a:lstStyle/>
          <a:p>
            <a:pPr algn="ctr"/>
            <a:r>
              <a:rPr lang="en-US" b="1" dirty="0"/>
              <a:t>Dr. Rasool Hisham</a:t>
            </a:r>
          </a:p>
          <a:p>
            <a:pPr algn="ctr"/>
            <a:r>
              <a:rPr lang="en-US" b="1" dirty="0"/>
              <a:t>For 3</a:t>
            </a:r>
            <a:r>
              <a:rPr lang="en-US" b="1" baseline="30000" dirty="0"/>
              <a:t>rd</a:t>
            </a:r>
            <a:r>
              <a:rPr lang="en-US" b="1" dirty="0"/>
              <a:t> year students, 1</a:t>
            </a:r>
            <a:r>
              <a:rPr lang="en-US" b="1" baseline="30000" dirty="0"/>
              <a:t>st</a:t>
            </a:r>
            <a:r>
              <a:rPr lang="en-US" b="1" dirty="0"/>
              <a:t> semester</a:t>
            </a:r>
          </a:p>
          <a:p>
            <a:pPr algn="l"/>
            <a:endParaRPr lang="en-US" b="1" dirty="0"/>
          </a:p>
          <a:p>
            <a:pPr algn="l"/>
            <a:r>
              <a:rPr lang="en-US" b="1" dirty="0"/>
              <a:t>Al-</a:t>
            </a:r>
            <a:r>
              <a:rPr lang="en-US" b="1" dirty="0" err="1"/>
              <a:t>Nahrain</a:t>
            </a:r>
            <a:r>
              <a:rPr lang="en-US" b="1" dirty="0"/>
              <a:t> University</a:t>
            </a:r>
          </a:p>
          <a:p>
            <a:pPr algn="l"/>
            <a:r>
              <a:rPr lang="en-US" b="1" dirty="0"/>
              <a:t>College of Science</a:t>
            </a:r>
          </a:p>
          <a:p>
            <a:pPr algn="l"/>
            <a:r>
              <a:rPr lang="en-US" b="1" dirty="0"/>
              <a:t>Computer Science Department</a:t>
            </a:r>
          </a:p>
        </p:txBody>
      </p:sp>
    </p:spTree>
    <p:extLst>
      <p:ext uri="{BB962C8B-B14F-4D97-AF65-F5344CB8AC3E}">
        <p14:creationId xmlns:p14="http://schemas.microsoft.com/office/powerpoint/2010/main" val="2563199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0"/>
            <a:ext cx="10018713" cy="1752599"/>
          </a:xfrm>
        </p:spPr>
        <p:txBody>
          <a:bodyPr/>
          <a:lstStyle/>
          <a:p>
            <a:r>
              <a:rPr lang="en-US" dirty="0"/>
              <a:t>OVERVIEW OF DATABASE DESIGN </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485999"/>
            <a:ext cx="9877894" cy="4852657"/>
          </a:xfrm>
        </p:spPr>
        <p:txBody>
          <a:bodyPr>
            <a:normAutofit fontScale="92500" lnSpcReduction="10000"/>
          </a:bodyPr>
          <a:lstStyle/>
          <a:p>
            <a:r>
              <a:rPr lang="en-US" sz="2800" dirty="0"/>
              <a:t>The database design process can be divided into six steps. The ER model is most relevant to the first three steps:</a:t>
            </a:r>
          </a:p>
          <a:p>
            <a:r>
              <a:rPr lang="en-US" sz="2800" dirty="0"/>
              <a:t>(1)	</a:t>
            </a:r>
            <a:r>
              <a:rPr lang="en-US" sz="2800" b="1" dirty="0"/>
              <a:t>Requirements Analysis</a:t>
            </a:r>
            <a:r>
              <a:rPr lang="en-US" sz="2800" dirty="0"/>
              <a:t>: The very first step in designing a database application is to understand what data is to be stored in the database, we must find out what the users want from the database. Several methodologies have been proposed for organizing and presenting the information gathered in this step, and some automated tools have been developed to support this process. </a:t>
            </a:r>
          </a:p>
          <a:p>
            <a:r>
              <a:rPr lang="en-US" sz="2800" dirty="0"/>
              <a:t>(2)	</a:t>
            </a:r>
            <a:r>
              <a:rPr lang="en-US" sz="2800" b="1" dirty="0"/>
              <a:t>Conceptual Database Design</a:t>
            </a:r>
            <a:r>
              <a:rPr lang="en-US" sz="2800" dirty="0"/>
              <a:t>: This step is often carried out using the ER model. The information gathered in the requirements analysis step is used to develop a high-level description of the data to be stored in the database. </a:t>
            </a:r>
          </a:p>
          <a:p>
            <a:endParaRPr lang="en-US" sz="2800" dirty="0"/>
          </a:p>
        </p:txBody>
      </p:sp>
    </p:spTree>
    <p:extLst>
      <p:ext uri="{BB962C8B-B14F-4D97-AF65-F5344CB8AC3E}">
        <p14:creationId xmlns:p14="http://schemas.microsoft.com/office/powerpoint/2010/main" val="1586032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010654" y="1614336"/>
            <a:ext cx="10539996" cy="5011053"/>
          </a:xfrm>
        </p:spPr>
        <p:txBody>
          <a:bodyPr>
            <a:normAutofit/>
          </a:bodyPr>
          <a:lstStyle/>
          <a:p>
            <a:r>
              <a:rPr lang="en-US" sz="2600" dirty="0"/>
              <a:t>(3)	</a:t>
            </a:r>
            <a:r>
              <a:rPr lang="en-US" sz="2600" b="1" dirty="0"/>
              <a:t>Logical Database Design</a:t>
            </a:r>
            <a:r>
              <a:rPr lang="en-US" sz="2600" dirty="0"/>
              <a:t>: The task in the logical design step is to convert an ER schema into a relational database schema. We must choose a DBMS to implement our database design.</a:t>
            </a:r>
          </a:p>
          <a:p>
            <a:r>
              <a:rPr lang="en-US" sz="2600" dirty="0"/>
              <a:t>The remaining four steps of database design are briefly described below:</a:t>
            </a:r>
          </a:p>
          <a:p>
            <a:r>
              <a:rPr lang="en-US" sz="2600" dirty="0"/>
              <a:t>(4)	</a:t>
            </a:r>
            <a:r>
              <a:rPr lang="en-US" sz="2600" b="1" dirty="0"/>
              <a:t>Schema Refinement</a:t>
            </a:r>
            <a:r>
              <a:rPr lang="en-US" sz="2600" dirty="0"/>
              <a:t>: The fourth step in database design is to analyze the collection of relations in our relational database schema to identify potential problems, and to refine it. We discuss the theory of normalizing relations to ensure some desirable properties later.</a:t>
            </a:r>
          </a:p>
        </p:txBody>
      </p:sp>
      <p:sp>
        <p:nvSpPr>
          <p:cNvPr id="5" name="Title 4">
            <a:extLst>
              <a:ext uri="{FF2B5EF4-FFF2-40B4-BE49-F238E27FC236}">
                <a16:creationId xmlns:a16="http://schemas.microsoft.com/office/drawing/2014/main" id="{E77336D8-2A01-44A8-ADE1-2C2DDA60745A}"/>
              </a:ext>
            </a:extLst>
          </p:cNvPr>
          <p:cNvSpPr>
            <a:spLocks noGrp="1"/>
          </p:cNvSpPr>
          <p:nvPr>
            <p:ph type="title"/>
          </p:nvPr>
        </p:nvSpPr>
        <p:spPr/>
        <p:txBody>
          <a:bodyPr/>
          <a:lstStyle/>
          <a:p>
            <a:r>
              <a:rPr lang="en-US" dirty="0"/>
              <a:t>(cont.)</a:t>
            </a:r>
            <a:endParaRPr lang="en-AU" dirty="0"/>
          </a:p>
        </p:txBody>
      </p:sp>
      <p:sp>
        <p:nvSpPr>
          <p:cNvPr id="6" name="Title 1">
            <a:extLst>
              <a:ext uri="{FF2B5EF4-FFF2-40B4-BE49-F238E27FC236}">
                <a16:creationId xmlns:a16="http://schemas.microsoft.com/office/drawing/2014/main" id="{BC6764CB-2390-429D-9750-0B9ABC7AA8E4}"/>
              </a:ext>
            </a:extLst>
          </p:cNvPr>
          <p:cNvSpPr txBox="1">
            <a:spLocks/>
          </p:cNvSpPr>
          <p:nvPr/>
        </p:nvSpPr>
        <p:spPr>
          <a:xfrm>
            <a:off x="1531936" y="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OVERVIEW OF DATABASE DESIGN </a:t>
            </a:r>
          </a:p>
        </p:txBody>
      </p:sp>
    </p:spTree>
    <p:extLst>
      <p:ext uri="{BB962C8B-B14F-4D97-AF65-F5344CB8AC3E}">
        <p14:creationId xmlns:p14="http://schemas.microsoft.com/office/powerpoint/2010/main" val="2106351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010654" y="1614336"/>
            <a:ext cx="10539996" cy="5011053"/>
          </a:xfrm>
        </p:spPr>
        <p:txBody>
          <a:bodyPr>
            <a:normAutofit/>
          </a:bodyPr>
          <a:lstStyle/>
          <a:p>
            <a:r>
              <a:rPr lang="en-US" sz="2600" dirty="0"/>
              <a:t>(5)	</a:t>
            </a:r>
            <a:r>
              <a:rPr lang="en-US" sz="2600" b="1" dirty="0"/>
              <a:t>Physical Database Design</a:t>
            </a:r>
            <a:r>
              <a:rPr lang="en-US" sz="2600" dirty="0"/>
              <a:t>: In this step we must consider typical expected workloads that our database must support and further refine the database design to ensure that it meets desired performance criteria.</a:t>
            </a:r>
          </a:p>
          <a:p>
            <a:r>
              <a:rPr lang="en-US" sz="2600" dirty="0"/>
              <a:t>(6)	</a:t>
            </a:r>
            <a:r>
              <a:rPr lang="en-US" sz="2600" b="1" dirty="0"/>
              <a:t>Security Design</a:t>
            </a:r>
            <a:r>
              <a:rPr lang="en-US" sz="2600" dirty="0"/>
              <a:t>: In this step, we identify different user groups and different roles played by various users. For each role and user group, we must identify the parts of the database that they must be able to access and the parts of the database that they should not be allowed to access, and take steps to ensure that they can access only the necessary parts.</a:t>
            </a:r>
          </a:p>
        </p:txBody>
      </p:sp>
      <p:sp>
        <p:nvSpPr>
          <p:cNvPr id="5" name="Title 4">
            <a:extLst>
              <a:ext uri="{FF2B5EF4-FFF2-40B4-BE49-F238E27FC236}">
                <a16:creationId xmlns:a16="http://schemas.microsoft.com/office/drawing/2014/main" id="{E77336D8-2A01-44A8-ADE1-2C2DDA60745A}"/>
              </a:ext>
            </a:extLst>
          </p:cNvPr>
          <p:cNvSpPr>
            <a:spLocks noGrp="1"/>
          </p:cNvSpPr>
          <p:nvPr>
            <p:ph type="title"/>
          </p:nvPr>
        </p:nvSpPr>
        <p:spPr/>
        <p:txBody>
          <a:bodyPr/>
          <a:lstStyle/>
          <a:p>
            <a:r>
              <a:rPr lang="en-US" dirty="0"/>
              <a:t>(cont.)</a:t>
            </a:r>
            <a:endParaRPr lang="en-AU" dirty="0"/>
          </a:p>
        </p:txBody>
      </p:sp>
      <p:sp>
        <p:nvSpPr>
          <p:cNvPr id="6" name="Title 1">
            <a:extLst>
              <a:ext uri="{FF2B5EF4-FFF2-40B4-BE49-F238E27FC236}">
                <a16:creationId xmlns:a16="http://schemas.microsoft.com/office/drawing/2014/main" id="{BC6764CB-2390-429D-9750-0B9ABC7AA8E4}"/>
              </a:ext>
            </a:extLst>
          </p:cNvPr>
          <p:cNvSpPr txBox="1">
            <a:spLocks/>
          </p:cNvSpPr>
          <p:nvPr/>
        </p:nvSpPr>
        <p:spPr>
          <a:xfrm>
            <a:off x="1531936" y="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OVERVIEW OF DATABASE DESIGN </a:t>
            </a:r>
          </a:p>
        </p:txBody>
      </p:sp>
    </p:spTree>
    <p:extLst>
      <p:ext uri="{BB962C8B-B14F-4D97-AF65-F5344CB8AC3E}">
        <p14:creationId xmlns:p14="http://schemas.microsoft.com/office/powerpoint/2010/main" val="1068502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67768" y="455296"/>
            <a:ext cx="10507913" cy="1752599"/>
          </a:xfrm>
        </p:spPr>
        <p:txBody>
          <a:bodyPr/>
          <a:lstStyle/>
          <a:p>
            <a:r>
              <a:rPr lang="en-US" dirty="0"/>
              <a:t>Data Models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782777" y="2063515"/>
            <a:ext cx="9877894" cy="4339189"/>
          </a:xfrm>
        </p:spPr>
        <p:txBody>
          <a:bodyPr>
            <a:normAutofit fontScale="85000" lnSpcReduction="20000"/>
          </a:bodyPr>
          <a:lstStyle/>
          <a:p>
            <a:r>
              <a:rPr lang="en-US" sz="2800" b="1" dirty="0"/>
              <a:t>Data model </a:t>
            </a:r>
            <a:r>
              <a:rPr lang="en-US" sz="2800" dirty="0"/>
              <a:t>is collection of conceptual tools for describing data, relationship between data, and consistency constraints. Data model describe the structure of the database.</a:t>
            </a:r>
          </a:p>
          <a:p>
            <a:r>
              <a:rPr lang="en-US" sz="2800" dirty="0"/>
              <a:t>The data model is a language for describing the data and database, it may consist of abstract concepts, which must be translated by the designer into the constructs of the data definition interface, or it may consist of constructs, which are directly supported by the data definition interface. The constructs of the data model may be defined at many levels of abstraction.</a:t>
            </a:r>
          </a:p>
          <a:p>
            <a:r>
              <a:rPr lang="en-US" sz="2800" dirty="0"/>
              <a:t> Three historically important data models are the hierarchical, network, and relational models. Together they are often referred to as the “basic” data models.</a:t>
            </a:r>
          </a:p>
        </p:txBody>
      </p:sp>
    </p:spTree>
    <p:extLst>
      <p:ext uri="{BB962C8B-B14F-4D97-AF65-F5344CB8AC3E}">
        <p14:creationId xmlns:p14="http://schemas.microsoft.com/office/powerpoint/2010/main" val="2202915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Data Models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571348"/>
            <a:ext cx="9813726" cy="4845493"/>
          </a:xfrm>
        </p:spPr>
        <p:txBody>
          <a:bodyPr>
            <a:normAutofit/>
          </a:bodyPr>
          <a:lstStyle/>
          <a:p>
            <a:endParaRPr lang="en-US" dirty="0"/>
          </a:p>
        </p:txBody>
      </p:sp>
      <p:pic>
        <p:nvPicPr>
          <p:cNvPr id="1026" name="Picture 2">
            <a:extLst>
              <a:ext uri="{FF2B5EF4-FFF2-40B4-BE49-F238E27FC236}">
                <a16:creationId xmlns:a16="http://schemas.microsoft.com/office/drawing/2014/main" id="{D8F5DAEB-A8A7-4541-8953-48F752439E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9414" y="1571348"/>
            <a:ext cx="8292459" cy="4701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6604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329763"/>
            <a:ext cx="10018713" cy="1752599"/>
          </a:xfrm>
        </p:spPr>
        <p:txBody>
          <a:bodyPr/>
          <a:lstStyle/>
          <a:p>
            <a:r>
              <a:rPr lang="en-US" dirty="0"/>
              <a:t>Data Modeling Using the Entity-Relationship Model </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651247"/>
            <a:ext cx="10399652" cy="4749553"/>
          </a:xfrm>
        </p:spPr>
        <p:txBody>
          <a:bodyPr>
            <a:normAutofit/>
          </a:bodyPr>
          <a:lstStyle/>
          <a:p>
            <a:r>
              <a:rPr lang="en-US" dirty="0"/>
              <a:t>Conceptual modeling is an important phase in designing a successful database application. </a:t>
            </a:r>
          </a:p>
          <a:p>
            <a:r>
              <a:rPr lang="en-US" dirty="0"/>
              <a:t>The entity-relationship (ER) data model allows us to describe the data involved in a real-world enterprise in terms of objects and their relationships and is widely used to develop an initial database design. </a:t>
            </a:r>
          </a:p>
          <a:p>
            <a:r>
              <a:rPr lang="en-US" dirty="0"/>
              <a:t>The ER model is used in a phase called conceptual database design.  </a:t>
            </a:r>
          </a:p>
          <a:p>
            <a:r>
              <a:rPr lang="en-US" dirty="0"/>
              <a:t>The main motivation for defining the ER model is to provide a high-level model for conceptual database design. </a:t>
            </a:r>
          </a:p>
          <a:p>
            <a:r>
              <a:rPr lang="en-US" dirty="0"/>
              <a:t>The ER model achieves a high degree of data independence which means that the database designer does not have to worry about the physical structure of the database.</a:t>
            </a:r>
          </a:p>
        </p:txBody>
      </p:sp>
    </p:spTree>
    <p:extLst>
      <p:ext uri="{BB962C8B-B14F-4D97-AF65-F5344CB8AC3E}">
        <p14:creationId xmlns:p14="http://schemas.microsoft.com/office/powerpoint/2010/main" val="1934847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13559"/>
            <a:ext cx="10588123" cy="1752599"/>
          </a:xfrm>
        </p:spPr>
        <p:txBody>
          <a:bodyPr/>
          <a:lstStyle/>
          <a:p>
            <a:r>
              <a:rPr lang="en-US" dirty="0"/>
              <a:t>The Building Blocks of an Entity–Relationship Diagram </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571349"/>
            <a:ext cx="9813726" cy="4296792"/>
          </a:xfrm>
        </p:spPr>
        <p:txBody>
          <a:bodyPr>
            <a:normAutofit/>
          </a:bodyPr>
          <a:lstStyle/>
          <a:p>
            <a:r>
              <a:rPr lang="en-US" dirty="0"/>
              <a:t>The ER modeling can be carried out with the help of pictorial representation of: </a:t>
            </a:r>
          </a:p>
          <a:p>
            <a:r>
              <a:rPr lang="en-US" b="1" dirty="0"/>
              <a:t>Entity</a:t>
            </a:r>
          </a:p>
          <a:p>
            <a:r>
              <a:rPr lang="en-US" b="1" dirty="0"/>
              <a:t>Relationship</a:t>
            </a:r>
          </a:p>
          <a:p>
            <a:r>
              <a:rPr lang="en-US" b="1" dirty="0"/>
              <a:t>Attributes</a:t>
            </a:r>
            <a:endParaRPr lang="en-AU" dirty="0"/>
          </a:p>
        </p:txBody>
      </p:sp>
    </p:spTree>
    <p:extLst>
      <p:ext uri="{BB962C8B-B14F-4D97-AF65-F5344CB8AC3E}">
        <p14:creationId xmlns:p14="http://schemas.microsoft.com/office/powerpoint/2010/main" val="3279088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Entity</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571349"/>
            <a:ext cx="9813726" cy="4296792"/>
          </a:xfrm>
        </p:spPr>
        <p:txBody>
          <a:bodyPr>
            <a:normAutofit/>
          </a:bodyPr>
          <a:lstStyle/>
          <a:p>
            <a:r>
              <a:rPr lang="en-US" dirty="0"/>
              <a:t>An entity is an object that exists and is distinguishable from other objects.</a:t>
            </a:r>
          </a:p>
          <a:p>
            <a:r>
              <a:rPr lang="en-US" dirty="0"/>
              <a:t> The examples of entities are: a particular person, a particular department, a particular place.</a:t>
            </a:r>
            <a:endParaRPr lang="en-AU" dirty="0"/>
          </a:p>
          <a:p>
            <a:r>
              <a:rPr lang="en-US" b="1" i="1" dirty="0"/>
              <a:t>Entity Type</a:t>
            </a:r>
            <a:r>
              <a:rPr lang="en-US" dirty="0"/>
              <a:t>: An </a:t>
            </a:r>
            <a:r>
              <a:rPr lang="en-US" b="1" dirty="0"/>
              <a:t>entity type </a:t>
            </a:r>
            <a:r>
              <a:rPr lang="en-US" dirty="0"/>
              <a:t>or </a:t>
            </a:r>
            <a:r>
              <a:rPr lang="en-US" b="1" dirty="0"/>
              <a:t>entity set </a:t>
            </a:r>
            <a:r>
              <a:rPr lang="en-US" dirty="0"/>
              <a:t>is a collection of similar entities. Some examples of entity types are: students, courses, departments.</a:t>
            </a:r>
            <a:endParaRPr lang="en-AU" dirty="0"/>
          </a:p>
        </p:txBody>
      </p:sp>
    </p:spTree>
    <p:extLst>
      <p:ext uri="{BB962C8B-B14F-4D97-AF65-F5344CB8AC3E}">
        <p14:creationId xmlns:p14="http://schemas.microsoft.com/office/powerpoint/2010/main" val="203488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Relationship</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491450"/>
            <a:ext cx="9813726" cy="4971494"/>
          </a:xfrm>
        </p:spPr>
        <p:txBody>
          <a:bodyPr>
            <a:normAutofit/>
          </a:bodyPr>
          <a:lstStyle/>
          <a:p>
            <a:r>
              <a:rPr lang="en-US" dirty="0"/>
              <a:t>A relationship is an association of entities where </a:t>
            </a:r>
            <a:r>
              <a:rPr lang="en-US" i="1" dirty="0"/>
              <a:t>relationship type </a:t>
            </a:r>
            <a:r>
              <a:rPr lang="en-US" dirty="0"/>
              <a:t>is a meaningful association between </a:t>
            </a:r>
            <a:r>
              <a:rPr lang="en-US" i="1" dirty="0"/>
              <a:t>entity types</a:t>
            </a:r>
            <a:r>
              <a:rPr lang="en-US" dirty="0"/>
              <a:t>. </a:t>
            </a:r>
          </a:p>
          <a:p>
            <a:r>
              <a:rPr lang="en-US" dirty="0"/>
              <a:t>The examples of relationship types are:</a:t>
            </a:r>
            <a:endParaRPr lang="en-AU" dirty="0"/>
          </a:p>
          <a:p>
            <a:pPr lvl="0"/>
            <a:r>
              <a:rPr lang="en-US" dirty="0"/>
              <a:t>Teaches is the relationship type between LECTURER and STUDENT.</a:t>
            </a:r>
            <a:endParaRPr lang="en-AU" dirty="0"/>
          </a:p>
          <a:p>
            <a:pPr lvl="0"/>
            <a:r>
              <a:rPr lang="en-US" dirty="0"/>
              <a:t>Buying is the relationship between VENDOR and CUSTOMER. </a:t>
            </a:r>
            <a:endParaRPr lang="en-AU" dirty="0"/>
          </a:p>
          <a:p>
            <a:pPr lvl="0"/>
            <a:r>
              <a:rPr lang="en-US" dirty="0"/>
              <a:t>Treatment is the relationship between DOCTOR and PATIENT.</a:t>
            </a:r>
            <a:endParaRPr lang="en-AU" dirty="0"/>
          </a:p>
        </p:txBody>
      </p:sp>
    </p:spTree>
    <p:extLst>
      <p:ext uri="{BB962C8B-B14F-4D97-AF65-F5344CB8AC3E}">
        <p14:creationId xmlns:p14="http://schemas.microsoft.com/office/powerpoint/2010/main" val="2366025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Attributes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571349"/>
            <a:ext cx="9813726" cy="4296792"/>
          </a:xfrm>
        </p:spPr>
        <p:txBody>
          <a:bodyPr>
            <a:normAutofit/>
          </a:bodyPr>
          <a:lstStyle/>
          <a:p>
            <a:r>
              <a:rPr lang="en-US" dirty="0"/>
              <a:t>Entities are described in a database by a set of attributes.</a:t>
            </a:r>
          </a:p>
          <a:p>
            <a:r>
              <a:rPr lang="en-US" dirty="0"/>
              <a:t> The following are example of attributes:</a:t>
            </a:r>
            <a:endParaRPr lang="en-AU" dirty="0"/>
          </a:p>
          <a:p>
            <a:pPr lvl="0"/>
            <a:r>
              <a:rPr lang="en-US" dirty="0"/>
              <a:t> Brand, cost, and weight are the attributes of CELLPHONE.</a:t>
            </a:r>
            <a:endParaRPr lang="en-AU" dirty="0"/>
          </a:p>
          <a:p>
            <a:pPr lvl="0"/>
            <a:r>
              <a:rPr lang="en-US" dirty="0"/>
              <a:t> Roll number, name, and grade are the attributes of STUDENT.</a:t>
            </a:r>
            <a:endParaRPr lang="en-AU" dirty="0"/>
          </a:p>
          <a:p>
            <a:pPr lvl="0"/>
            <a:r>
              <a:rPr lang="en-US" dirty="0"/>
              <a:t> Data bus width, address bus width, and clock speed are the attributes of MICROPROCESSOR. </a:t>
            </a:r>
            <a:endParaRPr lang="en-AU" dirty="0"/>
          </a:p>
        </p:txBody>
      </p:sp>
    </p:spTree>
    <p:extLst>
      <p:ext uri="{BB962C8B-B14F-4D97-AF65-F5344CB8AC3E}">
        <p14:creationId xmlns:p14="http://schemas.microsoft.com/office/powerpoint/2010/main" val="3673641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61526" y="296781"/>
            <a:ext cx="10018713" cy="1752599"/>
          </a:xfrm>
        </p:spPr>
        <p:txBody>
          <a:bodyPr/>
          <a:lstStyle/>
          <a:p>
            <a:r>
              <a:rPr lang="en-US" dirty="0"/>
              <a:t>ER Diagram</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153165" y="1796716"/>
            <a:ext cx="4349919" cy="4764503"/>
          </a:xfrm>
        </p:spPr>
        <p:txBody>
          <a:bodyPr>
            <a:normAutofit fontScale="92500" lnSpcReduction="20000"/>
          </a:bodyPr>
          <a:lstStyle/>
          <a:p>
            <a:r>
              <a:rPr lang="en-US" sz="2600" dirty="0"/>
              <a:t>The ER diagram is used to represent database schema. The elements in ER diagram are Entity, Attribute, and Relationship. </a:t>
            </a:r>
          </a:p>
          <a:p>
            <a:pPr lvl="0">
              <a:buFont typeface="Wingdings" panose="05000000000000000000" pitchFamily="2" charset="2"/>
              <a:buChar char="Ø"/>
            </a:pPr>
            <a:r>
              <a:rPr lang="en-US" dirty="0"/>
              <a:t>A rectangle represents an entity set.</a:t>
            </a:r>
            <a:endParaRPr lang="en-AU" dirty="0"/>
          </a:p>
          <a:p>
            <a:pPr lvl="0">
              <a:buFont typeface="Wingdings" panose="05000000000000000000" pitchFamily="2" charset="2"/>
              <a:buChar char="Ø"/>
            </a:pPr>
            <a:r>
              <a:rPr lang="en-US" dirty="0"/>
              <a:t>An ellipse represents an attribute.</a:t>
            </a:r>
            <a:endParaRPr lang="en-AU" dirty="0"/>
          </a:p>
          <a:p>
            <a:pPr lvl="0">
              <a:buFont typeface="Wingdings" panose="05000000000000000000" pitchFamily="2" charset="2"/>
              <a:buChar char="Ø"/>
            </a:pPr>
            <a:r>
              <a:rPr lang="en-US" dirty="0"/>
              <a:t>A diamond represents a relationship.</a:t>
            </a:r>
            <a:endParaRPr lang="en-AU" dirty="0"/>
          </a:p>
          <a:p>
            <a:pPr lvl="0">
              <a:buFont typeface="Wingdings" panose="05000000000000000000" pitchFamily="2" charset="2"/>
              <a:buChar char="Ø"/>
            </a:pPr>
            <a:r>
              <a:rPr lang="en-US" dirty="0"/>
              <a:t>Lines represent linking of attributes to entity sets and of entity sets to relationship sets.</a:t>
            </a:r>
            <a:endParaRPr lang="en-AU" dirty="0"/>
          </a:p>
          <a:p>
            <a:endParaRPr lang="en-US" sz="2800" dirty="0"/>
          </a:p>
        </p:txBody>
      </p:sp>
      <p:pic>
        <p:nvPicPr>
          <p:cNvPr id="2050" name="Picture 2">
            <a:extLst>
              <a:ext uri="{FF2B5EF4-FFF2-40B4-BE49-F238E27FC236}">
                <a16:creationId xmlns:a16="http://schemas.microsoft.com/office/drawing/2014/main" id="{589405B1-E9E2-447F-B868-09F9966170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222"/>
          <a:stretch>
            <a:fillRect/>
          </a:stretch>
        </p:blipFill>
        <p:spPr bwMode="auto">
          <a:xfrm>
            <a:off x="5503085" y="1796716"/>
            <a:ext cx="6452373" cy="4427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2183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Example of ER diagram</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929429" y="1887053"/>
            <a:ext cx="9813726" cy="3463921"/>
          </a:xfrm>
        </p:spPr>
        <p:txBody>
          <a:bodyPr>
            <a:normAutofit lnSpcReduction="10000"/>
          </a:bodyPr>
          <a:lstStyle/>
          <a:p>
            <a:r>
              <a:rPr lang="en-US" dirty="0"/>
              <a:t>Let us consider a simple ER diagram as shown in Fig. (10).</a:t>
            </a:r>
          </a:p>
          <a:p>
            <a:r>
              <a:rPr lang="en-US" dirty="0"/>
              <a:t> In the ER diagram the two entities are STUDENT and CLASS. </a:t>
            </a:r>
          </a:p>
          <a:p>
            <a:r>
              <a:rPr lang="en-US" dirty="0"/>
              <a:t>Two simple attributes which are associated with the STUDENT are Roll number and the name.</a:t>
            </a:r>
          </a:p>
          <a:p>
            <a:r>
              <a:rPr lang="en-US" dirty="0"/>
              <a:t> The attributes associated with the entity CLASS are Subject Name and Hall Number. </a:t>
            </a:r>
          </a:p>
          <a:p>
            <a:r>
              <a:rPr lang="en-US" dirty="0"/>
              <a:t>The relationship between the two entities STUDENT and CLASS is Attends.</a:t>
            </a:r>
            <a:endParaRPr lang="en-US" sz="2800" dirty="0"/>
          </a:p>
        </p:txBody>
      </p:sp>
    </p:spTree>
    <p:extLst>
      <p:ext uri="{BB962C8B-B14F-4D97-AF65-F5344CB8AC3E}">
        <p14:creationId xmlns:p14="http://schemas.microsoft.com/office/powerpoint/2010/main" val="1071761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Example of ER diagram</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929429" y="1887053"/>
            <a:ext cx="9813726" cy="3463921"/>
          </a:xfrm>
        </p:spPr>
        <p:txBody>
          <a:bodyPr>
            <a:normAutofit/>
          </a:bodyPr>
          <a:lstStyle/>
          <a:p>
            <a:endParaRPr lang="en-US" sz="2800" dirty="0"/>
          </a:p>
        </p:txBody>
      </p:sp>
      <p:pic>
        <p:nvPicPr>
          <p:cNvPr id="3074" name="Picture 2">
            <a:extLst>
              <a:ext uri="{FF2B5EF4-FFF2-40B4-BE49-F238E27FC236}">
                <a16:creationId xmlns:a16="http://schemas.microsoft.com/office/drawing/2014/main" id="{97ECB9DA-E26F-4F42-87D2-23E60DF1C6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9429" y="2031432"/>
            <a:ext cx="8904315" cy="3463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386311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96425" y="400784"/>
            <a:ext cx="10018713" cy="1752599"/>
          </a:xfrm>
        </p:spPr>
        <p:txBody>
          <a:bodyPr/>
          <a:lstStyle/>
          <a:p>
            <a:r>
              <a:rPr lang="en-US" dirty="0"/>
              <a:t>Classification of Entity Sets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2246050"/>
            <a:ext cx="9813726" cy="3400771"/>
          </a:xfrm>
        </p:spPr>
        <p:txBody>
          <a:bodyPr>
            <a:normAutofit/>
          </a:bodyPr>
          <a:lstStyle/>
          <a:p>
            <a:r>
              <a:rPr lang="en-US" sz="2800" dirty="0"/>
              <a:t>Entity sets can be broadly classified into: </a:t>
            </a:r>
          </a:p>
          <a:p>
            <a:r>
              <a:rPr lang="en-US" sz="2800" dirty="0"/>
              <a:t>1. Strong entity</a:t>
            </a:r>
          </a:p>
          <a:p>
            <a:r>
              <a:rPr lang="en-US" sz="2800" dirty="0"/>
              <a:t>2. Weak entity</a:t>
            </a:r>
          </a:p>
          <a:p>
            <a:r>
              <a:rPr lang="en-US" sz="2800" dirty="0"/>
              <a:t>3. Associative entity</a:t>
            </a:r>
          </a:p>
        </p:txBody>
      </p:sp>
    </p:spTree>
    <p:extLst>
      <p:ext uri="{BB962C8B-B14F-4D97-AF65-F5344CB8AC3E}">
        <p14:creationId xmlns:p14="http://schemas.microsoft.com/office/powerpoint/2010/main" val="2905332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96425" y="400784"/>
            <a:ext cx="10018713" cy="1752599"/>
          </a:xfrm>
        </p:spPr>
        <p:txBody>
          <a:bodyPr/>
          <a:lstStyle/>
          <a:p>
            <a:r>
              <a:rPr lang="en-US" dirty="0"/>
              <a:t>Classification of Entity Sets (cont.)</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2246050"/>
            <a:ext cx="9813726" cy="3400771"/>
          </a:xfrm>
        </p:spPr>
        <p:txBody>
          <a:bodyPr>
            <a:normAutofit/>
          </a:bodyPr>
          <a:lstStyle/>
          <a:p>
            <a:endParaRPr lang="en-US" sz="2800" dirty="0"/>
          </a:p>
        </p:txBody>
      </p:sp>
      <p:pic>
        <p:nvPicPr>
          <p:cNvPr id="4098" name="Picture 2">
            <a:extLst>
              <a:ext uri="{FF2B5EF4-FFF2-40B4-BE49-F238E27FC236}">
                <a16:creationId xmlns:a16="http://schemas.microsoft.com/office/drawing/2014/main" id="{14B8546A-3BE1-45FC-8E66-DC6BBFC2EF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4428" y="2246050"/>
            <a:ext cx="7904399" cy="3513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15697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1-Strong Entity</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761315"/>
            <a:ext cx="9813726" cy="3047999"/>
          </a:xfrm>
        </p:spPr>
        <p:txBody>
          <a:bodyPr>
            <a:normAutofit/>
          </a:bodyPr>
          <a:lstStyle/>
          <a:p>
            <a:r>
              <a:rPr lang="en-US" dirty="0"/>
              <a:t>Strong entity is one whose existence does not depend on other entity.</a:t>
            </a:r>
            <a:endParaRPr lang="en-AU" dirty="0"/>
          </a:p>
          <a:p>
            <a:r>
              <a:rPr lang="en-US" i="1" dirty="0"/>
              <a:t>Example</a:t>
            </a:r>
            <a:r>
              <a:rPr lang="en-US" dirty="0"/>
              <a:t>: Consider the example, student takes course. Here student is a strong entity. In this example, course is considered as weak entity because, if there are no students to take a particular course, then that course cannot be offered. The COURSE entity depends on the STUDENT entity.</a:t>
            </a:r>
            <a:endParaRPr lang="en-AU" dirty="0"/>
          </a:p>
          <a:p>
            <a:endParaRPr lang="en-US" dirty="0"/>
          </a:p>
        </p:txBody>
      </p:sp>
      <p:pic>
        <p:nvPicPr>
          <p:cNvPr id="5122" name="Picture 2">
            <a:extLst>
              <a:ext uri="{FF2B5EF4-FFF2-40B4-BE49-F238E27FC236}">
                <a16:creationId xmlns:a16="http://schemas.microsoft.com/office/drawing/2014/main" id="{073315C1-BF5C-453E-9481-BC05439859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2703" y="4683575"/>
            <a:ext cx="7315481" cy="1593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3690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2-Weak Entity</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668380"/>
            <a:ext cx="9813726" cy="3047999"/>
          </a:xfrm>
        </p:spPr>
        <p:txBody>
          <a:bodyPr>
            <a:normAutofit/>
          </a:bodyPr>
          <a:lstStyle/>
          <a:p>
            <a:r>
              <a:rPr lang="en-US" dirty="0"/>
              <a:t>Weak entity is one whose existence depends on other entity. In many cases, weak entity does not have primary key.</a:t>
            </a:r>
            <a:endParaRPr lang="en-AU" dirty="0"/>
          </a:p>
          <a:p>
            <a:r>
              <a:rPr lang="en-US" i="1" dirty="0"/>
              <a:t>Example</a:t>
            </a:r>
            <a:r>
              <a:rPr lang="en-US" dirty="0"/>
              <a:t>: Consider the example, customer borrows loan. Here loan is a weak entity. For every loan, there should be at least one customer. Here the entity loan depends on the entity customer hence loan is a weak entity.</a:t>
            </a:r>
            <a:endParaRPr lang="en-AU" dirty="0"/>
          </a:p>
          <a:p>
            <a:endParaRPr lang="en-US" dirty="0"/>
          </a:p>
        </p:txBody>
      </p:sp>
      <p:pic>
        <p:nvPicPr>
          <p:cNvPr id="6146" name="Picture 2">
            <a:extLst>
              <a:ext uri="{FF2B5EF4-FFF2-40B4-BE49-F238E27FC236}">
                <a16:creationId xmlns:a16="http://schemas.microsoft.com/office/drawing/2014/main" id="{F70405CE-93B3-401D-A981-FEE25FEE43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3163" y="4056547"/>
            <a:ext cx="7740641" cy="1752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5235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Attribute Classification</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70"/>
            <a:ext cx="9813726" cy="1556084"/>
          </a:xfrm>
        </p:spPr>
        <p:txBody>
          <a:bodyPr>
            <a:normAutofit/>
          </a:bodyPr>
          <a:lstStyle/>
          <a:p>
            <a:r>
              <a:rPr lang="en-US" dirty="0"/>
              <a:t>Attribute is used to describe the properties of the entity. This attribute can be broadly classified based on value and structure. </a:t>
            </a:r>
          </a:p>
        </p:txBody>
      </p:sp>
      <p:pic>
        <p:nvPicPr>
          <p:cNvPr id="7170" name="Picture 2">
            <a:extLst>
              <a:ext uri="{FF2B5EF4-FFF2-40B4-BE49-F238E27FC236}">
                <a16:creationId xmlns:a16="http://schemas.microsoft.com/office/drawing/2014/main" id="{DC283283-D770-4897-B689-DBE436F11E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8257"/>
          <a:stretch>
            <a:fillRect/>
          </a:stretch>
        </p:blipFill>
        <p:spPr bwMode="auto">
          <a:xfrm>
            <a:off x="1634429" y="2476499"/>
            <a:ext cx="9089618" cy="344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230694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Single value attribute</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2133600"/>
            <a:ext cx="9813726" cy="3160293"/>
          </a:xfrm>
        </p:spPr>
        <p:txBody>
          <a:bodyPr>
            <a:normAutofit/>
          </a:bodyPr>
          <a:lstStyle/>
          <a:p>
            <a:r>
              <a:rPr lang="en-US" i="1" dirty="0"/>
              <a:t>Single value</a:t>
            </a:r>
            <a:r>
              <a:rPr lang="en-US" dirty="0"/>
              <a:t> attribute means, there is only one value associated with that attribute.</a:t>
            </a:r>
          </a:p>
          <a:p>
            <a:r>
              <a:rPr lang="en-US" dirty="0"/>
              <a:t> One example of single value attribute is age of a person.</a:t>
            </a:r>
            <a:endParaRPr lang="en-AU" dirty="0"/>
          </a:p>
        </p:txBody>
      </p:sp>
    </p:spTree>
    <p:extLst>
      <p:ext uri="{BB962C8B-B14F-4D97-AF65-F5344CB8AC3E}">
        <p14:creationId xmlns:p14="http://schemas.microsoft.com/office/powerpoint/2010/main" val="14583803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err="1"/>
              <a:t>Multivalue</a:t>
            </a:r>
            <a:r>
              <a:rPr lang="en-US" dirty="0"/>
              <a:t> attribute</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2133601"/>
            <a:ext cx="9813726" cy="1752600"/>
          </a:xfrm>
        </p:spPr>
        <p:txBody>
          <a:bodyPr>
            <a:normAutofit lnSpcReduction="10000"/>
          </a:bodyPr>
          <a:lstStyle/>
          <a:p>
            <a:r>
              <a:rPr lang="en-US" dirty="0"/>
              <a:t>In the case of </a:t>
            </a:r>
            <a:r>
              <a:rPr lang="en-US" i="1" dirty="0" err="1"/>
              <a:t>multivalue</a:t>
            </a:r>
            <a:r>
              <a:rPr lang="en-US" dirty="0"/>
              <a:t> attribute, more than one value will be associated with that attribute. </a:t>
            </a:r>
          </a:p>
          <a:p>
            <a:r>
              <a:rPr lang="en-US" dirty="0"/>
              <a:t>Consider an entity EMPLOYEE. An Employee can have many skills; hence skills associated to an employee are a </a:t>
            </a:r>
            <a:r>
              <a:rPr lang="en-US" dirty="0" err="1"/>
              <a:t>multivalue</a:t>
            </a:r>
            <a:r>
              <a:rPr lang="en-US" dirty="0"/>
              <a:t> attribute. </a:t>
            </a:r>
            <a:endParaRPr lang="en-AU" dirty="0"/>
          </a:p>
          <a:p>
            <a:endParaRPr lang="en-AU" dirty="0"/>
          </a:p>
        </p:txBody>
      </p:sp>
      <p:pic>
        <p:nvPicPr>
          <p:cNvPr id="8195" name="Picture 3">
            <a:extLst>
              <a:ext uri="{FF2B5EF4-FFF2-40B4-BE49-F238E27FC236}">
                <a16:creationId xmlns:a16="http://schemas.microsoft.com/office/drawing/2014/main" id="{4B24E4CF-D1F0-4B97-93A9-5CC52B9503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7615" y="3976770"/>
            <a:ext cx="8516770" cy="2564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6070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Derived Attribute</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2133601"/>
            <a:ext cx="9813726" cy="1752600"/>
          </a:xfrm>
        </p:spPr>
        <p:txBody>
          <a:bodyPr>
            <a:normAutofit/>
          </a:bodyPr>
          <a:lstStyle/>
          <a:p>
            <a:r>
              <a:rPr lang="en-US" dirty="0"/>
              <a:t>The value of the derived attribute can be derived from the values of other related attributes or entities. </a:t>
            </a:r>
          </a:p>
          <a:p>
            <a:r>
              <a:rPr lang="en-US" dirty="0"/>
              <a:t>Example:  Age of a person can be derived from the date of birth of the person. In this example, age is the derived attribute. </a:t>
            </a:r>
          </a:p>
        </p:txBody>
      </p:sp>
      <p:pic>
        <p:nvPicPr>
          <p:cNvPr id="9218" name="Picture 2">
            <a:extLst>
              <a:ext uri="{FF2B5EF4-FFF2-40B4-BE49-F238E27FC236}">
                <a16:creationId xmlns:a16="http://schemas.microsoft.com/office/drawing/2014/main" id="{5134D5F1-F51E-4673-A018-4125E9BC2D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1024" y="4417929"/>
            <a:ext cx="5890508" cy="146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47514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Null Value Attribute</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331496"/>
            <a:ext cx="9813726" cy="3180346"/>
          </a:xfrm>
        </p:spPr>
        <p:txBody>
          <a:bodyPr>
            <a:normAutofit/>
          </a:bodyPr>
          <a:lstStyle/>
          <a:p>
            <a:r>
              <a:rPr lang="en-US" dirty="0"/>
              <a:t>In some cases, a particular entity may not have any applicable value for an attribute. For such situation, a special value called null value is created. </a:t>
            </a:r>
          </a:p>
          <a:p>
            <a:r>
              <a:rPr lang="en-US" dirty="0"/>
              <a:t>Example: In application forms, there is one column called phone no. if a person do not have phone then a null value is entered in that column. </a:t>
            </a:r>
            <a:endParaRPr lang="en-AU" dirty="0"/>
          </a:p>
          <a:p>
            <a:endParaRPr lang="en-US" dirty="0"/>
          </a:p>
        </p:txBody>
      </p:sp>
      <p:pic>
        <p:nvPicPr>
          <p:cNvPr id="10242" name="Picture 2">
            <a:extLst>
              <a:ext uri="{FF2B5EF4-FFF2-40B4-BE49-F238E27FC236}">
                <a16:creationId xmlns:a16="http://schemas.microsoft.com/office/drawing/2014/main" id="{B6BEFA56-3540-4664-99B4-5AD1C5262B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3833" y="4239126"/>
            <a:ext cx="6852599" cy="2211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5533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Composite Attribute</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331496"/>
            <a:ext cx="9813726" cy="3180346"/>
          </a:xfrm>
        </p:spPr>
        <p:txBody>
          <a:bodyPr>
            <a:normAutofit/>
          </a:bodyPr>
          <a:lstStyle/>
          <a:p>
            <a:r>
              <a:rPr lang="en-US" dirty="0"/>
              <a:t>Composite attribute is one which can be further subdivided into simple attributes.</a:t>
            </a:r>
            <a:endParaRPr lang="en-AU" dirty="0"/>
          </a:p>
          <a:p>
            <a:r>
              <a:rPr lang="en-US" dirty="0"/>
              <a:t>Example: Consider the attribute “address” which can be further subdivided into Street name, City, and State.</a:t>
            </a:r>
            <a:endParaRPr lang="en-AU" dirty="0"/>
          </a:p>
        </p:txBody>
      </p:sp>
      <p:pic>
        <p:nvPicPr>
          <p:cNvPr id="11266" name="Picture 2">
            <a:extLst>
              <a:ext uri="{FF2B5EF4-FFF2-40B4-BE49-F238E27FC236}">
                <a16:creationId xmlns:a16="http://schemas.microsoft.com/office/drawing/2014/main" id="{AE170C23-FECA-4FDB-A4BA-B60AFA8DF5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1575" y="4091042"/>
            <a:ext cx="7597715" cy="1759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983790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840306"/>
            <a:ext cx="10018713" cy="1752599"/>
          </a:xfrm>
        </p:spPr>
        <p:txBody>
          <a:bodyPr/>
          <a:lstStyle/>
          <a:p>
            <a:r>
              <a:rPr lang="en-US" dirty="0"/>
              <a:t>Relationship Degree</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2165685"/>
            <a:ext cx="9813726" cy="3180346"/>
          </a:xfrm>
        </p:spPr>
        <p:txBody>
          <a:bodyPr>
            <a:normAutofit/>
          </a:bodyPr>
          <a:lstStyle/>
          <a:p>
            <a:r>
              <a:rPr lang="en-US" dirty="0"/>
              <a:t>Relationship degree refers to the number of associated entities. The relationship degree can be broadly classified into unary, binary, and ternary relationship</a:t>
            </a:r>
            <a:endParaRPr lang="en-AU" dirty="0"/>
          </a:p>
        </p:txBody>
      </p:sp>
    </p:spTree>
    <p:extLst>
      <p:ext uri="{BB962C8B-B14F-4D97-AF65-F5344CB8AC3E}">
        <p14:creationId xmlns:p14="http://schemas.microsoft.com/office/powerpoint/2010/main" val="12315959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1. Unary Relationship </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506578"/>
            <a:ext cx="9813726" cy="2278549"/>
          </a:xfrm>
        </p:spPr>
        <p:txBody>
          <a:bodyPr>
            <a:normAutofit/>
          </a:bodyPr>
          <a:lstStyle/>
          <a:p>
            <a:r>
              <a:rPr lang="en-US" dirty="0"/>
              <a:t>The unary relationship is otherwise known as recursive relationship.</a:t>
            </a:r>
          </a:p>
          <a:p>
            <a:r>
              <a:rPr lang="en-US" dirty="0"/>
              <a:t> In the unary relationship the number of associated entity is one. </a:t>
            </a:r>
          </a:p>
          <a:p>
            <a:r>
              <a:rPr lang="en-US" dirty="0"/>
              <a:t>An entity related to itself is known as recursive relationship.</a:t>
            </a:r>
          </a:p>
          <a:p>
            <a:r>
              <a:rPr lang="en-US" dirty="0"/>
              <a:t>Example: In this example, Husband and wife are referred as </a:t>
            </a:r>
            <a:r>
              <a:rPr lang="en-US" b="1" dirty="0"/>
              <a:t>roles</a:t>
            </a:r>
            <a:r>
              <a:rPr lang="en-US" dirty="0"/>
              <a:t>. </a:t>
            </a:r>
            <a:endParaRPr lang="en-AU" dirty="0"/>
          </a:p>
          <a:p>
            <a:endParaRPr lang="en-AU" dirty="0"/>
          </a:p>
        </p:txBody>
      </p:sp>
      <p:pic>
        <p:nvPicPr>
          <p:cNvPr id="12290" name="Picture 2">
            <a:extLst>
              <a:ext uri="{FF2B5EF4-FFF2-40B4-BE49-F238E27FC236}">
                <a16:creationId xmlns:a16="http://schemas.microsoft.com/office/drawing/2014/main" id="{3B8C5A42-58FF-4225-942D-E22BD746AC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1936" y="3861328"/>
            <a:ext cx="4315981" cy="2219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 name="Picture 3">
            <a:extLst>
              <a:ext uri="{FF2B5EF4-FFF2-40B4-BE49-F238E27FC236}">
                <a16:creationId xmlns:a16="http://schemas.microsoft.com/office/drawing/2014/main" id="{DE28D88B-DF83-4E57-A339-0C62B8667C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4085" y="3785127"/>
            <a:ext cx="4962225" cy="2278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67950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2. Binary Relationship </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506578"/>
            <a:ext cx="9813726" cy="2278549"/>
          </a:xfrm>
        </p:spPr>
        <p:txBody>
          <a:bodyPr>
            <a:normAutofit/>
          </a:bodyPr>
          <a:lstStyle/>
          <a:p>
            <a:r>
              <a:rPr lang="en-US" dirty="0"/>
              <a:t>In a binary relationship, two entities are involved.</a:t>
            </a:r>
          </a:p>
          <a:p>
            <a:r>
              <a:rPr lang="en-US" dirty="0"/>
              <a:t> Consider the example; each staff will be assigned to a particular department. Here the two entities are STAFF and DEPARTMENT. </a:t>
            </a:r>
            <a:endParaRPr lang="en-AU" dirty="0"/>
          </a:p>
        </p:txBody>
      </p:sp>
      <p:pic>
        <p:nvPicPr>
          <p:cNvPr id="13314" name="Picture 2">
            <a:extLst>
              <a:ext uri="{FF2B5EF4-FFF2-40B4-BE49-F238E27FC236}">
                <a16:creationId xmlns:a16="http://schemas.microsoft.com/office/drawing/2014/main" id="{77FCBF74-1A06-4029-93EF-163F804FBD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3785126"/>
            <a:ext cx="7727918" cy="1717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285964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3. Ternary Relationship</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887053"/>
            <a:ext cx="9813726" cy="2278549"/>
          </a:xfrm>
        </p:spPr>
        <p:txBody>
          <a:bodyPr>
            <a:normAutofit fontScale="92500" lnSpcReduction="10000"/>
          </a:bodyPr>
          <a:lstStyle/>
          <a:p>
            <a:r>
              <a:rPr lang="en-US" dirty="0"/>
              <a:t>In a ternary relationship, three entities are simultaneously involved. </a:t>
            </a:r>
          </a:p>
          <a:p>
            <a:r>
              <a:rPr lang="en-US" dirty="0"/>
              <a:t>Ternary relationships are required when binary relationships are not sufficient.</a:t>
            </a:r>
            <a:endParaRPr lang="en-AU" dirty="0"/>
          </a:p>
          <a:p>
            <a:r>
              <a:rPr lang="en-US" i="1" dirty="0"/>
              <a:t>Example</a:t>
            </a:r>
            <a:r>
              <a:rPr lang="en-US" dirty="0"/>
              <a:t>: Consider the example of employee assigned a project. Here we are considering three entities EMPLOYEE, PROJECT, and LOCATION. The relationship is “assigned-to.” Many employees will be assigned to one project hence it is an example of one-to-many relationship. </a:t>
            </a:r>
            <a:endParaRPr lang="en-AU" dirty="0"/>
          </a:p>
        </p:txBody>
      </p:sp>
      <p:pic>
        <p:nvPicPr>
          <p:cNvPr id="14338" name="Picture 2">
            <a:extLst>
              <a:ext uri="{FF2B5EF4-FFF2-40B4-BE49-F238E27FC236}">
                <a16:creationId xmlns:a16="http://schemas.microsoft.com/office/drawing/2014/main" id="{31152473-47B3-4E37-A9E3-094E278A17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9876" y="4636779"/>
            <a:ext cx="5682832" cy="208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851780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Relationship Classification</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887053"/>
            <a:ext cx="9813726" cy="3791852"/>
          </a:xfrm>
        </p:spPr>
        <p:txBody>
          <a:bodyPr>
            <a:normAutofit/>
          </a:bodyPr>
          <a:lstStyle/>
          <a:p>
            <a:r>
              <a:rPr lang="en-US" dirty="0"/>
              <a:t>Relationship is an association among one or more entities. </a:t>
            </a:r>
          </a:p>
          <a:p>
            <a:r>
              <a:rPr lang="en-US" dirty="0"/>
              <a:t>This relationship can be broadly classified into </a:t>
            </a:r>
          </a:p>
          <a:p>
            <a:pPr marL="457200" indent="-457200">
              <a:buFont typeface="+mj-lt"/>
              <a:buAutoNum type="arabicPeriod"/>
            </a:pPr>
            <a:r>
              <a:rPr lang="en-US" dirty="0"/>
              <a:t>one-to-one relation</a:t>
            </a:r>
          </a:p>
          <a:p>
            <a:pPr marL="457200" indent="-457200">
              <a:buFont typeface="+mj-lt"/>
              <a:buAutoNum type="arabicPeriod"/>
            </a:pPr>
            <a:r>
              <a:rPr lang="en-US" dirty="0"/>
              <a:t> one-to-many relation</a:t>
            </a:r>
          </a:p>
          <a:p>
            <a:pPr marL="457200" indent="-457200">
              <a:buFont typeface="+mj-lt"/>
              <a:buAutoNum type="arabicPeriod"/>
            </a:pPr>
            <a:r>
              <a:rPr lang="en-US" dirty="0"/>
              <a:t> many-to- many relation </a:t>
            </a:r>
          </a:p>
          <a:p>
            <a:pPr marL="457200" indent="-457200">
              <a:buFont typeface="+mj-lt"/>
              <a:buAutoNum type="arabicPeriod"/>
            </a:pPr>
            <a:r>
              <a:rPr lang="en-US" dirty="0"/>
              <a:t> recursive relation. </a:t>
            </a:r>
            <a:endParaRPr lang="en-AU" dirty="0"/>
          </a:p>
        </p:txBody>
      </p:sp>
    </p:spTree>
    <p:extLst>
      <p:ext uri="{BB962C8B-B14F-4D97-AF65-F5344CB8AC3E}">
        <p14:creationId xmlns:p14="http://schemas.microsoft.com/office/powerpoint/2010/main" val="4254772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One-to-One Relationship Type</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646422"/>
            <a:ext cx="9813726" cy="3791852"/>
          </a:xfrm>
        </p:spPr>
        <p:txBody>
          <a:bodyPr>
            <a:normAutofit/>
          </a:bodyPr>
          <a:lstStyle/>
          <a:p>
            <a:r>
              <a:rPr lang="en-US" dirty="0"/>
              <a:t>One-to-one relationship is a special case of one-to-many relationship. </a:t>
            </a:r>
          </a:p>
          <a:p>
            <a:r>
              <a:rPr lang="en-US" dirty="0"/>
              <a:t>True one-to-one relationship is rare. </a:t>
            </a:r>
          </a:p>
          <a:p>
            <a:r>
              <a:rPr lang="en-US" dirty="0"/>
              <a:t>The relationship between the President and the country is an example of one-to-one relationship.</a:t>
            </a:r>
          </a:p>
          <a:p>
            <a:r>
              <a:rPr lang="en-US" dirty="0"/>
              <a:t> For a particular country there will be only one President.</a:t>
            </a:r>
            <a:endParaRPr lang="en-AU" dirty="0"/>
          </a:p>
        </p:txBody>
      </p:sp>
    </p:spTree>
    <p:extLst>
      <p:ext uri="{BB962C8B-B14F-4D97-AF65-F5344CB8AC3E}">
        <p14:creationId xmlns:p14="http://schemas.microsoft.com/office/powerpoint/2010/main" val="27446669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 One-to-Many Relationship Type</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533074"/>
            <a:ext cx="9813726" cy="3791852"/>
          </a:xfrm>
        </p:spPr>
        <p:txBody>
          <a:bodyPr>
            <a:normAutofit/>
          </a:bodyPr>
          <a:lstStyle/>
          <a:p>
            <a:r>
              <a:rPr lang="en-US" dirty="0"/>
              <a:t>The relationship that associates one entity to more than one entity is called one-to-many relationship. </a:t>
            </a:r>
          </a:p>
          <a:p>
            <a:r>
              <a:rPr lang="en-US" dirty="0"/>
              <a:t>Example of one-to-many relationship is Country having states. For one country there can be more than one state.</a:t>
            </a:r>
            <a:endParaRPr lang="en-AU" dirty="0"/>
          </a:p>
        </p:txBody>
      </p:sp>
    </p:spTree>
    <p:extLst>
      <p:ext uri="{BB962C8B-B14F-4D97-AF65-F5344CB8AC3E}">
        <p14:creationId xmlns:p14="http://schemas.microsoft.com/office/powerpoint/2010/main" val="8744590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Many-to-One Relationship Type</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533074"/>
            <a:ext cx="9813726" cy="3791852"/>
          </a:xfrm>
        </p:spPr>
        <p:txBody>
          <a:bodyPr>
            <a:normAutofit/>
          </a:bodyPr>
          <a:lstStyle/>
          <a:p>
            <a:r>
              <a:rPr lang="en-US" dirty="0"/>
              <a:t>The relationship between EMPLOYEE and DEPARTMENT is an example of many-to-one relationship. There may be many EMPLOYEES working in one DEPARTMENT.</a:t>
            </a:r>
            <a:endParaRPr lang="en-AU" dirty="0"/>
          </a:p>
        </p:txBody>
      </p:sp>
    </p:spTree>
    <p:extLst>
      <p:ext uri="{BB962C8B-B14F-4D97-AF65-F5344CB8AC3E}">
        <p14:creationId xmlns:p14="http://schemas.microsoft.com/office/powerpoint/2010/main" val="10898176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Many-to-Many Relationship Type</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887053"/>
            <a:ext cx="9813726" cy="3791852"/>
          </a:xfrm>
        </p:spPr>
        <p:txBody>
          <a:bodyPr>
            <a:normAutofit/>
          </a:bodyPr>
          <a:lstStyle/>
          <a:p>
            <a:r>
              <a:rPr lang="en-US" dirty="0"/>
              <a:t>The relationship between EMPLOYEE entity and PROJECT entity is an example of many-to-many relationship. </a:t>
            </a:r>
          </a:p>
          <a:p>
            <a:r>
              <a:rPr lang="en-US" dirty="0"/>
              <a:t>Many employees will be working in many projects hence the relationship between employee and project is many-to-many relationship.</a:t>
            </a:r>
            <a:endParaRPr lang="en-AU" dirty="0"/>
          </a:p>
        </p:txBody>
      </p:sp>
    </p:spTree>
    <p:extLst>
      <p:ext uri="{BB962C8B-B14F-4D97-AF65-F5344CB8AC3E}">
        <p14:creationId xmlns:p14="http://schemas.microsoft.com/office/powerpoint/2010/main" val="34602758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The summary of the four relationship types </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887053"/>
            <a:ext cx="9813726" cy="3791852"/>
          </a:xfrm>
        </p:spPr>
        <p:txBody>
          <a:bodyPr>
            <a:normAutofit/>
          </a:bodyPr>
          <a:lstStyle/>
          <a:p>
            <a:endParaRPr lang="en-AU" dirty="0"/>
          </a:p>
        </p:txBody>
      </p:sp>
      <p:pic>
        <p:nvPicPr>
          <p:cNvPr id="15362" name="Picture 2">
            <a:extLst>
              <a:ext uri="{FF2B5EF4-FFF2-40B4-BE49-F238E27FC236}">
                <a16:creationId xmlns:a16="http://schemas.microsoft.com/office/drawing/2014/main" id="{005E6971-93E2-41F9-A580-86482925FE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5243" y="1732547"/>
            <a:ext cx="8694821" cy="4341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972959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4673</TotalTime>
  <Words>1781</Words>
  <Application>Microsoft Office PowerPoint</Application>
  <PresentationFormat>Widescreen</PresentationFormat>
  <Paragraphs>129</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Corbel</vt:lpstr>
      <vt:lpstr>Wingdings</vt:lpstr>
      <vt:lpstr>Parallax</vt:lpstr>
      <vt:lpstr>Database Systems I</vt:lpstr>
      <vt:lpstr>OVERVIEW OF DATABASE DESIGN </vt:lpstr>
      <vt:lpstr>(cont.)</vt:lpstr>
      <vt:lpstr>(cont.)</vt:lpstr>
      <vt:lpstr>Data Models</vt:lpstr>
      <vt:lpstr>Data Models</vt:lpstr>
      <vt:lpstr>Data Modeling Using the Entity-Relationship Model </vt:lpstr>
      <vt:lpstr>The Building Blocks of an Entity–Relationship Diagram </vt:lpstr>
      <vt:lpstr>Entity</vt:lpstr>
      <vt:lpstr>Relationship</vt:lpstr>
      <vt:lpstr>Attributes</vt:lpstr>
      <vt:lpstr>ER Diagram</vt:lpstr>
      <vt:lpstr>Example of ER diagram</vt:lpstr>
      <vt:lpstr>Example of ER diagram</vt:lpstr>
      <vt:lpstr>Classification of Entity Sets</vt:lpstr>
      <vt:lpstr>Classification of Entity Sets (cont.)</vt:lpstr>
      <vt:lpstr>1-Strong Entity</vt:lpstr>
      <vt:lpstr>2-Weak Entity</vt:lpstr>
      <vt:lpstr>Attribute Classification</vt:lpstr>
      <vt:lpstr>Single value attribute</vt:lpstr>
      <vt:lpstr>Multivalue attribute</vt:lpstr>
      <vt:lpstr>Derived Attribute</vt:lpstr>
      <vt:lpstr>Null Value Attribute</vt:lpstr>
      <vt:lpstr>Composite Attribute</vt:lpstr>
      <vt:lpstr>Relationship Degree</vt:lpstr>
      <vt:lpstr>1. Unary Relationship </vt:lpstr>
      <vt:lpstr>2. Binary Relationship </vt:lpstr>
      <vt:lpstr>3. Ternary Relationship</vt:lpstr>
      <vt:lpstr>Relationship Classification</vt:lpstr>
      <vt:lpstr>One-to-One Relationship Type</vt:lpstr>
      <vt:lpstr> One-to-Many Relationship Type</vt:lpstr>
      <vt:lpstr>Many-to-One Relationship Type</vt:lpstr>
      <vt:lpstr>Many-to-Many Relationship Type</vt:lpstr>
      <vt:lpstr>The summary of the four relationship types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Troubleshoot network connectivity issues</dc:title>
  <dc:creator>Rasool Al-Saadi</dc:creator>
  <cp:lastModifiedBy>Rasool Al-Saadi</cp:lastModifiedBy>
  <cp:revision>180</cp:revision>
  <dcterms:created xsi:type="dcterms:W3CDTF">2020-02-18T05:03:49Z</dcterms:created>
  <dcterms:modified xsi:type="dcterms:W3CDTF">2021-01-09T15:47:02Z</dcterms:modified>
</cp:coreProperties>
</file>