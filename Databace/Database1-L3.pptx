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60" r:id="rId3"/>
    <p:sldId id="262" r:id="rId4"/>
    <p:sldId id="263" r:id="rId5"/>
    <p:sldId id="264" r:id="rId6"/>
    <p:sldId id="266" r:id="rId7"/>
    <p:sldId id="268" r:id="rId8"/>
    <p:sldId id="270" r:id="rId9"/>
    <p:sldId id="269" r:id="rId10"/>
    <p:sldId id="265" r:id="rId11"/>
    <p:sldId id="271" r:id="rId12"/>
    <p:sldId id="272" r:id="rId13"/>
    <p:sldId id="273" r:id="rId14"/>
    <p:sldId id="284" r:id="rId15"/>
    <p:sldId id="274" r:id="rId16"/>
    <p:sldId id="275" r:id="rId17"/>
    <p:sldId id="276" r:id="rId18"/>
    <p:sldId id="277" r:id="rId19"/>
    <p:sldId id="278" r:id="rId20"/>
    <p:sldId id="279" r:id="rId21"/>
    <p:sldId id="285" r:id="rId22"/>
    <p:sldId id="280" r:id="rId23"/>
    <p:sldId id="286" r:id="rId24"/>
    <p:sldId id="281" r:id="rId25"/>
    <p:sldId id="28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38" autoAdjust="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AU" dirty="0"/>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a:xfrm>
            <a:off x="5332412" y="5883275"/>
            <a:ext cx="4324044" cy="365125"/>
          </a:xfrm>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28453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a:xfrm>
            <a:off x="10951856" y="5867131"/>
            <a:ext cx="551167" cy="365125"/>
          </a:xfrm>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89389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93213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205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784649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41854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863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66940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3608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069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67761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235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60458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2360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9581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8356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25/12/2020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2831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34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E6EF5-D501-45B9-BF1D-4F3958A2C023}" type="datetimeFigureOut">
              <a:rPr lang="en-AU" smtClean="0"/>
              <a:t>25/12/2020</a:t>
            </a:fld>
            <a:endParaRPr lang="en-AU"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A86AD4-3B45-4902-8FDB-DE84D31C86CD}" type="slidenum">
              <a:rPr lang="en-AU" smtClean="0"/>
              <a:t>‹#›</a:t>
            </a:fld>
            <a:endParaRPr lang="en-AU" dirty="0"/>
          </a:p>
        </p:txBody>
      </p:sp>
    </p:spTree>
    <p:extLst>
      <p:ext uri="{BB962C8B-B14F-4D97-AF65-F5344CB8AC3E}">
        <p14:creationId xmlns:p14="http://schemas.microsoft.com/office/powerpoint/2010/main" val="29860994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6A14-583D-428B-BCEA-39BC26517A96}"/>
              </a:ext>
            </a:extLst>
          </p:cNvPr>
          <p:cNvSpPr>
            <a:spLocks noGrp="1"/>
          </p:cNvSpPr>
          <p:nvPr>
            <p:ph type="ctrTitle"/>
          </p:nvPr>
        </p:nvSpPr>
        <p:spPr>
          <a:xfrm>
            <a:off x="2820918" y="0"/>
            <a:ext cx="8574622" cy="2616199"/>
          </a:xfrm>
        </p:spPr>
        <p:txBody>
          <a:bodyPr/>
          <a:lstStyle/>
          <a:p>
            <a:pPr algn="ctr"/>
            <a:r>
              <a:rPr lang="en-AU" dirty="0"/>
              <a:t>Database Systems I</a:t>
            </a:r>
          </a:p>
        </p:txBody>
      </p:sp>
      <p:sp>
        <p:nvSpPr>
          <p:cNvPr id="3" name="Subtitle 2">
            <a:extLst>
              <a:ext uri="{FF2B5EF4-FFF2-40B4-BE49-F238E27FC236}">
                <a16:creationId xmlns:a16="http://schemas.microsoft.com/office/drawing/2014/main" id="{E9053E97-050B-432A-8023-71AA641A2B49}"/>
              </a:ext>
            </a:extLst>
          </p:cNvPr>
          <p:cNvSpPr>
            <a:spLocks noGrp="1"/>
          </p:cNvSpPr>
          <p:nvPr>
            <p:ph type="subTitle" idx="1"/>
          </p:nvPr>
        </p:nvSpPr>
        <p:spPr>
          <a:xfrm>
            <a:off x="4138863" y="2782682"/>
            <a:ext cx="6481012" cy="3842708"/>
          </a:xfrm>
        </p:spPr>
        <p:txBody>
          <a:bodyPr>
            <a:normAutofit/>
          </a:bodyPr>
          <a:lstStyle/>
          <a:p>
            <a:pPr algn="ctr"/>
            <a:r>
              <a:rPr lang="en-US" b="1" dirty="0"/>
              <a:t>Dr. Rasool Hisham</a:t>
            </a:r>
          </a:p>
          <a:p>
            <a:pPr algn="ctr"/>
            <a:r>
              <a:rPr lang="en-US" b="1" dirty="0"/>
              <a:t>For 3</a:t>
            </a:r>
            <a:r>
              <a:rPr lang="en-US" b="1" baseline="30000" dirty="0"/>
              <a:t>rd</a:t>
            </a:r>
            <a:r>
              <a:rPr lang="en-US" b="1" dirty="0"/>
              <a:t> year students, 1</a:t>
            </a:r>
            <a:r>
              <a:rPr lang="en-US" b="1" baseline="30000" dirty="0"/>
              <a:t>st</a:t>
            </a:r>
            <a:r>
              <a:rPr lang="en-US" b="1" dirty="0"/>
              <a:t> semester</a:t>
            </a:r>
          </a:p>
          <a:p>
            <a:pPr algn="l"/>
            <a:endParaRPr lang="en-US" b="1" dirty="0"/>
          </a:p>
          <a:p>
            <a:pPr algn="l"/>
            <a:r>
              <a:rPr lang="en-US" b="1" dirty="0"/>
              <a:t>Al-</a:t>
            </a:r>
            <a:r>
              <a:rPr lang="en-US" b="1" dirty="0" err="1"/>
              <a:t>Nahrain</a:t>
            </a:r>
            <a:r>
              <a:rPr lang="en-US" b="1" dirty="0"/>
              <a:t> University</a:t>
            </a:r>
          </a:p>
          <a:p>
            <a:pPr algn="l"/>
            <a:r>
              <a:rPr lang="en-US" b="1" dirty="0"/>
              <a:t>College of Science</a:t>
            </a:r>
          </a:p>
          <a:p>
            <a:pPr algn="l"/>
            <a:r>
              <a:rPr lang="en-US" b="1" dirty="0"/>
              <a:t>Computer Science Department</a:t>
            </a:r>
          </a:p>
        </p:txBody>
      </p:sp>
    </p:spTree>
    <p:extLst>
      <p:ext uri="{BB962C8B-B14F-4D97-AF65-F5344CB8AC3E}">
        <p14:creationId xmlns:p14="http://schemas.microsoft.com/office/powerpoint/2010/main" val="256319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375085"/>
            <a:ext cx="10018713" cy="1752599"/>
          </a:xfrm>
        </p:spPr>
        <p:txBody>
          <a:bodyPr/>
          <a:lstStyle/>
          <a:p>
            <a:r>
              <a:rPr lang="en-US" dirty="0"/>
              <a:t>People Interacting with Database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485999"/>
            <a:ext cx="9877894" cy="4852657"/>
          </a:xfrm>
        </p:spPr>
        <p:txBody>
          <a:bodyPr>
            <a:normAutofit/>
          </a:bodyPr>
          <a:lstStyle/>
          <a:p>
            <a:r>
              <a:rPr lang="en-US" sz="2800" dirty="0"/>
              <a:t>Here people refers to the people who manages the database, </a:t>
            </a:r>
            <a:r>
              <a:rPr lang="en-US" sz="2800" b="1" dirty="0"/>
              <a:t>database administrator,</a:t>
            </a:r>
            <a:r>
              <a:rPr lang="en-US" sz="2800" dirty="0"/>
              <a:t> people who design the application program, </a:t>
            </a:r>
            <a:r>
              <a:rPr lang="en-US" sz="2800" b="1" dirty="0"/>
              <a:t>database designer</a:t>
            </a:r>
            <a:r>
              <a:rPr lang="en-US" sz="2800" dirty="0"/>
              <a:t> and the people who interacts with the database, </a:t>
            </a:r>
            <a:r>
              <a:rPr lang="en-US" sz="2800" b="1" dirty="0"/>
              <a:t>database users</a:t>
            </a:r>
            <a:r>
              <a:rPr lang="en-US" sz="2800" dirty="0"/>
              <a:t>.</a:t>
            </a:r>
          </a:p>
          <a:p>
            <a:r>
              <a:rPr lang="en-US" sz="2800" dirty="0"/>
              <a:t>A DBMS is typically run as a back-end server in a local or global network, offering services to clients directly or to Application Servers.</a:t>
            </a:r>
          </a:p>
        </p:txBody>
      </p:sp>
    </p:spTree>
    <p:extLst>
      <p:ext uri="{BB962C8B-B14F-4D97-AF65-F5344CB8AC3E}">
        <p14:creationId xmlns:p14="http://schemas.microsoft.com/office/powerpoint/2010/main" val="1586032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338640"/>
            <a:ext cx="10018713" cy="1752599"/>
          </a:xfrm>
        </p:spPr>
        <p:txBody>
          <a:bodyPr/>
          <a:lstStyle/>
          <a:p>
            <a:r>
              <a:rPr lang="en-US" dirty="0"/>
              <a:t>Database Administrator</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1614336"/>
            <a:ext cx="10082881" cy="4369369"/>
          </a:xfrm>
        </p:spPr>
        <p:txBody>
          <a:bodyPr>
            <a:normAutofit/>
          </a:bodyPr>
          <a:lstStyle/>
          <a:p>
            <a:r>
              <a:rPr lang="en-US" sz="2800" b="1" dirty="0"/>
              <a:t>Database Administrator </a:t>
            </a:r>
            <a:r>
              <a:rPr lang="en-US" sz="2800" dirty="0"/>
              <a:t>is a person having central control over data and programs accessing that data. </a:t>
            </a:r>
          </a:p>
          <a:p>
            <a:r>
              <a:rPr lang="en-US" sz="2800" dirty="0"/>
              <a:t>The database administrator is a manager whose responsibilities are focused on management of technical aspects of the database system.</a:t>
            </a:r>
          </a:p>
        </p:txBody>
      </p:sp>
    </p:spTree>
    <p:extLst>
      <p:ext uri="{BB962C8B-B14F-4D97-AF65-F5344CB8AC3E}">
        <p14:creationId xmlns:p14="http://schemas.microsoft.com/office/powerpoint/2010/main" val="2106351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7768" y="455296"/>
            <a:ext cx="10507913" cy="1752599"/>
          </a:xfrm>
        </p:spPr>
        <p:txBody>
          <a:bodyPr/>
          <a:lstStyle/>
          <a:p>
            <a:r>
              <a:rPr lang="en-US" dirty="0"/>
              <a:t>Responsibilities of Database Administrator (DBA)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82777" y="2063515"/>
            <a:ext cx="9877894" cy="4339189"/>
          </a:xfrm>
        </p:spPr>
        <p:txBody>
          <a:bodyPr>
            <a:normAutofit/>
          </a:bodyPr>
          <a:lstStyle/>
          <a:p>
            <a:r>
              <a:rPr lang="en-US" sz="2800" dirty="0"/>
              <a:t>The responsibility of the database administrator is to maintain the integrity, security, and availability of data. </a:t>
            </a:r>
          </a:p>
          <a:p>
            <a:r>
              <a:rPr lang="en-US" sz="2800" dirty="0"/>
              <a:t>The responsibilities of the database administrator are summarized as follows:</a:t>
            </a:r>
          </a:p>
          <a:p>
            <a:pPr marL="457200" indent="-457200">
              <a:buFont typeface="+mj-lt"/>
              <a:buAutoNum type="arabicPeriod"/>
            </a:pPr>
            <a:r>
              <a:rPr lang="en-US" sz="2800" dirty="0"/>
              <a:t>Authorizing access to the database.</a:t>
            </a:r>
          </a:p>
          <a:p>
            <a:pPr marL="457200" indent="-457200">
              <a:buFont typeface="+mj-lt"/>
              <a:buAutoNum type="arabicPeriod"/>
            </a:pPr>
            <a:r>
              <a:rPr lang="en-US" sz="2800" dirty="0"/>
              <a:t>Coordinating and monitoring its use.</a:t>
            </a:r>
          </a:p>
          <a:p>
            <a:pPr marL="457200" indent="-457200">
              <a:buFont typeface="+mj-lt"/>
              <a:buAutoNum type="arabicPeriod"/>
            </a:pPr>
            <a:r>
              <a:rPr lang="en-US" sz="2800" dirty="0"/>
              <a:t>Acquiring hardware and software resources as needed.</a:t>
            </a:r>
          </a:p>
          <a:p>
            <a:pPr marL="457200" indent="-457200">
              <a:buFont typeface="+mj-lt"/>
              <a:buAutoNum type="arabicPeriod"/>
            </a:pPr>
            <a:r>
              <a:rPr lang="en-US" sz="2800" dirty="0"/>
              <a:t>Database Backup and recovery</a:t>
            </a:r>
          </a:p>
        </p:txBody>
      </p:sp>
    </p:spTree>
    <p:extLst>
      <p:ext uri="{BB962C8B-B14F-4D97-AF65-F5344CB8AC3E}">
        <p14:creationId xmlns:p14="http://schemas.microsoft.com/office/powerpoint/2010/main" val="2202915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Database Designer</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8"/>
            <a:ext cx="9813726" cy="4845493"/>
          </a:xfrm>
        </p:spPr>
        <p:txBody>
          <a:bodyPr>
            <a:normAutofit lnSpcReduction="10000"/>
          </a:bodyPr>
          <a:lstStyle/>
          <a:p>
            <a:r>
              <a:rPr lang="en-US" dirty="0"/>
              <a:t>Database designer can be either </a:t>
            </a:r>
            <a:r>
              <a:rPr lang="en-US" i="1" dirty="0"/>
              <a:t>logical database designer</a:t>
            </a:r>
            <a:r>
              <a:rPr lang="en-US" dirty="0"/>
              <a:t> or </a:t>
            </a:r>
            <a:r>
              <a:rPr lang="en-US" i="1" dirty="0"/>
              <a:t>physical database designer</a:t>
            </a:r>
            <a:r>
              <a:rPr lang="en-US" dirty="0"/>
              <a:t>. </a:t>
            </a:r>
          </a:p>
          <a:p>
            <a:r>
              <a:rPr lang="en-US" dirty="0"/>
              <a:t>Logical database designer is concerned with identifying the data, the relationships between the data, and the constraints on the data that is to be stored in the database. </a:t>
            </a:r>
          </a:p>
          <a:p>
            <a:r>
              <a:rPr lang="en-US" dirty="0"/>
              <a:t>The logical database designer must have thorough understanding of the organizations data and its business rule. </a:t>
            </a:r>
          </a:p>
          <a:p>
            <a:r>
              <a:rPr lang="en-US" dirty="0"/>
              <a:t> The logical database designer is responsible for mapping the logical data model into a set of tables and integrity constraints, selecting specific storage structure, and designing security measures required on the data.</a:t>
            </a:r>
          </a:p>
          <a:p>
            <a:r>
              <a:rPr lang="en-US" dirty="0"/>
              <a:t>The physical database designer takes the logical data model and decides the way in which it can be physically implemented.</a:t>
            </a:r>
          </a:p>
        </p:txBody>
      </p:sp>
    </p:spTree>
    <p:extLst>
      <p:ext uri="{BB962C8B-B14F-4D97-AF65-F5344CB8AC3E}">
        <p14:creationId xmlns:p14="http://schemas.microsoft.com/office/powerpoint/2010/main" val="4086604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Database Users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305019"/>
            <a:ext cx="10399652" cy="1752599"/>
          </a:xfrm>
        </p:spPr>
        <p:txBody>
          <a:bodyPr>
            <a:normAutofit/>
          </a:bodyPr>
          <a:lstStyle/>
          <a:p>
            <a:r>
              <a:rPr lang="en-US" dirty="0"/>
              <a:t>Database users are the people who need information from the database to carry out their business responsibility. </a:t>
            </a:r>
          </a:p>
          <a:p>
            <a:r>
              <a:rPr lang="en-US" dirty="0"/>
              <a:t>The database users can be broadly classified into two categories like </a:t>
            </a:r>
            <a:r>
              <a:rPr lang="en-US" b="1" dirty="0"/>
              <a:t>application programmers </a:t>
            </a:r>
            <a:r>
              <a:rPr lang="en-US" dirty="0"/>
              <a:t>and </a:t>
            </a:r>
            <a:r>
              <a:rPr lang="en-US" b="1" dirty="0"/>
              <a:t>end users</a:t>
            </a:r>
            <a:r>
              <a:rPr lang="en-US" dirty="0"/>
              <a:t>.</a:t>
            </a:r>
          </a:p>
        </p:txBody>
      </p:sp>
      <p:pic>
        <p:nvPicPr>
          <p:cNvPr id="1026" name="Picture 2">
            <a:extLst>
              <a:ext uri="{FF2B5EF4-FFF2-40B4-BE49-F238E27FC236}">
                <a16:creationId xmlns:a16="http://schemas.microsoft.com/office/drawing/2014/main" id="{36670AAB-D1D4-4EC3-A392-56F51FA30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6538" y="2968841"/>
            <a:ext cx="9965050" cy="3356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4847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13559"/>
            <a:ext cx="10588123" cy="1752599"/>
          </a:xfrm>
        </p:spPr>
        <p:txBody>
          <a:bodyPr/>
          <a:lstStyle/>
          <a:p>
            <a:r>
              <a:rPr lang="en-US" dirty="0"/>
              <a:t>Database Users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b="1" dirty="0"/>
              <a:t>Sophisticated end users </a:t>
            </a:r>
            <a:r>
              <a:rPr lang="en-US" dirty="0"/>
              <a:t>interact with the system without writing programs. They form requests by writing queries in a database query language. These are submitted to query processor. Analysts who submit queries to explore data in the database fall in this category.</a:t>
            </a:r>
          </a:p>
          <a:p>
            <a:r>
              <a:rPr lang="en-US" b="1" dirty="0"/>
              <a:t>Specialized end users </a:t>
            </a:r>
            <a:r>
              <a:rPr lang="en-US" dirty="0"/>
              <a:t>write specialized database application that does not fit into data-processing frame work. Application involves knowledge base and expert system, environment modeling system, etc.</a:t>
            </a:r>
          </a:p>
          <a:p>
            <a:r>
              <a:rPr lang="en-US" b="1" dirty="0"/>
              <a:t>Naive end user</a:t>
            </a:r>
            <a:r>
              <a:rPr lang="en-US" dirty="0"/>
              <a:t> interact with the system by using permanent application program Example: Query made by the student, namely number of books borrowed in library database.</a:t>
            </a:r>
          </a:p>
        </p:txBody>
      </p:sp>
    </p:spTree>
    <p:extLst>
      <p:ext uri="{BB962C8B-B14F-4D97-AF65-F5344CB8AC3E}">
        <p14:creationId xmlns:p14="http://schemas.microsoft.com/office/powerpoint/2010/main" val="3279088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Definitions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b="1" dirty="0"/>
              <a:t>System analysts </a:t>
            </a:r>
            <a:r>
              <a:rPr lang="en-US" dirty="0"/>
              <a:t>determine the requirements of end user, and develop specification for </a:t>
            </a:r>
            <a:r>
              <a:rPr lang="en-US" i="1" dirty="0"/>
              <a:t>canned transaction </a:t>
            </a:r>
            <a:r>
              <a:rPr lang="en-US" dirty="0"/>
              <a:t>that meets this requirement. </a:t>
            </a:r>
          </a:p>
          <a:p>
            <a:r>
              <a:rPr lang="en-US" b="1" dirty="0"/>
              <a:t>Canned Transaction</a:t>
            </a:r>
            <a:r>
              <a:rPr lang="en-US" dirty="0"/>
              <a:t>: Ready made programs through which naive end users interact with the database.</a:t>
            </a:r>
          </a:p>
          <a:p>
            <a:r>
              <a:rPr lang="en-US" b="1" dirty="0"/>
              <a:t>Application programmers </a:t>
            </a:r>
            <a:r>
              <a:rPr lang="en-US" dirty="0"/>
              <a:t>implement these specifications as programs; then they test, debug, document, and maintain these canned transactions. Such analysts and programmers (nowadays called software engineers) should be familiar with the full range of capabilities provided by the DBMS to accomplish their tasks. </a:t>
            </a:r>
          </a:p>
        </p:txBody>
      </p:sp>
    </p:spTree>
    <p:extLst>
      <p:ext uri="{BB962C8B-B14F-4D97-AF65-F5344CB8AC3E}">
        <p14:creationId xmlns:p14="http://schemas.microsoft.com/office/powerpoint/2010/main" val="203488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 Dictionary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491450"/>
            <a:ext cx="9813726" cy="4971494"/>
          </a:xfrm>
        </p:spPr>
        <p:txBody>
          <a:bodyPr>
            <a:normAutofit/>
          </a:bodyPr>
          <a:lstStyle/>
          <a:p>
            <a:r>
              <a:rPr lang="en-US" dirty="0"/>
              <a:t>A data dictionary, also known as a “system catalog,” is a centralized store of information about the database. </a:t>
            </a:r>
          </a:p>
          <a:p>
            <a:r>
              <a:rPr lang="en-US" dirty="0"/>
              <a:t>It contains information about the tables, the fields of tables, data types, primary keys, indexes, the joins which have been established between those tables, referential integrity, cascades update, cascade delete, etc.</a:t>
            </a:r>
          </a:p>
          <a:p>
            <a:r>
              <a:rPr lang="en-US" dirty="0"/>
              <a:t>The information stored in the data dictionary is called the “</a:t>
            </a:r>
            <a:r>
              <a:rPr lang="en-US" b="1" dirty="0"/>
              <a:t>Metadata</a:t>
            </a:r>
            <a:r>
              <a:rPr lang="en-US" dirty="0"/>
              <a:t>.” Thus a data dictionary can be considered as a file that stores Metadata.</a:t>
            </a:r>
          </a:p>
          <a:p>
            <a:r>
              <a:rPr lang="en-US" dirty="0"/>
              <a:t> </a:t>
            </a:r>
            <a:r>
              <a:rPr lang="en-US" b="1" dirty="0"/>
              <a:t>Metadata</a:t>
            </a:r>
            <a:r>
              <a:rPr lang="en-US" dirty="0"/>
              <a:t>: The information (data) about the data in a database is called Metadata. The Metadata are available for query and manipulation, just as other data in the database.</a:t>
            </a:r>
          </a:p>
        </p:txBody>
      </p:sp>
    </p:spTree>
    <p:extLst>
      <p:ext uri="{BB962C8B-B14F-4D97-AF65-F5344CB8AC3E}">
        <p14:creationId xmlns:p14="http://schemas.microsoft.com/office/powerpoint/2010/main" val="2366025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Database Manager</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fontScale="92500" lnSpcReduction="10000"/>
          </a:bodyPr>
          <a:lstStyle/>
          <a:p>
            <a:r>
              <a:rPr lang="en-US" dirty="0"/>
              <a:t>Database manager is a program module which provides the interface between the low level data stored in the database and the application programs and queries submitted to the system:</a:t>
            </a:r>
          </a:p>
          <a:p>
            <a:pPr>
              <a:buFont typeface="Wingdings" panose="05000000000000000000" pitchFamily="2" charset="2"/>
              <a:buChar char="Ø"/>
            </a:pPr>
            <a:r>
              <a:rPr lang="en-US" dirty="0"/>
              <a:t>The database manager would translate DML statement into low level file system commands for storing, retrieving, and updating data in the database.</a:t>
            </a:r>
          </a:p>
          <a:p>
            <a:pPr>
              <a:buFont typeface="Wingdings" panose="05000000000000000000" pitchFamily="2" charset="2"/>
              <a:buChar char="Ø"/>
            </a:pPr>
            <a:r>
              <a:rPr lang="en-US" dirty="0"/>
              <a:t>Integrity enforcement. Database manager enforces integrity by checking consistency constraints like the bank balance of customer must be maintained to a minimum of 300, etc.</a:t>
            </a:r>
          </a:p>
          <a:p>
            <a:pPr>
              <a:buFont typeface="Wingdings" panose="05000000000000000000" pitchFamily="2" charset="2"/>
              <a:buChar char="Ø"/>
            </a:pPr>
            <a:r>
              <a:rPr lang="en-US" dirty="0"/>
              <a:t>Security enforcement. Unauthorized users are prohibited to view the information stored in the database.</a:t>
            </a:r>
          </a:p>
          <a:p>
            <a:pPr>
              <a:buFont typeface="Wingdings" panose="05000000000000000000" pitchFamily="2" charset="2"/>
              <a:buChar char="Ø"/>
            </a:pPr>
            <a:r>
              <a:rPr lang="en-US" dirty="0"/>
              <a:t>Backup and recovery. Backup and recovery of database is necessary to ensure that the database must remain consistent despite the fact of failures.</a:t>
            </a:r>
          </a:p>
        </p:txBody>
      </p:sp>
    </p:spTree>
    <p:extLst>
      <p:ext uri="{BB962C8B-B14F-4D97-AF65-F5344CB8AC3E}">
        <p14:creationId xmlns:p14="http://schemas.microsoft.com/office/powerpoint/2010/main" val="3673641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840306"/>
            <a:ext cx="10018713" cy="1752599"/>
          </a:xfrm>
        </p:spPr>
        <p:txBody>
          <a:bodyPr/>
          <a:lstStyle/>
          <a:p>
            <a:r>
              <a:rPr lang="en-US" dirty="0"/>
              <a:t>Functional Components of Database System Structure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049380"/>
            <a:ext cx="9813726" cy="3276599"/>
          </a:xfrm>
        </p:spPr>
        <p:txBody>
          <a:bodyPr>
            <a:normAutofit/>
          </a:bodyPr>
          <a:lstStyle/>
          <a:p>
            <a:r>
              <a:rPr lang="en-US" sz="2800" dirty="0"/>
              <a:t>The functional components of database system structure are:</a:t>
            </a:r>
          </a:p>
          <a:p>
            <a:r>
              <a:rPr lang="en-US" sz="2800" dirty="0"/>
              <a:t>A) Storage manager.</a:t>
            </a:r>
          </a:p>
          <a:p>
            <a:r>
              <a:rPr lang="en-US" sz="2800" dirty="0"/>
              <a:t>B) Query processor.</a:t>
            </a:r>
          </a:p>
        </p:txBody>
      </p:sp>
    </p:spTree>
    <p:extLst>
      <p:ext uri="{BB962C8B-B14F-4D97-AF65-F5344CB8AC3E}">
        <p14:creationId xmlns:p14="http://schemas.microsoft.com/office/powerpoint/2010/main" val="3812183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Storage Manager</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929429" y="1887053"/>
            <a:ext cx="9813726" cy="3463921"/>
          </a:xfrm>
        </p:spPr>
        <p:txBody>
          <a:bodyPr>
            <a:normAutofit lnSpcReduction="10000"/>
          </a:bodyPr>
          <a:lstStyle/>
          <a:p>
            <a:r>
              <a:rPr lang="en-US" sz="2800" dirty="0"/>
              <a:t>Storage manager is responsible for storing, retrieving, and updating data in the database. Storage manager components are:</a:t>
            </a:r>
          </a:p>
          <a:p>
            <a:pPr marL="514350" indent="-514350">
              <a:buFont typeface="+mj-lt"/>
              <a:buAutoNum type="arabicPeriod"/>
            </a:pPr>
            <a:r>
              <a:rPr lang="en-US" sz="2800" dirty="0"/>
              <a:t>Authorization and integrity manager.</a:t>
            </a:r>
          </a:p>
          <a:p>
            <a:pPr marL="514350" indent="-514350">
              <a:buFont typeface="+mj-lt"/>
              <a:buAutoNum type="arabicPeriod"/>
            </a:pPr>
            <a:r>
              <a:rPr lang="en-US" sz="2800" dirty="0"/>
              <a:t>Transaction manager.</a:t>
            </a:r>
          </a:p>
          <a:p>
            <a:pPr marL="514350" indent="-514350">
              <a:buFont typeface="+mj-lt"/>
              <a:buAutoNum type="arabicPeriod"/>
            </a:pPr>
            <a:r>
              <a:rPr lang="en-US" sz="2800" dirty="0"/>
              <a:t>File manager.</a:t>
            </a:r>
          </a:p>
          <a:p>
            <a:pPr marL="514350" indent="-514350">
              <a:buFont typeface="+mj-lt"/>
              <a:buAutoNum type="arabicPeriod"/>
            </a:pPr>
            <a:r>
              <a:rPr lang="en-US" sz="2800" dirty="0"/>
              <a:t>Buffer manager.</a:t>
            </a:r>
          </a:p>
        </p:txBody>
      </p:sp>
    </p:spTree>
    <p:extLst>
      <p:ext uri="{BB962C8B-B14F-4D97-AF65-F5344CB8AC3E}">
        <p14:creationId xmlns:p14="http://schemas.microsoft.com/office/powerpoint/2010/main" val="1071761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96425" y="400784"/>
            <a:ext cx="10018713" cy="1752599"/>
          </a:xfrm>
        </p:spPr>
        <p:txBody>
          <a:bodyPr/>
          <a:lstStyle/>
          <a:p>
            <a:r>
              <a:rPr lang="en-US" dirty="0"/>
              <a:t>1-Authorization and Integrity Manager</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246050"/>
            <a:ext cx="9813726" cy="3400771"/>
          </a:xfrm>
        </p:spPr>
        <p:txBody>
          <a:bodyPr>
            <a:normAutofit/>
          </a:bodyPr>
          <a:lstStyle/>
          <a:p>
            <a:r>
              <a:rPr lang="en-US" sz="2800" dirty="0"/>
              <a:t>Checks the integrity constraints and authority of users to access data.</a:t>
            </a:r>
          </a:p>
          <a:p>
            <a:endParaRPr lang="en-US" sz="2800" dirty="0"/>
          </a:p>
        </p:txBody>
      </p:sp>
    </p:spTree>
    <p:extLst>
      <p:ext uri="{BB962C8B-B14F-4D97-AF65-F5344CB8AC3E}">
        <p14:creationId xmlns:p14="http://schemas.microsoft.com/office/powerpoint/2010/main" val="2905332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2-Transaction Manager</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9"/>
            <a:ext cx="9813726" cy="5440177"/>
          </a:xfrm>
        </p:spPr>
        <p:txBody>
          <a:bodyPr>
            <a:normAutofit/>
          </a:bodyPr>
          <a:lstStyle/>
          <a:p>
            <a:r>
              <a:rPr lang="en-US" dirty="0"/>
              <a:t>It ensures that the database remains in a consistent state despite system failures. The transaction manager manages the execution of database manipulation requests. The transaction manager function is to ensure that concurrent access to data does not result in conflict.</a:t>
            </a:r>
          </a:p>
          <a:p>
            <a:r>
              <a:rPr lang="en-US" b="1" dirty="0"/>
              <a:t>Transaction Management</a:t>
            </a:r>
          </a:p>
          <a:p>
            <a:pPr lvl="1"/>
            <a:r>
              <a:rPr lang="en-US" dirty="0"/>
              <a:t> A transaction is a collection of operations that performs a single logical function in a database application.</a:t>
            </a:r>
          </a:p>
          <a:p>
            <a:pPr lvl="1"/>
            <a:r>
              <a:rPr lang="en-US" dirty="0"/>
              <a:t> Transaction-management component ensures that the database remains in a consistent state despite system failures and transaction failure.</a:t>
            </a:r>
          </a:p>
          <a:p>
            <a:pPr lvl="1"/>
            <a:r>
              <a:rPr lang="en-US" dirty="0"/>
              <a:t> Concurrency control manager controls the interaction among the concurrent transactions, to ensure the consistency of the database.</a:t>
            </a:r>
          </a:p>
        </p:txBody>
      </p:sp>
    </p:spTree>
    <p:extLst>
      <p:ext uri="{BB962C8B-B14F-4D97-AF65-F5344CB8AC3E}">
        <p14:creationId xmlns:p14="http://schemas.microsoft.com/office/powerpoint/2010/main" val="853690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3- File Manager</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36923" y="1550169"/>
            <a:ext cx="9813726" cy="4970947"/>
          </a:xfrm>
        </p:spPr>
        <p:txBody>
          <a:bodyPr>
            <a:normAutofit/>
          </a:bodyPr>
          <a:lstStyle/>
          <a:p>
            <a:r>
              <a:rPr lang="en-US" dirty="0"/>
              <a:t>File manager manages the allocation of space on disk storage. </a:t>
            </a:r>
          </a:p>
          <a:p>
            <a:r>
              <a:rPr lang="en-US" dirty="0"/>
              <a:t>A file management system manages independent files, helping to enter and retrieve information records.</a:t>
            </a:r>
          </a:p>
          <a:p>
            <a:r>
              <a:rPr lang="en-US" dirty="0"/>
              <a:t>File manager establishes and maintains the list of structure and indexes defined in the internal schema. </a:t>
            </a:r>
          </a:p>
          <a:p>
            <a:r>
              <a:rPr lang="en-US" dirty="0"/>
              <a:t>The file manager can:</a:t>
            </a:r>
          </a:p>
          <a:p>
            <a:pPr lvl="1"/>
            <a:r>
              <a:rPr lang="en-US" dirty="0"/>
              <a:t>Create a file</a:t>
            </a:r>
          </a:p>
          <a:p>
            <a:pPr lvl="1"/>
            <a:r>
              <a:rPr lang="en-US" dirty="0"/>
              <a:t>Delete a file</a:t>
            </a:r>
          </a:p>
          <a:p>
            <a:pPr lvl="1"/>
            <a:r>
              <a:rPr lang="en-US" dirty="0"/>
              <a:t>Update the record in the file</a:t>
            </a:r>
          </a:p>
          <a:p>
            <a:pPr lvl="1"/>
            <a:r>
              <a:rPr lang="en-US" dirty="0"/>
              <a:t>Retrieve a record from a file</a:t>
            </a:r>
          </a:p>
        </p:txBody>
      </p:sp>
    </p:spTree>
    <p:extLst>
      <p:ext uri="{BB962C8B-B14F-4D97-AF65-F5344CB8AC3E}">
        <p14:creationId xmlns:p14="http://schemas.microsoft.com/office/powerpoint/2010/main" val="3674282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4- Buffer Manager</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77453"/>
            <a:ext cx="9813726" cy="5580547"/>
          </a:xfrm>
        </p:spPr>
        <p:txBody>
          <a:bodyPr>
            <a:normAutofit fontScale="92500" lnSpcReduction="10000"/>
          </a:bodyPr>
          <a:lstStyle/>
          <a:p>
            <a:r>
              <a:rPr lang="en-US" b="1" dirty="0"/>
              <a:t>Buffer</a:t>
            </a:r>
            <a:r>
              <a:rPr lang="en-US" dirty="0"/>
              <a:t>: The area into which a block from the file is read is termed a buffer. The management of buffers has the objective of maximizing the performance or the utilization of the secondary storage systems, while at the same time keeping the demand on CPU resources tolerably low. The use of two or more buffers for a file allows the transfer of data to be overlapped with the processing of data.</a:t>
            </a:r>
          </a:p>
          <a:p>
            <a:r>
              <a:rPr lang="en-US" b="1" dirty="0"/>
              <a:t>Buffer manager </a:t>
            </a:r>
            <a:r>
              <a:rPr lang="en-US" dirty="0"/>
              <a:t>is responsible for fetching data from disk storage into main memory. Programs call on the buffer manager when they need a block from disk. The requesting program is given the address of the block in main memory, if it is already present in the buffer. If the block is not in the buffer, the buffer manager allocates space in the buffer for the block, replacing some other block, if required, to make space for new block. Once space is allocated in the buffer, the buffer manager reads in the block from the disk to the buffer, and passes the address of the block in main memory to the requester.</a:t>
            </a:r>
          </a:p>
          <a:p>
            <a:r>
              <a:rPr lang="en-US" b="1" dirty="0"/>
              <a:t>Indices</a:t>
            </a:r>
            <a:r>
              <a:rPr lang="en-US" dirty="0"/>
              <a:t>: Indices provide fast access to data items that hold particular values. An index is a list of numerical values which gives the order of the records when they are sorted on a particular field or column of the table.</a:t>
            </a:r>
          </a:p>
        </p:txBody>
      </p:sp>
    </p:spTree>
    <p:extLst>
      <p:ext uri="{BB962C8B-B14F-4D97-AF65-F5344CB8AC3E}">
        <p14:creationId xmlns:p14="http://schemas.microsoft.com/office/powerpoint/2010/main" val="1913958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b) Query Processor</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3"/>
            <a:ext cx="9813726" cy="4658126"/>
          </a:xfrm>
        </p:spPr>
        <p:txBody>
          <a:bodyPr>
            <a:normAutofit lnSpcReduction="10000"/>
          </a:bodyPr>
          <a:lstStyle/>
          <a:p>
            <a:r>
              <a:rPr lang="en-US" dirty="0"/>
              <a:t>The query processor in a database management system receives as input a query request in the form of SQL text, parses it, generates an execution plan, and completes the processing by executing the plan and returning the results to the client.</a:t>
            </a:r>
          </a:p>
          <a:p>
            <a:r>
              <a:rPr lang="en-US" b="1" dirty="0"/>
              <a:t>DDL Interpreter</a:t>
            </a:r>
            <a:r>
              <a:rPr lang="en-US" dirty="0"/>
              <a:t>: It interprets the DDL statements and records the definitions in data dictionary. </a:t>
            </a:r>
          </a:p>
          <a:p>
            <a:r>
              <a:rPr lang="en-US" b="1" dirty="0"/>
              <a:t>DML Compiler</a:t>
            </a:r>
            <a:r>
              <a:rPr lang="en-US" dirty="0"/>
              <a:t>: It translates the DML statements in a query language into an evaluation plan consisting of low-level instructions that the query evaluation understands. It also performs query optimization which actually picks up the lowest cost evaluation plan from various alternatives.</a:t>
            </a:r>
          </a:p>
          <a:p>
            <a:r>
              <a:rPr lang="en-US" b="1" dirty="0"/>
              <a:t>Query Evaluation Engine</a:t>
            </a:r>
            <a:r>
              <a:rPr lang="en-US" dirty="0"/>
              <a:t>: It executes the low-level instruction compiled by the DML compiler.</a:t>
            </a:r>
          </a:p>
        </p:txBody>
      </p:sp>
    </p:spTree>
    <p:extLst>
      <p:ext uri="{BB962C8B-B14F-4D97-AF65-F5344CB8AC3E}">
        <p14:creationId xmlns:p14="http://schemas.microsoft.com/office/powerpoint/2010/main" val="1364871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597468"/>
            <a:ext cx="10018713" cy="1752599"/>
          </a:xfrm>
        </p:spPr>
        <p:txBody>
          <a:bodyPr/>
          <a:lstStyle/>
          <a:p>
            <a:r>
              <a:rPr lang="en-US" dirty="0"/>
              <a:t>Database Architecture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3"/>
            <a:ext cx="9813726" cy="3497179"/>
          </a:xfrm>
        </p:spPr>
        <p:txBody>
          <a:bodyPr>
            <a:normAutofit/>
          </a:bodyPr>
          <a:lstStyle/>
          <a:p>
            <a:r>
              <a:rPr lang="en-US" sz="2800" dirty="0"/>
              <a:t>Database architecture essentially describes the location of all the pieces of information that make up the database application. </a:t>
            </a:r>
          </a:p>
          <a:p>
            <a:r>
              <a:rPr lang="en-US" sz="2800" dirty="0"/>
              <a:t>The database architecture can be broadly classified into two-, three-, and multitier architecture. </a:t>
            </a:r>
          </a:p>
        </p:txBody>
      </p:sp>
    </p:spTree>
    <p:extLst>
      <p:ext uri="{BB962C8B-B14F-4D97-AF65-F5344CB8AC3E}">
        <p14:creationId xmlns:p14="http://schemas.microsoft.com/office/powerpoint/2010/main" val="1072867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375086"/>
            <a:ext cx="10018713" cy="1752599"/>
          </a:xfrm>
        </p:spPr>
        <p:txBody>
          <a:bodyPr/>
          <a:lstStyle/>
          <a:p>
            <a:r>
              <a:rPr lang="en-US" dirty="0"/>
              <a:t>Two-Tier Architecture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4"/>
            <a:ext cx="9813726" cy="3839044"/>
          </a:xfrm>
        </p:spPr>
        <p:txBody>
          <a:bodyPr>
            <a:normAutofit/>
          </a:bodyPr>
          <a:lstStyle/>
          <a:p>
            <a:r>
              <a:rPr lang="en-US" dirty="0"/>
              <a:t>The two-tier architecture is a client–server architecture in which the client contains the presentation code and the SQL statements for data access. The database server processes the SQL statements and sends query results back to the client. The two-tier architecture is shown in next figure.</a:t>
            </a:r>
          </a:p>
          <a:p>
            <a:r>
              <a:rPr lang="en-US" dirty="0"/>
              <a:t>	Two-tier client/server provides a basic separation of tasks. The client, or first tier, is primarily responsible for the presentation of data to the user and the “server,” or second tier, is primarily responsible for supplying data services to the client. </a:t>
            </a:r>
          </a:p>
        </p:txBody>
      </p:sp>
    </p:spTree>
    <p:extLst>
      <p:ext uri="{BB962C8B-B14F-4D97-AF65-F5344CB8AC3E}">
        <p14:creationId xmlns:p14="http://schemas.microsoft.com/office/powerpoint/2010/main" val="1507299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Two-Tier Architecture (cont.)</a:t>
            </a:r>
          </a:p>
        </p:txBody>
      </p:sp>
      <p:pic>
        <p:nvPicPr>
          <p:cNvPr id="2050" name="Picture 2">
            <a:extLst>
              <a:ext uri="{FF2B5EF4-FFF2-40B4-BE49-F238E27FC236}">
                <a16:creationId xmlns:a16="http://schemas.microsoft.com/office/drawing/2014/main" id="{41F316CF-1043-443F-9CEB-D3C85DCAF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4612" y="1554331"/>
            <a:ext cx="7600952" cy="4343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a:extLst>
              <a:ext uri="{FF2B5EF4-FFF2-40B4-BE49-F238E27FC236}">
                <a16:creationId xmlns:a16="http://schemas.microsoft.com/office/drawing/2014/main" id="{29CD7924-4CE5-414D-9113-A8829CDB7E5D}"/>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2744015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Two-Tier Architecture (cont.)</a:t>
            </a:r>
          </a:p>
        </p:txBody>
      </p:sp>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a:xfrm>
            <a:off x="1531935" y="1638479"/>
            <a:ext cx="10018713" cy="4545831"/>
          </a:xfrm>
        </p:spPr>
        <p:txBody>
          <a:bodyPr>
            <a:normAutofit/>
          </a:bodyPr>
          <a:lstStyle/>
          <a:p>
            <a:pPr lvl="1"/>
            <a:r>
              <a:rPr lang="en-US" sz="2400" b="1" dirty="0"/>
              <a:t>Presentation Services </a:t>
            </a:r>
            <a:r>
              <a:rPr lang="en-US" sz="2400" dirty="0"/>
              <a:t>refer to the portion of the application which presents data to the user. </a:t>
            </a:r>
            <a:endParaRPr lang="en-AU" sz="2400" dirty="0"/>
          </a:p>
          <a:p>
            <a:pPr lvl="1"/>
            <a:r>
              <a:rPr lang="en-US" sz="2400" b="1" dirty="0"/>
              <a:t>Business services</a:t>
            </a:r>
            <a:r>
              <a:rPr lang="en-US" sz="2400" dirty="0"/>
              <a:t> encapsulate an organizations business processes and requirements. </a:t>
            </a:r>
            <a:endParaRPr lang="en-AU" sz="2400" dirty="0"/>
          </a:p>
          <a:p>
            <a:pPr lvl="1"/>
            <a:r>
              <a:rPr lang="en-US" sz="2400" b="1" dirty="0"/>
              <a:t>Application Services </a:t>
            </a:r>
            <a:r>
              <a:rPr lang="en-US" sz="2400" dirty="0"/>
              <a:t>provide other functions necessary for the application.</a:t>
            </a:r>
            <a:endParaRPr lang="en-AU" sz="2400" dirty="0"/>
          </a:p>
          <a:p>
            <a:pPr lvl="1"/>
            <a:r>
              <a:rPr lang="en-US" sz="2400" b="1" dirty="0"/>
              <a:t>Data Services </a:t>
            </a:r>
            <a:r>
              <a:rPr lang="en-US" sz="2400" dirty="0"/>
              <a:t>provide access to data independent of their location. </a:t>
            </a:r>
            <a:endParaRPr lang="en-AU" sz="2400" dirty="0"/>
          </a:p>
        </p:txBody>
      </p:sp>
    </p:spTree>
    <p:extLst>
      <p:ext uri="{BB962C8B-B14F-4D97-AF65-F5344CB8AC3E}">
        <p14:creationId xmlns:p14="http://schemas.microsoft.com/office/powerpoint/2010/main" val="1271339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84310" y="258741"/>
            <a:ext cx="10018713" cy="1752599"/>
          </a:xfrm>
        </p:spPr>
        <p:txBody>
          <a:bodyPr/>
          <a:lstStyle/>
          <a:p>
            <a:r>
              <a:rPr lang="en-US" dirty="0"/>
              <a:t>Three-tier Architecture </a:t>
            </a:r>
          </a:p>
        </p:txBody>
      </p:sp>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a:xfrm>
            <a:off x="1484310" y="1855433"/>
            <a:ext cx="10018713" cy="3935767"/>
          </a:xfrm>
        </p:spPr>
        <p:txBody>
          <a:bodyPr>
            <a:normAutofit/>
          </a:bodyPr>
          <a:lstStyle/>
          <a:p>
            <a:r>
              <a:rPr lang="en-US" dirty="0"/>
              <a:t>A “Multitier,” often referred to as “three-tier” or “N-tier,” architecture provides greater application scalability lower maintenance, and increased reuse of components. </a:t>
            </a:r>
          </a:p>
          <a:p>
            <a:r>
              <a:rPr lang="en-US" dirty="0"/>
              <a:t>The three-tier architecture is shown in next figure, offers a technology neutral method of building client/server applications with vendors who employ standard interfaces which provide services for each logical “tier”. </a:t>
            </a:r>
            <a:endParaRPr lang="en-AU" dirty="0"/>
          </a:p>
        </p:txBody>
      </p:sp>
    </p:spTree>
    <p:extLst>
      <p:ext uri="{BB962C8B-B14F-4D97-AF65-F5344CB8AC3E}">
        <p14:creationId xmlns:p14="http://schemas.microsoft.com/office/powerpoint/2010/main" val="770391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84310" y="258741"/>
            <a:ext cx="10018713" cy="1752599"/>
          </a:xfrm>
        </p:spPr>
        <p:txBody>
          <a:bodyPr/>
          <a:lstStyle/>
          <a:p>
            <a:r>
              <a:rPr lang="en-US" dirty="0"/>
              <a:t>Three-tier Architecture </a:t>
            </a:r>
          </a:p>
        </p:txBody>
      </p:sp>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p:txBody>
          <a:bodyPr>
            <a:normAutofit/>
          </a:bodyPr>
          <a:lstStyle/>
          <a:p>
            <a:endParaRPr lang="en-AU" dirty="0"/>
          </a:p>
        </p:txBody>
      </p:sp>
      <p:pic>
        <p:nvPicPr>
          <p:cNvPr id="3074" name="Picture 2">
            <a:extLst>
              <a:ext uri="{FF2B5EF4-FFF2-40B4-BE49-F238E27FC236}">
                <a16:creationId xmlns:a16="http://schemas.microsoft.com/office/drawing/2014/main" id="{C92C20CC-447F-4C65-9B06-F1706FA12E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6650" y="1918869"/>
            <a:ext cx="48387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1132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Definitions</a:t>
            </a:r>
          </a:p>
        </p:txBody>
      </p:sp>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a:xfrm>
            <a:off x="1484310" y="1731146"/>
            <a:ext cx="10018713" cy="4483223"/>
          </a:xfrm>
        </p:spPr>
        <p:txBody>
          <a:bodyPr>
            <a:normAutofit fontScale="92500"/>
          </a:bodyPr>
          <a:lstStyle/>
          <a:p>
            <a:r>
              <a:rPr lang="en-US" dirty="0"/>
              <a:t>A data definition language (DDL) is a language for defining, or declaring, database objects. </a:t>
            </a:r>
            <a:endParaRPr lang="en-AU" dirty="0"/>
          </a:p>
          <a:p>
            <a:r>
              <a:rPr lang="en-US" dirty="0"/>
              <a:t>A data manipulation language (DML) is a language for "manipulating" or processing database objects. </a:t>
            </a:r>
            <a:endParaRPr lang="en-AU" dirty="0"/>
          </a:p>
          <a:p>
            <a:r>
              <a:rPr lang="en-US" dirty="0"/>
              <a:t>A data sublanguage (DSL) is that portion of a given language that's concerned specifically with database objects and operations.</a:t>
            </a:r>
            <a:endParaRPr lang="en-AU" dirty="0"/>
          </a:p>
          <a:p>
            <a:r>
              <a:rPr lang="en-US" dirty="0"/>
              <a:t>A host language is a language in which a data sublanguage is embedded. The host language is responsible for providing various </a:t>
            </a:r>
            <a:r>
              <a:rPr lang="en-US" dirty="0" err="1"/>
              <a:t>nondatabase</a:t>
            </a:r>
            <a:r>
              <a:rPr lang="en-US" dirty="0"/>
              <a:t> facilities, such as I/O operations, local variables, computational operations, if-then-else logic, and so on.</a:t>
            </a:r>
            <a:endParaRPr lang="en-AU" dirty="0"/>
          </a:p>
          <a:p>
            <a:r>
              <a:rPr lang="en-US" dirty="0"/>
              <a:t>The server is the term used to refer to the hardware platform the DBMS runs on, especially when that platform is distinct from the one the clients run on. </a:t>
            </a:r>
            <a:endParaRPr lang="en-AU" dirty="0"/>
          </a:p>
        </p:txBody>
      </p:sp>
    </p:spTree>
    <p:extLst>
      <p:ext uri="{BB962C8B-B14F-4D97-AF65-F5344CB8AC3E}">
        <p14:creationId xmlns:p14="http://schemas.microsoft.com/office/powerpoint/2010/main" val="480083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Definitions</a:t>
            </a:r>
          </a:p>
        </p:txBody>
      </p:sp>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a:xfrm>
            <a:off x="1484310" y="1731146"/>
            <a:ext cx="10018713" cy="4483223"/>
          </a:xfrm>
        </p:spPr>
        <p:txBody>
          <a:bodyPr>
            <a:normAutofit lnSpcReduction="10000"/>
          </a:bodyPr>
          <a:lstStyle/>
          <a:p>
            <a:r>
              <a:rPr lang="en-US" dirty="0"/>
              <a:t>Back end: Same as server. </a:t>
            </a:r>
            <a:endParaRPr lang="en-AU" dirty="0"/>
          </a:p>
          <a:p>
            <a:r>
              <a:rPr lang="en-US" dirty="0"/>
              <a:t>A client is an application that runs on top of the DBMS. The term is also used to refer to the hardware platform the client application runs on, especially when that platform is distinct from the one the server runs on.</a:t>
            </a:r>
            <a:endParaRPr lang="en-AU" dirty="0"/>
          </a:p>
          <a:p>
            <a:r>
              <a:rPr lang="en-US" dirty="0"/>
              <a:t>Front end: Same as client. </a:t>
            </a:r>
            <a:endParaRPr lang="en-AU" dirty="0"/>
          </a:p>
          <a:p>
            <a:r>
              <a:rPr lang="en-US" dirty="0"/>
              <a:t>A distributed database is a database that is logically centralized but physically distributed across many distinct physical sites. </a:t>
            </a:r>
            <a:endParaRPr lang="en-AU" dirty="0"/>
          </a:p>
          <a:p>
            <a:r>
              <a:rPr lang="en-US" dirty="0"/>
              <a:t>Distributed processing means that distinct machines can be connected together into some kind of communications network, in such a way that a single data processing task can be spread across several machines in the network (and, typically, carried out in parallel).</a:t>
            </a:r>
            <a:endParaRPr lang="en-AU" dirty="0"/>
          </a:p>
        </p:txBody>
      </p:sp>
    </p:spTree>
    <p:extLst>
      <p:ext uri="{BB962C8B-B14F-4D97-AF65-F5344CB8AC3E}">
        <p14:creationId xmlns:p14="http://schemas.microsoft.com/office/powerpoint/2010/main" val="36513413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3514</TotalTime>
  <Words>1939</Words>
  <Application>Microsoft Office PowerPoint</Application>
  <PresentationFormat>Widescreen</PresentationFormat>
  <Paragraphs>112</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Corbel</vt:lpstr>
      <vt:lpstr>Wingdings</vt:lpstr>
      <vt:lpstr>Parallax</vt:lpstr>
      <vt:lpstr>Database Systems I</vt:lpstr>
      <vt:lpstr>People Interacting with Database</vt:lpstr>
      <vt:lpstr>Database Administrator</vt:lpstr>
      <vt:lpstr>Responsibilities of Database Administrator (DBA) </vt:lpstr>
      <vt:lpstr>Database Designer</vt:lpstr>
      <vt:lpstr>Database Users</vt:lpstr>
      <vt:lpstr>Database Users (cont.)</vt:lpstr>
      <vt:lpstr>Definitions</vt:lpstr>
      <vt:lpstr>Data Dictionary</vt:lpstr>
      <vt:lpstr>Database Manager</vt:lpstr>
      <vt:lpstr>Functional Components of Database System Structure</vt:lpstr>
      <vt:lpstr>Storage Manager</vt:lpstr>
      <vt:lpstr>1-Authorization and Integrity Manager</vt:lpstr>
      <vt:lpstr>2-Transaction Manager</vt:lpstr>
      <vt:lpstr>3- File Manager</vt:lpstr>
      <vt:lpstr>4- Buffer Manager</vt:lpstr>
      <vt:lpstr>b) Query Processor</vt:lpstr>
      <vt:lpstr>Database Architecture</vt:lpstr>
      <vt:lpstr>Two-Tier Architecture</vt:lpstr>
      <vt:lpstr>Two-Tier Architecture (cont.)</vt:lpstr>
      <vt:lpstr>Two-Tier Architecture (cont.)</vt:lpstr>
      <vt:lpstr>Three-tier Architecture </vt:lpstr>
      <vt:lpstr>Three-tier Architecture </vt:lpstr>
      <vt:lpstr>Definitions</vt:lpstr>
      <vt:lpstr>Definitions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 network connectivity issues</dc:title>
  <dc:creator>Rasool Al-Saadi</dc:creator>
  <cp:lastModifiedBy>Rasool Al-Saadi</cp:lastModifiedBy>
  <cp:revision>140</cp:revision>
  <dcterms:created xsi:type="dcterms:W3CDTF">2020-02-18T05:03:49Z</dcterms:created>
  <dcterms:modified xsi:type="dcterms:W3CDTF">2020-12-26T13:45:40Z</dcterms:modified>
</cp:coreProperties>
</file>