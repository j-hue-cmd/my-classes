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74" r:id="rId3"/>
    <p:sldId id="311" r:id="rId4"/>
    <p:sldId id="293" r:id="rId5"/>
    <p:sldId id="294" r:id="rId6"/>
    <p:sldId id="295" r:id="rId7"/>
    <p:sldId id="296"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325" r:id="rId21"/>
    <p:sldId id="326" r:id="rId22"/>
    <p:sldId id="327" r:id="rId23"/>
    <p:sldId id="328" r:id="rId24"/>
    <p:sldId id="329" r:id="rId25"/>
    <p:sldId id="330" r:id="rId26"/>
    <p:sldId id="331" r:id="rId27"/>
    <p:sldId id="332" r:id="rId28"/>
    <p:sldId id="333" r:id="rId29"/>
    <p:sldId id="334" r:id="rId30"/>
    <p:sldId id="335" r:id="rId31"/>
    <p:sldId id="33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38" autoAdjust="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AU" dirty="0"/>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5" name="Footer Placeholder 4"/>
          <p:cNvSpPr>
            <a:spLocks noGrp="1"/>
          </p:cNvSpPr>
          <p:nvPr>
            <p:ph type="ftr" sz="quarter" idx="11"/>
          </p:nvPr>
        </p:nvSpPr>
        <p:spPr>
          <a:xfrm>
            <a:off x="5332412" y="5883275"/>
            <a:ext cx="4324044" cy="365125"/>
          </a:xfrm>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28453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a:xfrm>
            <a:off x="10951856" y="5867131"/>
            <a:ext cx="551167" cy="365125"/>
          </a:xfrm>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893890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932139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2054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784649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418546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8635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669406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3608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069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677619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23524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60458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23604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95815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83560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5/04/2023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28317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3400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2BE6EF5-D501-45B9-BF1D-4F3958A2C023}" type="datetimeFigureOut">
              <a:rPr lang="en-AU" smtClean="0"/>
              <a:t>5/04/2023</a:t>
            </a:fld>
            <a:endParaRPr lang="en-AU"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DA86AD4-3B45-4902-8FDB-DE84D31C86CD}" type="slidenum">
              <a:rPr lang="en-AU" smtClean="0"/>
              <a:t>‹#›</a:t>
            </a:fld>
            <a:endParaRPr lang="en-AU" dirty="0"/>
          </a:p>
        </p:txBody>
      </p:sp>
    </p:spTree>
    <p:extLst>
      <p:ext uri="{BB962C8B-B14F-4D97-AF65-F5344CB8AC3E}">
        <p14:creationId xmlns:p14="http://schemas.microsoft.com/office/powerpoint/2010/main" val="2986099449"/>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B6A14-583D-428B-BCEA-39BC26517A96}"/>
              </a:ext>
            </a:extLst>
          </p:cNvPr>
          <p:cNvSpPr>
            <a:spLocks noGrp="1"/>
          </p:cNvSpPr>
          <p:nvPr>
            <p:ph type="ctrTitle"/>
          </p:nvPr>
        </p:nvSpPr>
        <p:spPr>
          <a:xfrm>
            <a:off x="2820918" y="0"/>
            <a:ext cx="8574622" cy="2616199"/>
          </a:xfrm>
        </p:spPr>
        <p:txBody>
          <a:bodyPr/>
          <a:lstStyle/>
          <a:p>
            <a:pPr algn="ctr"/>
            <a:r>
              <a:rPr lang="en-AU" dirty="0"/>
              <a:t>Database Systems 2</a:t>
            </a:r>
          </a:p>
        </p:txBody>
      </p:sp>
      <p:sp>
        <p:nvSpPr>
          <p:cNvPr id="3" name="Subtitle 2">
            <a:extLst>
              <a:ext uri="{FF2B5EF4-FFF2-40B4-BE49-F238E27FC236}">
                <a16:creationId xmlns:a16="http://schemas.microsoft.com/office/drawing/2014/main" id="{E9053E97-050B-432A-8023-71AA641A2B49}"/>
              </a:ext>
            </a:extLst>
          </p:cNvPr>
          <p:cNvSpPr>
            <a:spLocks noGrp="1"/>
          </p:cNvSpPr>
          <p:nvPr>
            <p:ph type="subTitle" idx="1"/>
          </p:nvPr>
        </p:nvSpPr>
        <p:spPr>
          <a:xfrm>
            <a:off x="4138863" y="2782682"/>
            <a:ext cx="6481012" cy="3842708"/>
          </a:xfrm>
        </p:spPr>
        <p:txBody>
          <a:bodyPr>
            <a:normAutofit/>
          </a:bodyPr>
          <a:lstStyle/>
          <a:p>
            <a:pPr algn="ctr"/>
            <a:r>
              <a:rPr lang="en-US" b="1" dirty="0"/>
              <a:t>Dr. Rasool Hisham</a:t>
            </a:r>
          </a:p>
          <a:p>
            <a:pPr algn="ctr"/>
            <a:r>
              <a:rPr lang="en-US" b="1" dirty="0"/>
              <a:t>For 3</a:t>
            </a:r>
            <a:r>
              <a:rPr lang="en-US" b="1" baseline="30000" dirty="0"/>
              <a:t>rd</a:t>
            </a:r>
            <a:r>
              <a:rPr lang="en-US" b="1" dirty="0"/>
              <a:t> year students, 2</a:t>
            </a:r>
            <a:r>
              <a:rPr lang="en-US" b="1" baseline="30000" dirty="0"/>
              <a:t>nd</a:t>
            </a:r>
            <a:r>
              <a:rPr lang="en-US" b="1" dirty="0"/>
              <a:t> semester</a:t>
            </a:r>
          </a:p>
          <a:p>
            <a:pPr algn="l"/>
            <a:endParaRPr lang="en-US" b="1" dirty="0"/>
          </a:p>
          <a:p>
            <a:pPr algn="l"/>
            <a:r>
              <a:rPr lang="en-US" b="1" dirty="0"/>
              <a:t>Al-</a:t>
            </a:r>
            <a:r>
              <a:rPr lang="en-US" b="1" dirty="0" err="1"/>
              <a:t>Nahrain</a:t>
            </a:r>
            <a:r>
              <a:rPr lang="en-US" b="1" dirty="0"/>
              <a:t> University</a:t>
            </a:r>
          </a:p>
          <a:p>
            <a:pPr algn="l"/>
            <a:r>
              <a:rPr lang="en-US" b="1" dirty="0"/>
              <a:t>College of Science</a:t>
            </a:r>
          </a:p>
          <a:p>
            <a:pPr algn="l"/>
            <a:r>
              <a:rPr lang="en-US" b="1" dirty="0"/>
              <a:t>Computer Science Department</a:t>
            </a:r>
          </a:p>
        </p:txBody>
      </p:sp>
    </p:spTree>
    <p:extLst>
      <p:ext uri="{BB962C8B-B14F-4D97-AF65-F5344CB8AC3E}">
        <p14:creationId xmlns:p14="http://schemas.microsoft.com/office/powerpoint/2010/main" val="256319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CB23D-5EEF-4B0C-BC86-F26DF1B552B8}"/>
              </a:ext>
            </a:extLst>
          </p:cNvPr>
          <p:cNvSpPr>
            <a:spLocks noGrp="1"/>
          </p:cNvSpPr>
          <p:nvPr>
            <p:ph type="title"/>
          </p:nvPr>
        </p:nvSpPr>
        <p:spPr>
          <a:xfrm>
            <a:off x="1484310" y="2552700"/>
            <a:ext cx="10018713" cy="1752599"/>
          </a:xfrm>
        </p:spPr>
        <p:txBody>
          <a:bodyPr>
            <a:normAutofit/>
          </a:bodyPr>
          <a:lstStyle/>
          <a:p>
            <a:r>
              <a:rPr lang="en-US" sz="3100" b="1" dirty="0">
                <a:ea typeface="Times New Roman" panose="02020603050405020304" pitchFamily="18" charset="0"/>
              </a:rPr>
              <a:t>Database II - </a:t>
            </a:r>
            <a:r>
              <a:rPr lang="en-US" sz="3100" b="1">
                <a:ea typeface="Times New Roman" panose="02020603050405020304" pitchFamily="18" charset="0"/>
              </a:rPr>
              <a:t>Lecture 6</a:t>
            </a:r>
            <a:br>
              <a:rPr lang="en-US" b="1" dirty="0">
                <a:ea typeface="Times New Roman" panose="02020603050405020304" pitchFamily="18" charset="0"/>
              </a:rPr>
            </a:br>
            <a:r>
              <a:rPr lang="en-US" b="1" dirty="0"/>
              <a:t>Transaction Processing</a:t>
            </a:r>
            <a:endParaRPr lang="en-AU" b="1" dirty="0"/>
          </a:p>
        </p:txBody>
      </p:sp>
    </p:spTree>
    <p:extLst>
      <p:ext uri="{BB962C8B-B14F-4D97-AF65-F5344CB8AC3E}">
        <p14:creationId xmlns:p14="http://schemas.microsoft.com/office/powerpoint/2010/main" val="1835116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272715"/>
            <a:ext cx="10018713" cy="1502043"/>
          </a:xfrm>
        </p:spPr>
        <p:txBody>
          <a:bodyPr/>
          <a:lstStyle/>
          <a:p>
            <a:r>
              <a:rPr lang="en-US" b="1" dirty="0"/>
              <a:t>Introduction</a:t>
            </a: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lnSpcReduction="10000"/>
          </a:bodyPr>
          <a:lstStyle/>
          <a:p>
            <a:r>
              <a:rPr lang="en-US" dirty="0"/>
              <a:t>Managing Data is the critical role in each and every organization. To achieve the hike in business they need to manage data efficiently. DBMS provides a better environment to store and retrieve the data in an economical and efficient manner. User can store and retrieve data through various sets of instructions. These sets of instructions do several read and write operations on database. These processes are denoted by a special term “Transaction” in DBMS.</a:t>
            </a:r>
          </a:p>
          <a:p>
            <a:r>
              <a:rPr lang="en-US" dirty="0"/>
              <a:t>Transaction is the execution of user program in DBMS. It is different from the execution of the program external to DBMS. In other words it can be stated as the various read and write operations done by the user program on the DBMS, when it is executed in DBMS environment.</a:t>
            </a:r>
          </a:p>
          <a:p>
            <a:r>
              <a:rPr lang="en-US" dirty="0"/>
              <a:t>Transaction Management plays a crucial role in DBMS. It is responsible for the efficiency and consistency of the DBMS. Partial transaction let the database in an inconsistency state, so they should be avoided.</a:t>
            </a:r>
          </a:p>
        </p:txBody>
      </p:sp>
    </p:spTree>
    <p:extLst>
      <p:ext uri="{BB962C8B-B14F-4D97-AF65-F5344CB8AC3E}">
        <p14:creationId xmlns:p14="http://schemas.microsoft.com/office/powerpoint/2010/main" val="102705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83853"/>
            <a:ext cx="10018713" cy="1502043"/>
          </a:xfrm>
        </p:spPr>
        <p:txBody>
          <a:bodyPr/>
          <a:lstStyle/>
          <a:p>
            <a:r>
              <a:rPr lang="en-US" b="1" dirty="0"/>
              <a:t>Key Notations in Transaction Management</a:t>
            </a: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5" y="1283368"/>
            <a:ext cx="10121206" cy="5440177"/>
          </a:xfrm>
        </p:spPr>
        <p:txBody>
          <a:bodyPr>
            <a:normAutofit lnSpcReduction="10000"/>
          </a:bodyPr>
          <a:lstStyle/>
          <a:p>
            <a:r>
              <a:rPr lang="en-US" dirty="0"/>
              <a:t>The key notations in transaction management are as follows:</a:t>
            </a:r>
          </a:p>
          <a:p>
            <a:pPr>
              <a:buFont typeface="Wingdings" panose="05000000000000000000" pitchFamily="2" charset="2"/>
              <a:buChar char="Ø"/>
            </a:pPr>
            <a:r>
              <a:rPr lang="en-US" b="1" dirty="0"/>
              <a:t>Object:</a:t>
            </a:r>
            <a:r>
              <a:rPr lang="en-US" dirty="0"/>
              <a:t> The smallest Data item which is read or updated by the Transaction is called as Object in this case.</a:t>
            </a:r>
          </a:p>
          <a:p>
            <a:pPr>
              <a:buFont typeface="Wingdings" panose="05000000000000000000" pitchFamily="2" charset="2"/>
              <a:buChar char="Ø"/>
            </a:pPr>
            <a:r>
              <a:rPr lang="en-US" b="1" dirty="0"/>
              <a:t>Transaction:</a:t>
            </a:r>
            <a:r>
              <a:rPr lang="en-US" dirty="0"/>
              <a:t> Transaction is represented by the symbol </a:t>
            </a:r>
            <a:r>
              <a:rPr lang="en-US" b="1" dirty="0"/>
              <a:t>T.</a:t>
            </a:r>
            <a:r>
              <a:rPr lang="en-US" dirty="0"/>
              <a:t> It is termed as the execution of query in DBMS.</a:t>
            </a:r>
          </a:p>
          <a:p>
            <a:pPr>
              <a:buFont typeface="Wingdings" panose="05000000000000000000" pitchFamily="2" charset="2"/>
              <a:buChar char="Ø"/>
            </a:pPr>
            <a:r>
              <a:rPr lang="en-US" b="1" dirty="0"/>
              <a:t>Read Operation:</a:t>
            </a:r>
            <a:r>
              <a:rPr lang="en-US" dirty="0"/>
              <a:t> Read operation on particular object is notated by symbol R (object-name).</a:t>
            </a:r>
          </a:p>
          <a:p>
            <a:pPr>
              <a:buFont typeface="Wingdings" panose="05000000000000000000" pitchFamily="2" charset="2"/>
              <a:buChar char="Ø"/>
            </a:pPr>
            <a:r>
              <a:rPr lang="en-US" b="1" dirty="0"/>
              <a:t>Write Operation:</a:t>
            </a:r>
            <a:r>
              <a:rPr lang="en-US" dirty="0"/>
              <a:t> Write operation on particular object is notated by symbol W (object-name).</a:t>
            </a:r>
          </a:p>
          <a:p>
            <a:pPr>
              <a:buFont typeface="Wingdings" panose="05000000000000000000" pitchFamily="2" charset="2"/>
              <a:buChar char="Ø"/>
            </a:pPr>
            <a:r>
              <a:rPr lang="en-US" b="1" dirty="0"/>
              <a:t>Commit:</a:t>
            </a:r>
            <a:r>
              <a:rPr lang="en-US" dirty="0"/>
              <a:t> This term used to denote the successful completion of one Transaction.</a:t>
            </a:r>
          </a:p>
          <a:p>
            <a:pPr>
              <a:buFont typeface="Wingdings" panose="05000000000000000000" pitchFamily="2" charset="2"/>
              <a:buChar char="Ø"/>
            </a:pPr>
            <a:r>
              <a:rPr lang="en-US" b="1" dirty="0"/>
              <a:t>Abort: </a:t>
            </a:r>
            <a:r>
              <a:rPr lang="en-US" dirty="0"/>
              <a:t>This term used to denote the unsuccessful interrupted Transaction.</a:t>
            </a:r>
          </a:p>
          <a:p>
            <a:endParaRPr lang="en-AU" dirty="0"/>
          </a:p>
        </p:txBody>
      </p:sp>
    </p:spTree>
    <p:extLst>
      <p:ext uri="{BB962C8B-B14F-4D97-AF65-F5344CB8AC3E}">
        <p14:creationId xmlns:p14="http://schemas.microsoft.com/office/powerpoint/2010/main" val="954003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0"/>
            <a:ext cx="10018713" cy="1502043"/>
          </a:xfrm>
        </p:spPr>
        <p:txBody>
          <a:bodyPr/>
          <a:lstStyle/>
          <a:p>
            <a:r>
              <a:rPr lang="en-US" b="1" dirty="0"/>
              <a:t>Concept of Transaction Management</a:t>
            </a: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283369"/>
            <a:ext cx="9555187" cy="5073888"/>
          </a:xfrm>
        </p:spPr>
        <p:txBody>
          <a:bodyPr>
            <a:normAutofit lnSpcReduction="10000"/>
          </a:bodyPr>
          <a:lstStyle/>
          <a:p>
            <a:r>
              <a:rPr lang="en-US" dirty="0"/>
              <a:t>User program executed by DBMS may claim several transactions.</a:t>
            </a:r>
          </a:p>
          <a:p>
            <a:r>
              <a:rPr lang="en-US" dirty="0"/>
              <a:t> In the web environment, there is a possibility to several users’ attempt to access the data stored in same database. </a:t>
            </a:r>
          </a:p>
          <a:p>
            <a:r>
              <a:rPr lang="en-US" dirty="0"/>
              <a:t>To maintain the accuracy and the consistency of the database several scheduling algorithms are used.</a:t>
            </a:r>
          </a:p>
          <a:p>
            <a:r>
              <a:rPr lang="en-US" dirty="0"/>
              <a:t>To improve the effective throughput of the DBMS we need to enforce certain concurrent executions in DBMS. </a:t>
            </a:r>
          </a:p>
          <a:p>
            <a:r>
              <a:rPr lang="en-US" dirty="0"/>
              <a:t>Transaction Manager is responsible for scheduling the Transactions and providing the safest path to complete the task. </a:t>
            </a:r>
          </a:p>
          <a:p>
            <a:r>
              <a:rPr lang="en-US" dirty="0"/>
              <a:t>To maintain the data in the phase of concurrent access and system failure, DBMS need to ensure four important properties. These properties are called as </a:t>
            </a:r>
            <a:r>
              <a:rPr lang="en-US" b="1" dirty="0"/>
              <a:t>ACID</a:t>
            </a:r>
            <a:r>
              <a:rPr lang="en-US" dirty="0"/>
              <a:t> properties.</a:t>
            </a:r>
          </a:p>
        </p:txBody>
      </p:sp>
    </p:spTree>
    <p:extLst>
      <p:ext uri="{BB962C8B-B14F-4D97-AF65-F5344CB8AC3E}">
        <p14:creationId xmlns:p14="http://schemas.microsoft.com/office/powerpoint/2010/main" val="3816035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b="1" dirty="0"/>
              <a:t>ACID Properties of DBMS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283368"/>
            <a:ext cx="9555187" cy="5440177"/>
          </a:xfrm>
        </p:spPr>
        <p:txBody>
          <a:bodyPr>
            <a:normAutofit/>
          </a:bodyPr>
          <a:lstStyle/>
          <a:p>
            <a:r>
              <a:rPr lang="en-US" dirty="0"/>
              <a:t>ACID is an acronym for Atomicity, Consistency, Isolation, and Durability.</a:t>
            </a:r>
          </a:p>
          <a:p>
            <a:pPr>
              <a:buFont typeface="Wingdings" panose="05000000000000000000" pitchFamily="2" charset="2"/>
              <a:buChar char="Ø"/>
            </a:pPr>
            <a:r>
              <a:rPr lang="en-US" dirty="0"/>
              <a:t>A – Atomicity</a:t>
            </a:r>
          </a:p>
          <a:p>
            <a:pPr>
              <a:buFont typeface="Wingdings" panose="05000000000000000000" pitchFamily="2" charset="2"/>
              <a:buChar char="Ø"/>
            </a:pPr>
            <a:r>
              <a:rPr lang="en-US" dirty="0"/>
              <a:t>C – Consistency</a:t>
            </a:r>
          </a:p>
          <a:p>
            <a:pPr>
              <a:buFont typeface="Wingdings" panose="05000000000000000000" pitchFamily="2" charset="2"/>
              <a:buChar char="Ø"/>
            </a:pPr>
            <a:r>
              <a:rPr lang="en-US" dirty="0"/>
              <a:t>I – Isolation</a:t>
            </a:r>
          </a:p>
          <a:p>
            <a:pPr>
              <a:buFont typeface="Wingdings" panose="05000000000000000000" pitchFamily="2" charset="2"/>
              <a:buChar char="Ø"/>
            </a:pPr>
            <a:r>
              <a:rPr lang="en-US" dirty="0"/>
              <a:t>D – Durability</a:t>
            </a:r>
          </a:p>
          <a:p>
            <a:r>
              <a:rPr lang="en-US" dirty="0"/>
              <a:t>Atomicity and Durability are closely related.</a:t>
            </a:r>
          </a:p>
          <a:p>
            <a:r>
              <a:rPr lang="en-US" dirty="0"/>
              <a:t>Consistency and Isolation are closely related.</a:t>
            </a:r>
          </a:p>
          <a:p>
            <a:r>
              <a:rPr lang="en-US" dirty="0"/>
              <a:t>The ACID properties are explained as follows.</a:t>
            </a:r>
          </a:p>
        </p:txBody>
      </p:sp>
    </p:spTree>
    <p:extLst>
      <p:ext uri="{BB962C8B-B14F-4D97-AF65-F5344CB8AC3E}">
        <p14:creationId xmlns:p14="http://schemas.microsoft.com/office/powerpoint/2010/main" val="626277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b="1" dirty="0"/>
              <a:t>Atomicity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283368"/>
            <a:ext cx="9555187" cy="5440177"/>
          </a:xfrm>
        </p:spPr>
        <p:txBody>
          <a:bodyPr>
            <a:normAutofit fontScale="85000" lnSpcReduction="10000"/>
          </a:bodyPr>
          <a:lstStyle/>
          <a:p>
            <a:r>
              <a:rPr lang="en-US" sz="2800" dirty="0"/>
              <a:t>Either all Transactions are carried out or none are. The meaning is the transaction cannot be subdivided, and hence, it must be processed in its entirety or not at all. Users should not have to worry about the effect of incomplete Transactions in case of any system crash occurs. </a:t>
            </a:r>
          </a:p>
          <a:p>
            <a:r>
              <a:rPr lang="en-US" sz="2800" dirty="0"/>
              <a:t>Transactions can be incomplete for three kinds of reasons:</a:t>
            </a:r>
          </a:p>
          <a:p>
            <a:pPr marL="514350" indent="-514350">
              <a:buFont typeface="+mj-lt"/>
              <a:buAutoNum type="arabicPeriod"/>
            </a:pPr>
            <a:r>
              <a:rPr lang="en-US" sz="2800" dirty="0"/>
              <a:t>Transaction can be aborted or terminated unsuccessfully. This happens due to some anomalies arises during execution. If a transaction is aborted by the DBMS for some internal reason, it is automatically restarted and executed as new.</a:t>
            </a:r>
          </a:p>
          <a:p>
            <a:pPr marL="514350" indent="-514350">
              <a:buFont typeface="+mj-lt"/>
              <a:buAutoNum type="arabicPeriod"/>
            </a:pPr>
            <a:r>
              <a:rPr lang="en-US" sz="2800" dirty="0"/>
              <a:t>Due to system crash. This may be happened due to Power Supply failure while one or more Transactions in execution.</a:t>
            </a:r>
          </a:p>
          <a:p>
            <a:pPr marL="514350" indent="-514350">
              <a:buFont typeface="+mj-lt"/>
              <a:buAutoNum type="arabicPeriod"/>
            </a:pPr>
            <a:r>
              <a:rPr lang="en-US" sz="2800" dirty="0"/>
              <a:t>Due to unexpected situations. This may be happened due to unexpected data value or be unable to access some disk. So the transaction will decide to abort. (Terminate itself).</a:t>
            </a:r>
          </a:p>
        </p:txBody>
      </p:sp>
    </p:spTree>
    <p:extLst>
      <p:ext uri="{BB962C8B-B14F-4D97-AF65-F5344CB8AC3E}">
        <p14:creationId xmlns:p14="http://schemas.microsoft.com/office/powerpoint/2010/main" val="9490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b="1" dirty="0"/>
              <a:t>Durability</a:t>
            </a: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429441" y="1283368"/>
            <a:ext cx="10570054" cy="5574632"/>
          </a:xfrm>
        </p:spPr>
        <p:txBody>
          <a:bodyPr>
            <a:normAutofit fontScale="92500"/>
          </a:bodyPr>
          <a:lstStyle/>
          <a:p>
            <a:r>
              <a:rPr lang="en-US" dirty="0"/>
              <a:t>If the System crashes before the changes made by a completed Transaction are written to disk, then it should be remembered and restored during the system restart phase.</a:t>
            </a:r>
          </a:p>
          <a:p>
            <a:r>
              <a:rPr lang="en-US" dirty="0"/>
              <a:t>Durable means the changes are permanent. </a:t>
            </a:r>
          </a:p>
          <a:p>
            <a:r>
              <a:rPr lang="en-US" dirty="0"/>
              <a:t>Once a transaction is committed, no subsequent failure of the database can reverse the effect of the transaction.</a:t>
            </a:r>
          </a:p>
          <a:p>
            <a:pPr>
              <a:buFont typeface="Wingdings" panose="05000000000000000000" pitchFamily="2" charset="2"/>
              <a:buChar char="v"/>
            </a:pPr>
            <a:r>
              <a:rPr lang="en-US" b="1" dirty="0"/>
              <a:t>Partial Transaction</a:t>
            </a:r>
            <a:endParaRPr lang="en-US" dirty="0"/>
          </a:p>
          <a:p>
            <a:r>
              <a:rPr lang="en-US" dirty="0"/>
              <a:t>If the Transaction is interrupted in the </a:t>
            </a:r>
            <a:r>
              <a:rPr lang="en-US" dirty="0" err="1"/>
              <a:t>middleway</a:t>
            </a:r>
            <a:r>
              <a:rPr lang="en-US" dirty="0"/>
              <a:t> it leaves the database in the inconsistency state. These types of transactions are called as Partial Transactions.</a:t>
            </a:r>
          </a:p>
          <a:p>
            <a:r>
              <a:rPr lang="en-US" dirty="0"/>
              <a:t>Partial Transactions should be avoided to gain consistency of database. To undo the operations done by the Partial Transactions DBMS maintains certain log files. Each and every moment of disk writes are recorded in this log files before they are reflected to disk. These are used to undo the operations done when the system failure occurs.</a:t>
            </a:r>
          </a:p>
          <a:p>
            <a:endParaRPr lang="en-US" dirty="0"/>
          </a:p>
        </p:txBody>
      </p:sp>
    </p:spTree>
    <p:extLst>
      <p:ext uri="{BB962C8B-B14F-4D97-AF65-F5344CB8AC3E}">
        <p14:creationId xmlns:p14="http://schemas.microsoft.com/office/powerpoint/2010/main" val="3983634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1" y="134455"/>
            <a:ext cx="10018713" cy="1502043"/>
          </a:xfrm>
        </p:spPr>
        <p:txBody>
          <a:bodyPr/>
          <a:lstStyle/>
          <a:p>
            <a:r>
              <a:rPr lang="en-US" b="1" dirty="0"/>
              <a:t>Consistency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187116" y="1155032"/>
            <a:ext cx="10716125" cy="5438273"/>
          </a:xfrm>
        </p:spPr>
        <p:txBody>
          <a:bodyPr>
            <a:normAutofit/>
          </a:bodyPr>
          <a:lstStyle/>
          <a:p>
            <a:r>
              <a:rPr lang="en-US" dirty="0"/>
              <a:t>Users are responsible for ensuring transaction consistency. </a:t>
            </a:r>
          </a:p>
          <a:p>
            <a:r>
              <a:rPr lang="en-US" dirty="0"/>
              <a:t>User who submits the transaction should make sure the transaction will leave the database in a consistent state.</a:t>
            </a:r>
          </a:p>
          <a:p>
            <a:r>
              <a:rPr lang="en-US" b="1" dirty="0"/>
              <a:t>Example : </a:t>
            </a:r>
            <a:r>
              <a:rPr lang="en-US" dirty="0"/>
              <a:t>If the transaction of money between two accounts “A” and “B” is manually done by the user, then first thing he has to do is, he deducts the amount (say $100) from the account “A” and add it with the account “B.” DBMS do not know whether the user subtracted the exact amount from account “B.” User has to do it correctly. If the user subtracted $99 from account “B” instead of $100 DBMS is not responsible for that. This will leave DBMS in inconsistency state.</a:t>
            </a:r>
          </a:p>
        </p:txBody>
      </p:sp>
    </p:spTree>
    <p:extLst>
      <p:ext uri="{BB962C8B-B14F-4D97-AF65-F5344CB8AC3E}">
        <p14:creationId xmlns:p14="http://schemas.microsoft.com/office/powerpoint/2010/main" val="292587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32083"/>
            <a:ext cx="10018713" cy="1502043"/>
          </a:xfrm>
        </p:spPr>
        <p:txBody>
          <a:bodyPr/>
          <a:lstStyle/>
          <a:p>
            <a:r>
              <a:rPr lang="en-US" b="1" dirty="0"/>
              <a:t>Isolation</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925052" y="1395662"/>
            <a:ext cx="9555187" cy="4764506"/>
          </a:xfrm>
        </p:spPr>
        <p:txBody>
          <a:bodyPr>
            <a:normAutofit/>
          </a:bodyPr>
          <a:lstStyle/>
          <a:p>
            <a:r>
              <a:rPr lang="en-US" dirty="0"/>
              <a:t>In DBMS system, there are many transaction may be executed simultaneously.</a:t>
            </a:r>
          </a:p>
          <a:p>
            <a:r>
              <a:rPr lang="en-US" dirty="0"/>
              <a:t> These transactions should be isolated to each other. </a:t>
            </a:r>
          </a:p>
          <a:p>
            <a:r>
              <a:rPr lang="en-US" dirty="0"/>
              <a:t>One’s execution should not affect the execution of the other transactions.</a:t>
            </a:r>
          </a:p>
          <a:p>
            <a:r>
              <a:rPr lang="en-US" dirty="0"/>
              <a:t> To enforce this concept DBMS has to maintain certain scheduling algorithms. </a:t>
            </a:r>
          </a:p>
          <a:p>
            <a:r>
              <a:rPr lang="en-US" dirty="0"/>
              <a:t>One of the scheduling algorithms used is Serial Scheduling.</a:t>
            </a:r>
          </a:p>
        </p:txBody>
      </p:sp>
    </p:spTree>
    <p:extLst>
      <p:ext uri="{BB962C8B-B14F-4D97-AF65-F5344CB8AC3E}">
        <p14:creationId xmlns:p14="http://schemas.microsoft.com/office/powerpoint/2010/main" val="4014299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138262"/>
            <a:ext cx="10018713" cy="1502043"/>
          </a:xfrm>
        </p:spPr>
        <p:txBody>
          <a:bodyPr/>
          <a:lstStyle/>
          <a:p>
            <a:r>
              <a:rPr lang="en-US" b="1" dirty="0"/>
              <a:t>Serial Scheduling</a:t>
            </a:r>
            <a:endParaRPr lang="en-AU"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78512" y="2121567"/>
            <a:ext cx="9801727" cy="3429001"/>
          </a:xfrm>
        </p:spPr>
        <p:txBody>
          <a:bodyPr>
            <a:normAutofit/>
          </a:bodyPr>
          <a:lstStyle/>
          <a:p>
            <a:r>
              <a:rPr lang="en-US" dirty="0"/>
              <a:t>In this scheduling method, transactions are executed one by one from the start to finish. </a:t>
            </a:r>
          </a:p>
          <a:p>
            <a:endParaRPr lang="en-US" dirty="0"/>
          </a:p>
          <a:p>
            <a:r>
              <a:rPr lang="en-US" dirty="0"/>
              <a:t>An important technique used in this serial scheduling is interleaved execution.</a:t>
            </a:r>
          </a:p>
          <a:p>
            <a:endParaRPr lang="en-AU" dirty="0"/>
          </a:p>
        </p:txBody>
      </p:sp>
    </p:spTree>
    <p:extLst>
      <p:ext uri="{BB962C8B-B14F-4D97-AF65-F5344CB8AC3E}">
        <p14:creationId xmlns:p14="http://schemas.microsoft.com/office/powerpoint/2010/main" val="3128895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7329" y="328864"/>
            <a:ext cx="10018713" cy="1502043"/>
          </a:xfrm>
        </p:spPr>
        <p:txBody>
          <a:bodyPr/>
          <a:lstStyle/>
          <a:p>
            <a:r>
              <a:rPr lang="en-US" b="1" dirty="0"/>
              <a:t>Interleaved Execution</a:t>
            </a: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7" y="1415715"/>
            <a:ext cx="9457238" cy="5113421"/>
          </a:xfrm>
        </p:spPr>
        <p:txBody>
          <a:bodyPr>
            <a:normAutofit/>
          </a:bodyPr>
          <a:lstStyle/>
          <a:p>
            <a:r>
              <a:rPr lang="en-US" dirty="0"/>
              <a:t>In DBMS to enforce concurrent Transactions, several Transactions are ordered in a serial manner and executed one by one according to the schedule.</a:t>
            </a:r>
          </a:p>
          <a:p>
            <a:r>
              <a:rPr lang="en-US" dirty="0"/>
              <a:t> So there will be the switching over of execution between the Transactions. This is called as Interleaved Execution.</a:t>
            </a:r>
          </a:p>
        </p:txBody>
      </p:sp>
    </p:spTree>
    <p:extLst>
      <p:ext uri="{BB962C8B-B14F-4D97-AF65-F5344CB8AC3E}">
        <p14:creationId xmlns:p14="http://schemas.microsoft.com/office/powerpoint/2010/main" val="3850991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Example</a:t>
            </a:r>
            <a:endParaRPr lang="en-AU"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75982" y="1415715"/>
            <a:ext cx="5847766" cy="5289885"/>
          </a:xfrm>
        </p:spPr>
        <p:txBody>
          <a:bodyPr>
            <a:normAutofit/>
          </a:bodyPr>
          <a:lstStyle/>
          <a:p>
            <a:r>
              <a:rPr lang="en-US" dirty="0"/>
              <a:t>The example for the serial schedule is illustrated in Figure:</a:t>
            </a:r>
          </a:p>
          <a:p>
            <a:r>
              <a:rPr lang="en-US" dirty="0"/>
              <a:t>In the above example, two Transactions T1, T2 and two Objects A, B are taken into account. Commit denotes successful completion of both Transactions.</a:t>
            </a:r>
          </a:p>
          <a:p>
            <a:r>
              <a:rPr lang="en-US" dirty="0"/>
              <a:t>First one read and one write operation are done on the object A by Transaction T2. This is followed by T1. It does one write operation on object A. The same procedure followed by others for further. Finally, both Transactions are ended successfully.</a:t>
            </a:r>
          </a:p>
          <a:p>
            <a:endParaRPr lang="en-AU" dirty="0"/>
          </a:p>
        </p:txBody>
      </p:sp>
      <p:pic>
        <p:nvPicPr>
          <p:cNvPr id="1026" name="Picture 2">
            <a:extLst>
              <a:ext uri="{FF2B5EF4-FFF2-40B4-BE49-F238E27FC236}">
                <a16:creationId xmlns:a16="http://schemas.microsoft.com/office/drawing/2014/main" id="{73FD645A-C3D7-487B-AD0D-729602BC97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2306" y="1415715"/>
            <a:ext cx="4299284" cy="4964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1540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 Anomalies due to Interleaved Transactions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6" y="998620"/>
            <a:ext cx="10483934" cy="5273843"/>
          </a:xfrm>
        </p:spPr>
        <p:txBody>
          <a:bodyPr>
            <a:normAutofit/>
          </a:bodyPr>
          <a:lstStyle/>
          <a:p>
            <a:r>
              <a:rPr lang="en-US" dirty="0"/>
              <a:t>If all the transactions in DBMS systems are doing read operation on the Database then no problem will arise. When the read and write operations done alternatively there is a possibility of some type of anomalies. These are classified into three categories.</a:t>
            </a:r>
          </a:p>
          <a:p>
            <a:pPr marL="457200" indent="-457200">
              <a:buFont typeface="+mj-lt"/>
              <a:buAutoNum type="arabicPeriod"/>
            </a:pPr>
            <a:r>
              <a:rPr lang="en-US" dirty="0"/>
              <a:t>Write–Read Conflicts (WR Conflicts)</a:t>
            </a:r>
          </a:p>
          <a:p>
            <a:pPr marL="457200" indent="-457200">
              <a:buFont typeface="+mj-lt"/>
              <a:buAutoNum type="arabicPeriod"/>
            </a:pPr>
            <a:r>
              <a:rPr lang="en-US" dirty="0"/>
              <a:t>Read–Write Conflicts (RW Conflicts)</a:t>
            </a:r>
          </a:p>
          <a:p>
            <a:pPr marL="457200" indent="-457200">
              <a:buFont typeface="+mj-lt"/>
              <a:buAutoNum type="arabicPeriod"/>
            </a:pPr>
            <a:r>
              <a:rPr lang="en-US" dirty="0"/>
              <a:t>Write–Write Conflicts (WW Conflicts)</a:t>
            </a:r>
          </a:p>
          <a:p>
            <a:endParaRPr lang="en-AU" dirty="0"/>
          </a:p>
        </p:txBody>
      </p:sp>
    </p:spTree>
    <p:extLst>
      <p:ext uri="{BB962C8B-B14F-4D97-AF65-F5344CB8AC3E}">
        <p14:creationId xmlns:p14="http://schemas.microsoft.com/office/powerpoint/2010/main" val="3481092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WR Conflicts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6" y="998620"/>
            <a:ext cx="10483934" cy="5273843"/>
          </a:xfrm>
        </p:spPr>
        <p:txBody>
          <a:bodyPr>
            <a:normAutofit/>
          </a:bodyPr>
          <a:lstStyle/>
          <a:p>
            <a:r>
              <a:rPr lang="en-US" b="1" dirty="0"/>
              <a:t>Dirty Read: </a:t>
            </a:r>
            <a:r>
              <a:rPr lang="en-US" dirty="0"/>
              <a:t>This happens when the Transaction T2 is trying to read the object A that has been modified by another Transaction T1, which has not yet completed (committed). This type read is called as dirty read.</a:t>
            </a:r>
          </a:p>
          <a:p>
            <a:r>
              <a:rPr lang="en-US" b="1" dirty="0"/>
              <a:t>Example: </a:t>
            </a:r>
            <a:r>
              <a:rPr lang="en-US" dirty="0"/>
              <a:t>Consider two Transactions T1 and T2, each of which, run alone, preserves database consistency. T1 transfers $100 from A to B, and T2 increments both A and B by 6%.</a:t>
            </a:r>
          </a:p>
          <a:p>
            <a:r>
              <a:rPr lang="en-US" dirty="0"/>
              <a:t>If the Transaction is scheduled as illustrated below.</a:t>
            </a:r>
          </a:p>
          <a:p>
            <a:endParaRPr lang="en-AU" dirty="0"/>
          </a:p>
        </p:txBody>
      </p:sp>
    </p:spTree>
    <p:extLst>
      <p:ext uri="{BB962C8B-B14F-4D97-AF65-F5344CB8AC3E}">
        <p14:creationId xmlns:p14="http://schemas.microsoft.com/office/powerpoint/2010/main" val="998404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Explanation</a:t>
            </a: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152939" y="1303420"/>
            <a:ext cx="6916239" cy="5273843"/>
          </a:xfrm>
        </p:spPr>
        <p:txBody>
          <a:bodyPr>
            <a:normAutofit/>
          </a:bodyPr>
          <a:lstStyle/>
          <a:p>
            <a:r>
              <a:rPr lang="en-US" dirty="0"/>
              <a:t>Suppose if the transactions are interleaved according to the above schedule then the account transfer program T1 deducts $100 from account A, then the interest deposit program T2 reads the current values of accounts A and B and adds 6% interest to each, and then the account transfer program credits $100 to account B. </a:t>
            </a:r>
          </a:p>
          <a:p>
            <a:r>
              <a:rPr lang="en-US" dirty="0"/>
              <a:t>The outcome of this execution will be different from the normal execution like if the two instructions are executed one by one. This type of anomalies leaves the database in inconsistency state.</a:t>
            </a:r>
          </a:p>
          <a:p>
            <a:endParaRPr lang="en-AU" dirty="0"/>
          </a:p>
        </p:txBody>
      </p:sp>
      <p:pic>
        <p:nvPicPr>
          <p:cNvPr id="2050" name="Picture 2">
            <a:extLst>
              <a:ext uri="{FF2B5EF4-FFF2-40B4-BE49-F238E27FC236}">
                <a16:creationId xmlns:a16="http://schemas.microsoft.com/office/drawing/2014/main" id="{ECD37D6B-AA0D-49C8-99BD-8AF6D12B4C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5717" y="664693"/>
            <a:ext cx="3745983" cy="5621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9268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RW Conflicts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6" y="1303420"/>
            <a:ext cx="10483934" cy="4840706"/>
          </a:xfrm>
        </p:spPr>
        <p:txBody>
          <a:bodyPr>
            <a:normAutofit/>
          </a:bodyPr>
          <a:lstStyle/>
          <a:p>
            <a:r>
              <a:rPr lang="en-US" b="1" dirty="0"/>
              <a:t>Unrepeatable Read: </a:t>
            </a:r>
            <a:r>
              <a:rPr lang="en-US" dirty="0"/>
              <a:t>In this case anomalous behavior could result is that a Transaction T2 could change the value of an object A that has been read by a Transaction T1, while T2 is still in progress. </a:t>
            </a:r>
          </a:p>
          <a:p>
            <a:r>
              <a:rPr lang="en-US" dirty="0"/>
              <a:t>If T1 tries to read A again it will get different results. This type of read is called as Unrepeatable Read.</a:t>
            </a:r>
          </a:p>
          <a:p>
            <a:r>
              <a:rPr lang="en-US" b="1" dirty="0"/>
              <a:t>Example: </a:t>
            </a:r>
            <a:r>
              <a:rPr lang="en-US" dirty="0"/>
              <a:t>If “A” denotes an account. Consider two Transactions T1 and T2. Duty of T1 and T2 are reducing account A by $100. Consider the following Serial Schedule as shown:</a:t>
            </a:r>
          </a:p>
          <a:p>
            <a:endParaRPr lang="en-US" dirty="0"/>
          </a:p>
        </p:txBody>
      </p:sp>
    </p:spTree>
    <p:extLst>
      <p:ext uri="{BB962C8B-B14F-4D97-AF65-F5344CB8AC3E}">
        <p14:creationId xmlns:p14="http://schemas.microsoft.com/office/powerpoint/2010/main" val="4153594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Explanation</a:t>
            </a: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6" y="1303420"/>
            <a:ext cx="5992145" cy="4455696"/>
          </a:xfrm>
        </p:spPr>
        <p:txBody>
          <a:bodyPr>
            <a:normAutofit/>
          </a:bodyPr>
          <a:lstStyle/>
          <a:p>
            <a:r>
              <a:rPr lang="en-US" dirty="0"/>
              <a:t>At first, T1 checks whether the money in account A is more than $100. </a:t>
            </a:r>
          </a:p>
          <a:p>
            <a:r>
              <a:rPr lang="en-US" dirty="0"/>
              <a:t>Immediately it is interleaved and T2 also checks the account for money and reduce it by $100. </a:t>
            </a:r>
          </a:p>
          <a:p>
            <a:r>
              <a:rPr lang="en-US" dirty="0"/>
              <a:t>After T2, T1 is tried to reduce the same account A. If the initial amount in A is $101 then, after the execution of T2 only $1 will remain in account A. Now T1 will try to reduce it by $100. This makes the Database inconsistent.</a:t>
            </a:r>
          </a:p>
        </p:txBody>
      </p:sp>
      <p:pic>
        <p:nvPicPr>
          <p:cNvPr id="3074" name="Picture 2">
            <a:extLst>
              <a:ext uri="{FF2B5EF4-FFF2-40B4-BE49-F238E27FC236}">
                <a16:creationId xmlns:a16="http://schemas.microsoft.com/office/drawing/2014/main" id="{00FCE77B-FF6E-4AAB-BC74-29F006A84B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5197" y="1415715"/>
            <a:ext cx="4048331" cy="4343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9405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1526" y="-86328"/>
            <a:ext cx="10018713" cy="1502043"/>
          </a:xfrm>
        </p:spPr>
        <p:txBody>
          <a:bodyPr/>
          <a:lstStyle/>
          <a:p>
            <a:r>
              <a:rPr lang="en-US" b="1" dirty="0"/>
              <a:t> WW Conflicts</a:t>
            </a:r>
            <a:endParaRPr lang="en-AU"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708066" y="1303420"/>
            <a:ext cx="10483934" cy="4439653"/>
          </a:xfrm>
        </p:spPr>
        <p:txBody>
          <a:bodyPr>
            <a:normAutofit/>
          </a:bodyPr>
          <a:lstStyle/>
          <a:p>
            <a:r>
              <a:rPr lang="en-US" dirty="0"/>
              <a:t>The third type of anomalous behavior is that one Transaction is updating an object while another one is also in progress.</a:t>
            </a:r>
          </a:p>
          <a:p>
            <a:r>
              <a:rPr lang="en-US" b="1" dirty="0"/>
              <a:t>Example:</a:t>
            </a:r>
            <a:endParaRPr lang="en-US" dirty="0"/>
          </a:p>
          <a:p>
            <a:r>
              <a:rPr lang="en-US" dirty="0"/>
              <a:t>Consider the two Transactions T1, T2.</a:t>
            </a:r>
          </a:p>
          <a:p>
            <a:r>
              <a:rPr lang="en-US" dirty="0"/>
              <a:t>Consider the two objects A, B.</a:t>
            </a:r>
          </a:p>
          <a:p>
            <a:r>
              <a:rPr lang="en-US" dirty="0"/>
              <a:t>Consider the following Serial Schedule as illustrated in Figure below:</a:t>
            </a:r>
          </a:p>
        </p:txBody>
      </p:sp>
    </p:spTree>
    <p:extLst>
      <p:ext uri="{BB962C8B-B14F-4D97-AF65-F5344CB8AC3E}">
        <p14:creationId xmlns:p14="http://schemas.microsoft.com/office/powerpoint/2010/main" val="215561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0A671-D96A-49A9-B8D1-DDEFBD5A5BA0}"/>
              </a:ext>
            </a:extLst>
          </p:cNvPr>
          <p:cNvSpPr>
            <a:spLocks noGrp="1"/>
          </p:cNvSpPr>
          <p:nvPr>
            <p:ph type="title"/>
          </p:nvPr>
        </p:nvSpPr>
        <p:spPr/>
        <p:txBody>
          <a:bodyPr/>
          <a:lstStyle/>
          <a:p>
            <a:r>
              <a:rPr lang="en-US" b="1" dirty="0"/>
              <a:t>Explanation</a:t>
            </a:r>
            <a:br>
              <a:rPr lang="en-US" dirty="0"/>
            </a:br>
            <a:endParaRPr lang="en-US" dirty="0"/>
          </a:p>
        </p:txBody>
      </p:sp>
      <p:sp>
        <p:nvSpPr>
          <p:cNvPr id="3" name="Content Placeholder 2">
            <a:extLst>
              <a:ext uri="{FF2B5EF4-FFF2-40B4-BE49-F238E27FC236}">
                <a16:creationId xmlns:a16="http://schemas.microsoft.com/office/drawing/2014/main" id="{032104C4-2541-4C59-80F5-DAE3E07F9A19}"/>
              </a:ext>
            </a:extLst>
          </p:cNvPr>
          <p:cNvSpPr>
            <a:spLocks noGrp="1"/>
          </p:cNvSpPr>
          <p:nvPr>
            <p:ph idx="1"/>
          </p:nvPr>
        </p:nvSpPr>
        <p:spPr>
          <a:xfrm>
            <a:off x="1484310" y="1748589"/>
            <a:ext cx="6055479" cy="5109411"/>
          </a:xfrm>
        </p:spPr>
        <p:txBody>
          <a:bodyPr>
            <a:normAutofit lnSpcReduction="10000"/>
          </a:bodyPr>
          <a:lstStyle/>
          <a:p>
            <a:r>
              <a:rPr lang="en-US" dirty="0"/>
              <a:t>If A and B are two accounts and their values have to be kept equal always</a:t>
            </a:r>
            <a:r>
              <a:rPr lang="ar-IQ" dirty="0"/>
              <a:t>, </a:t>
            </a:r>
            <a:r>
              <a:rPr lang="en-US" dirty="0"/>
              <a:t>Transaction T1 updates both objects to 3,000 and T2 updates both objects to 2,000. </a:t>
            </a:r>
          </a:p>
          <a:p>
            <a:r>
              <a:rPr lang="en-US" dirty="0"/>
              <a:t>At first T1 updates the value of object A to 3,000. </a:t>
            </a:r>
          </a:p>
          <a:p>
            <a:r>
              <a:rPr lang="en-US" dirty="0"/>
              <a:t>Immediately T2 makes A as 2,000 and B as 2,000 and committed</a:t>
            </a:r>
            <a:r>
              <a:rPr lang="en-AU" dirty="0"/>
              <a:t>.</a:t>
            </a:r>
          </a:p>
          <a:p>
            <a:r>
              <a:rPr lang="ar-IQ" dirty="0"/>
              <a:t> </a:t>
            </a:r>
            <a:r>
              <a:rPr lang="en-US" dirty="0"/>
              <a:t>After the completion of T2, T1 updates B to 3,000. </a:t>
            </a:r>
          </a:p>
          <a:p>
            <a:r>
              <a:rPr lang="en-US" dirty="0"/>
              <a:t>Now the value of A is </a:t>
            </a:r>
            <a:r>
              <a:rPr lang="ar-IQ" dirty="0"/>
              <a:t>2,000 </a:t>
            </a:r>
            <a:r>
              <a:rPr lang="en-US" dirty="0"/>
              <a:t>and value of B is 3,000, they are not equal. Constraint violated in this case due to serial scheduling</a:t>
            </a:r>
            <a:r>
              <a:rPr lang="ar-IQ" dirty="0"/>
              <a:t>.</a:t>
            </a:r>
            <a:endParaRPr lang="en-US" dirty="0"/>
          </a:p>
          <a:p>
            <a:endParaRPr lang="en-US" dirty="0"/>
          </a:p>
        </p:txBody>
      </p:sp>
      <p:pic>
        <p:nvPicPr>
          <p:cNvPr id="4098" name="Picture 2">
            <a:extLst>
              <a:ext uri="{FF2B5EF4-FFF2-40B4-BE49-F238E27FC236}">
                <a16:creationId xmlns:a16="http://schemas.microsoft.com/office/drawing/2014/main" id="{BCF7A6D6-950D-47EC-8885-60418FAFAB5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5515"/>
          <a:stretch/>
        </p:blipFill>
        <p:spPr bwMode="auto">
          <a:xfrm>
            <a:off x="7653101" y="1892968"/>
            <a:ext cx="4105762" cy="442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0559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8E04F-6556-4164-8325-108309FB0FB7}"/>
              </a:ext>
            </a:extLst>
          </p:cNvPr>
          <p:cNvSpPr>
            <a:spLocks noGrp="1"/>
          </p:cNvSpPr>
          <p:nvPr>
            <p:ph type="title"/>
          </p:nvPr>
        </p:nvSpPr>
        <p:spPr>
          <a:xfrm>
            <a:off x="1484310" y="190500"/>
            <a:ext cx="10018713" cy="1752599"/>
          </a:xfrm>
        </p:spPr>
        <p:txBody>
          <a:bodyPr/>
          <a:lstStyle/>
          <a:p>
            <a:r>
              <a:rPr lang="en-US" b="1"/>
              <a:t>Concurrency </a:t>
            </a:r>
            <a:r>
              <a:rPr lang="en-US" b="1" dirty="0"/>
              <a:t>Control</a:t>
            </a:r>
            <a:endParaRPr lang="en-US" dirty="0"/>
          </a:p>
        </p:txBody>
      </p:sp>
      <p:sp>
        <p:nvSpPr>
          <p:cNvPr id="3" name="Content Placeholder 2">
            <a:extLst>
              <a:ext uri="{FF2B5EF4-FFF2-40B4-BE49-F238E27FC236}">
                <a16:creationId xmlns:a16="http://schemas.microsoft.com/office/drawing/2014/main" id="{1B8E82D2-7AD2-4776-81D4-7F287AA3AFA3}"/>
              </a:ext>
            </a:extLst>
          </p:cNvPr>
          <p:cNvSpPr>
            <a:spLocks noGrp="1"/>
          </p:cNvSpPr>
          <p:nvPr>
            <p:ph idx="1"/>
          </p:nvPr>
        </p:nvSpPr>
        <p:spPr>
          <a:xfrm>
            <a:off x="1484309" y="2169694"/>
            <a:ext cx="10018713" cy="3733801"/>
          </a:xfrm>
        </p:spPr>
        <p:txBody>
          <a:bodyPr/>
          <a:lstStyle/>
          <a:p>
            <a:r>
              <a:rPr lang="en-US" dirty="0"/>
              <a:t>Concurrency Control is the control on the Database and Transactions which are executed concurrently to ensure that each Transaction completed healthy. </a:t>
            </a:r>
          </a:p>
          <a:p>
            <a:r>
              <a:rPr lang="en-US" dirty="0"/>
              <a:t>Concurrency control is concerned with preventing loss of data integrity due to interference between users in a multiuser environment.</a:t>
            </a:r>
          </a:p>
          <a:p>
            <a:endParaRPr lang="en-US" dirty="0"/>
          </a:p>
        </p:txBody>
      </p:sp>
    </p:spTree>
    <p:extLst>
      <p:ext uri="{BB962C8B-B14F-4D97-AF65-F5344CB8AC3E}">
        <p14:creationId xmlns:p14="http://schemas.microsoft.com/office/powerpoint/2010/main" val="3368412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F1FF6-8B8F-443F-B5DE-FB128D8E45A8}"/>
              </a:ext>
            </a:extLst>
          </p:cNvPr>
          <p:cNvSpPr>
            <a:spLocks noGrp="1"/>
          </p:cNvSpPr>
          <p:nvPr>
            <p:ph type="title"/>
          </p:nvPr>
        </p:nvSpPr>
        <p:spPr/>
        <p:txBody>
          <a:bodyPr/>
          <a:lstStyle/>
          <a:p>
            <a:r>
              <a:rPr lang="en-US" b="1" dirty="0"/>
              <a:t>Need for Concurrency Control</a:t>
            </a:r>
            <a:br>
              <a:rPr lang="en-US" dirty="0"/>
            </a:br>
            <a:endParaRPr lang="en-US" dirty="0"/>
          </a:p>
        </p:txBody>
      </p:sp>
      <p:sp>
        <p:nvSpPr>
          <p:cNvPr id="3" name="Content Placeholder 2">
            <a:extLst>
              <a:ext uri="{FF2B5EF4-FFF2-40B4-BE49-F238E27FC236}">
                <a16:creationId xmlns:a16="http://schemas.microsoft.com/office/drawing/2014/main" id="{A68E93C2-7265-4214-8EDE-8E491E399311}"/>
              </a:ext>
            </a:extLst>
          </p:cNvPr>
          <p:cNvSpPr>
            <a:spLocks noGrp="1"/>
          </p:cNvSpPr>
          <p:nvPr>
            <p:ph idx="1"/>
          </p:nvPr>
        </p:nvSpPr>
        <p:spPr/>
        <p:txBody>
          <a:bodyPr/>
          <a:lstStyle/>
          <a:p>
            <a:r>
              <a:rPr lang="en-US" dirty="0"/>
              <a:t>In database management system several transactions are executed simultaneously.</a:t>
            </a:r>
          </a:p>
          <a:p>
            <a:r>
              <a:rPr lang="en-US" dirty="0"/>
              <a:t> In order to achieve concurrent transactions, the technique of interleaved execution is used. </a:t>
            </a:r>
          </a:p>
          <a:p>
            <a:r>
              <a:rPr lang="en-US" dirty="0"/>
              <a:t>But in this technique there is a possibility for the occurrence of certain anomalies, due to the overriding of one transaction on the particular Database Object which is already referred by another Transaction.</a:t>
            </a:r>
          </a:p>
          <a:p>
            <a:endParaRPr lang="en-US" dirty="0"/>
          </a:p>
        </p:txBody>
      </p:sp>
    </p:spTree>
    <p:extLst>
      <p:ext uri="{BB962C8B-B14F-4D97-AF65-F5344CB8AC3E}">
        <p14:creationId xmlns:p14="http://schemas.microsoft.com/office/powerpoint/2010/main" val="2661003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B4BD8-ACC2-4F11-9FC5-C1A431607F91}"/>
              </a:ext>
            </a:extLst>
          </p:cNvPr>
          <p:cNvSpPr>
            <a:spLocks noGrp="1"/>
          </p:cNvSpPr>
          <p:nvPr>
            <p:ph type="title"/>
          </p:nvPr>
        </p:nvSpPr>
        <p:spPr/>
        <p:txBody>
          <a:bodyPr/>
          <a:lstStyle/>
          <a:p>
            <a:r>
              <a:rPr lang="en-US" b="1" dirty="0"/>
              <a:t>Lock-Based Concurrency Control</a:t>
            </a:r>
            <a:br>
              <a:rPr lang="en-US" dirty="0"/>
            </a:br>
            <a:endParaRPr lang="en-US" dirty="0"/>
          </a:p>
        </p:txBody>
      </p:sp>
      <p:sp>
        <p:nvSpPr>
          <p:cNvPr id="3" name="Content Placeholder 2">
            <a:extLst>
              <a:ext uri="{FF2B5EF4-FFF2-40B4-BE49-F238E27FC236}">
                <a16:creationId xmlns:a16="http://schemas.microsoft.com/office/drawing/2014/main" id="{72C345AC-8077-49B7-B308-B15F517E9D79}"/>
              </a:ext>
            </a:extLst>
          </p:cNvPr>
          <p:cNvSpPr>
            <a:spLocks noGrp="1"/>
          </p:cNvSpPr>
          <p:nvPr>
            <p:ph idx="1"/>
          </p:nvPr>
        </p:nvSpPr>
        <p:spPr/>
        <p:txBody>
          <a:bodyPr/>
          <a:lstStyle/>
          <a:p>
            <a:r>
              <a:rPr lang="en-US" dirty="0"/>
              <a:t>It is the best method to control the concurrent access to the Database Objects by providing suitable permissions to the Transactions. </a:t>
            </a:r>
          </a:p>
          <a:p>
            <a:r>
              <a:rPr lang="en-US" dirty="0"/>
              <a:t>Also it is the only method which takes less cost of Time and less program complexity in terms of code development.</a:t>
            </a:r>
          </a:p>
          <a:p>
            <a:endParaRPr lang="en-US" dirty="0"/>
          </a:p>
        </p:txBody>
      </p:sp>
    </p:spTree>
    <p:extLst>
      <p:ext uri="{BB962C8B-B14F-4D97-AF65-F5344CB8AC3E}">
        <p14:creationId xmlns:p14="http://schemas.microsoft.com/office/powerpoint/2010/main" val="1736237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DE220-947A-444E-85AC-08CE91D5436F}"/>
              </a:ext>
            </a:extLst>
          </p:cNvPr>
          <p:cNvSpPr>
            <a:spLocks noGrp="1"/>
          </p:cNvSpPr>
          <p:nvPr>
            <p:ph type="title"/>
          </p:nvPr>
        </p:nvSpPr>
        <p:spPr>
          <a:xfrm>
            <a:off x="1484310" y="-250658"/>
            <a:ext cx="10434973" cy="1640305"/>
          </a:xfrm>
        </p:spPr>
        <p:txBody>
          <a:bodyPr/>
          <a:lstStyle/>
          <a:p>
            <a:r>
              <a:rPr lang="en-US" b="1" dirty="0"/>
              <a:t>Key Terms in Lock-Based Concurrency Control</a:t>
            </a:r>
            <a:endParaRPr lang="en-US" dirty="0"/>
          </a:p>
        </p:txBody>
      </p:sp>
      <p:sp>
        <p:nvSpPr>
          <p:cNvPr id="3" name="Content Placeholder 2">
            <a:extLst>
              <a:ext uri="{FF2B5EF4-FFF2-40B4-BE49-F238E27FC236}">
                <a16:creationId xmlns:a16="http://schemas.microsoft.com/office/drawing/2014/main" id="{55992121-FBDC-4470-9FDF-31C809E23E9C}"/>
              </a:ext>
            </a:extLst>
          </p:cNvPr>
          <p:cNvSpPr>
            <a:spLocks noGrp="1"/>
          </p:cNvSpPr>
          <p:nvPr>
            <p:ph idx="1"/>
          </p:nvPr>
        </p:nvSpPr>
        <p:spPr>
          <a:xfrm>
            <a:off x="1484310" y="1122947"/>
            <a:ext cx="10018713" cy="5488406"/>
          </a:xfrm>
        </p:spPr>
        <p:txBody>
          <a:bodyPr>
            <a:normAutofit lnSpcReduction="10000"/>
          </a:bodyPr>
          <a:lstStyle/>
          <a:p>
            <a:pPr marL="0" indent="0">
              <a:buNone/>
            </a:pPr>
            <a:endParaRPr lang="en-US" dirty="0"/>
          </a:p>
          <a:p>
            <a:r>
              <a:rPr lang="en-US" b="1" i="1" dirty="0"/>
              <a:t>Database Object:</a:t>
            </a:r>
            <a:r>
              <a:rPr lang="en-US" dirty="0"/>
              <a:t> Database Object is the small data element, the value of which one is altered during the execution of transactions.</a:t>
            </a:r>
          </a:p>
          <a:p>
            <a:r>
              <a:rPr lang="en-US" b="1" i="1" dirty="0"/>
              <a:t>Lock</a:t>
            </a:r>
            <a:r>
              <a:rPr lang="en-US" b="1" dirty="0"/>
              <a:t>:</a:t>
            </a:r>
            <a:r>
              <a:rPr lang="en-US" dirty="0"/>
              <a:t> Lock is a small object associated with Database Object which gives the information about the type of operations allowed on a particular Database Object.</a:t>
            </a:r>
          </a:p>
          <a:p>
            <a:r>
              <a:rPr lang="en-US" dirty="0"/>
              <a:t>Lock can be termed as a type of permission provided by the transaction manager to the transactions to do a particular operation on a Database Object.</a:t>
            </a:r>
          </a:p>
          <a:p>
            <a:r>
              <a:rPr lang="en-US" dirty="0"/>
              <a:t>The transaction must get this permission from Transaction Manager to access any Database Object for alteration. Locking mechanisms are the most common type of concurrency control mechanism. With locking, any data that is retrieved by a user for updating must be locked, or denied to other users, until the update is complete.</a:t>
            </a:r>
          </a:p>
          <a:p>
            <a:endParaRPr lang="en-US" dirty="0"/>
          </a:p>
        </p:txBody>
      </p:sp>
    </p:spTree>
    <p:extLst>
      <p:ext uri="{BB962C8B-B14F-4D97-AF65-F5344CB8AC3E}">
        <p14:creationId xmlns:p14="http://schemas.microsoft.com/office/powerpoint/2010/main" val="2451296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FC26A-9EC9-445A-8D99-67A3733BC7BF}"/>
              </a:ext>
            </a:extLst>
          </p:cNvPr>
          <p:cNvSpPr>
            <a:spLocks noGrp="1"/>
          </p:cNvSpPr>
          <p:nvPr>
            <p:ph type="title"/>
          </p:nvPr>
        </p:nvSpPr>
        <p:spPr/>
        <p:txBody>
          <a:bodyPr/>
          <a:lstStyle/>
          <a:p>
            <a:r>
              <a:rPr lang="en-US" b="1" dirty="0"/>
              <a:t>Locking Protocol</a:t>
            </a:r>
            <a:br>
              <a:rPr lang="en-US" dirty="0"/>
            </a:br>
            <a:endParaRPr lang="en-US" dirty="0"/>
          </a:p>
        </p:txBody>
      </p:sp>
      <p:sp>
        <p:nvSpPr>
          <p:cNvPr id="3" name="Content Placeholder 2">
            <a:extLst>
              <a:ext uri="{FF2B5EF4-FFF2-40B4-BE49-F238E27FC236}">
                <a16:creationId xmlns:a16="http://schemas.microsoft.com/office/drawing/2014/main" id="{7F3CEDDA-5DC3-41D8-933D-18FAD1F387DF}"/>
              </a:ext>
            </a:extLst>
          </p:cNvPr>
          <p:cNvSpPr>
            <a:spLocks noGrp="1"/>
          </p:cNvSpPr>
          <p:nvPr>
            <p:ph idx="1"/>
          </p:nvPr>
        </p:nvSpPr>
        <p:spPr/>
        <p:txBody>
          <a:bodyPr/>
          <a:lstStyle/>
          <a:p>
            <a:r>
              <a:rPr lang="en-US" dirty="0"/>
              <a:t>It is the set of rules to be followed by each transaction, to ensure that the net effect of execution of each Transaction in interleaved fashion will be same as, the result obtained when the Transactions executed in serial fashion.</a:t>
            </a:r>
          </a:p>
          <a:p>
            <a:endParaRPr lang="en-US" dirty="0"/>
          </a:p>
        </p:txBody>
      </p:sp>
    </p:spTree>
    <p:extLst>
      <p:ext uri="{BB962C8B-B14F-4D97-AF65-F5344CB8AC3E}">
        <p14:creationId xmlns:p14="http://schemas.microsoft.com/office/powerpoint/2010/main" val="3588592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8503B-FF21-4851-A21B-BF8226B921AF}"/>
              </a:ext>
            </a:extLst>
          </p:cNvPr>
          <p:cNvSpPr>
            <a:spLocks noGrp="1"/>
          </p:cNvSpPr>
          <p:nvPr>
            <p:ph type="title"/>
          </p:nvPr>
        </p:nvSpPr>
        <p:spPr/>
        <p:txBody>
          <a:bodyPr/>
          <a:lstStyle/>
          <a:p>
            <a:r>
              <a:rPr lang="en-US" b="1" dirty="0"/>
              <a:t>Strict Two-Phase Locking (Strict 2PL)</a:t>
            </a:r>
            <a:br>
              <a:rPr lang="en-US" dirty="0"/>
            </a:br>
            <a:endParaRPr lang="en-US" dirty="0"/>
          </a:p>
        </p:txBody>
      </p:sp>
      <p:sp>
        <p:nvSpPr>
          <p:cNvPr id="3" name="Content Placeholder 2">
            <a:extLst>
              <a:ext uri="{FF2B5EF4-FFF2-40B4-BE49-F238E27FC236}">
                <a16:creationId xmlns:a16="http://schemas.microsoft.com/office/drawing/2014/main" id="{585D1545-9EF1-4C97-B757-2FD0DD26EE5B}"/>
              </a:ext>
            </a:extLst>
          </p:cNvPr>
          <p:cNvSpPr>
            <a:spLocks noGrp="1"/>
          </p:cNvSpPr>
          <p:nvPr>
            <p:ph idx="1"/>
          </p:nvPr>
        </p:nvSpPr>
        <p:spPr/>
        <p:txBody>
          <a:bodyPr>
            <a:normAutofit lnSpcReduction="10000"/>
          </a:bodyPr>
          <a:lstStyle/>
          <a:p>
            <a:r>
              <a:rPr lang="en-US" dirty="0"/>
              <a:t>It is a most widely used locking protocol. It provides few rules to the Transactions to access the Database Objects. They are:</a:t>
            </a:r>
          </a:p>
          <a:p>
            <a:r>
              <a:rPr lang="en-US" b="1" dirty="0"/>
              <a:t>Rule 1:</a:t>
            </a:r>
            <a:endParaRPr lang="en-US" dirty="0"/>
          </a:p>
          <a:p>
            <a:pPr>
              <a:buFont typeface="Wingdings" panose="05000000000000000000" pitchFamily="2" charset="2"/>
              <a:buChar char="Ø"/>
            </a:pPr>
            <a:r>
              <a:rPr lang="en-US" dirty="0"/>
              <a:t>If a Transaction “T” wants to read, modify an object, it first requests a shared and then exclusive lock on the Database Object respectively.</a:t>
            </a:r>
          </a:p>
          <a:p>
            <a:r>
              <a:rPr lang="en-US" b="1" dirty="0"/>
              <a:t>Rule 2:</a:t>
            </a:r>
            <a:endParaRPr lang="en-US" dirty="0"/>
          </a:p>
          <a:p>
            <a:pPr>
              <a:buFont typeface="Wingdings" panose="05000000000000000000" pitchFamily="2" charset="2"/>
              <a:buChar char="Ø"/>
            </a:pPr>
            <a:r>
              <a:rPr lang="en-US" dirty="0"/>
              <a:t>All Locks held by the Transaction will be released when it is completed.</a:t>
            </a:r>
          </a:p>
          <a:p>
            <a:endParaRPr lang="en-US" dirty="0"/>
          </a:p>
        </p:txBody>
      </p:sp>
    </p:spTree>
    <p:extLst>
      <p:ext uri="{BB962C8B-B14F-4D97-AF65-F5344CB8AC3E}">
        <p14:creationId xmlns:p14="http://schemas.microsoft.com/office/powerpoint/2010/main" val="1746357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2B36B-DB16-4C1A-80A9-B8110839543A}"/>
              </a:ext>
            </a:extLst>
          </p:cNvPr>
          <p:cNvSpPr>
            <a:spLocks noGrp="1"/>
          </p:cNvSpPr>
          <p:nvPr>
            <p:ph type="title"/>
          </p:nvPr>
        </p:nvSpPr>
        <p:spPr>
          <a:xfrm>
            <a:off x="1484310" y="0"/>
            <a:ext cx="10018713" cy="1752599"/>
          </a:xfrm>
        </p:spPr>
        <p:txBody>
          <a:bodyPr/>
          <a:lstStyle/>
          <a:p>
            <a:r>
              <a:rPr lang="en-US" b="1" i="1" dirty="0"/>
              <a:t>Shared Lock</a:t>
            </a:r>
            <a:endParaRPr lang="en-US" dirty="0"/>
          </a:p>
        </p:txBody>
      </p:sp>
      <p:sp>
        <p:nvSpPr>
          <p:cNvPr id="3" name="Content Placeholder 2">
            <a:extLst>
              <a:ext uri="{FF2B5EF4-FFF2-40B4-BE49-F238E27FC236}">
                <a16:creationId xmlns:a16="http://schemas.microsoft.com/office/drawing/2014/main" id="{C1CE1FEF-EB98-4754-A32C-716D54898591}"/>
              </a:ext>
            </a:extLst>
          </p:cNvPr>
          <p:cNvSpPr>
            <a:spLocks noGrp="1"/>
          </p:cNvSpPr>
          <p:nvPr>
            <p:ph idx="1"/>
          </p:nvPr>
        </p:nvSpPr>
        <p:spPr>
          <a:xfrm>
            <a:off x="1484310" y="1491916"/>
            <a:ext cx="10018713" cy="4696328"/>
          </a:xfrm>
        </p:spPr>
        <p:txBody>
          <a:bodyPr>
            <a:normAutofit/>
          </a:bodyPr>
          <a:lstStyle/>
          <a:p>
            <a:r>
              <a:rPr lang="en-US" dirty="0"/>
              <a:t>It is type of lock established on a Database Object.</a:t>
            </a:r>
          </a:p>
          <a:p>
            <a:r>
              <a:rPr lang="en-US" dirty="0"/>
              <a:t> It is like a component which is sharable within all active transactions. A Database Object can be shared locked by more than one number of transactions. To get a shared lock on particular Database Object the Database Object should satisfy the following condition.</a:t>
            </a:r>
          </a:p>
          <a:p>
            <a:r>
              <a:rPr lang="en-US" b="1" dirty="0"/>
              <a:t>Condition:</a:t>
            </a:r>
            <a:r>
              <a:rPr lang="en-US" dirty="0"/>
              <a:t> It should not be exclusively locked by any of the other Transactions.</a:t>
            </a:r>
          </a:p>
          <a:p>
            <a:r>
              <a:rPr lang="en-US" b="1" dirty="0"/>
              <a:t>Example:</a:t>
            </a:r>
            <a:r>
              <a:rPr lang="en-US" dirty="0"/>
              <a:t> If a person updates his bank account then the Database will lock that Database Object exclusively to avoid RW conflicts. So the Transactions which are requesting to read that Database Object will be suspended until the completion of updating.</a:t>
            </a:r>
          </a:p>
          <a:p>
            <a:endParaRPr lang="en-US" dirty="0"/>
          </a:p>
        </p:txBody>
      </p:sp>
    </p:spTree>
    <p:extLst>
      <p:ext uri="{BB962C8B-B14F-4D97-AF65-F5344CB8AC3E}">
        <p14:creationId xmlns:p14="http://schemas.microsoft.com/office/powerpoint/2010/main" val="1679634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0FDCC-771B-4563-A747-FEA5AD8A9E97}"/>
              </a:ext>
            </a:extLst>
          </p:cNvPr>
          <p:cNvSpPr>
            <a:spLocks noGrp="1"/>
          </p:cNvSpPr>
          <p:nvPr>
            <p:ph type="title"/>
          </p:nvPr>
        </p:nvSpPr>
        <p:spPr>
          <a:xfrm>
            <a:off x="1484310" y="0"/>
            <a:ext cx="10018713" cy="1752599"/>
          </a:xfrm>
        </p:spPr>
        <p:txBody>
          <a:bodyPr/>
          <a:lstStyle/>
          <a:p>
            <a:r>
              <a:rPr lang="en-US" b="1" i="1" dirty="0"/>
              <a:t>Exclusive Lock</a:t>
            </a:r>
            <a:endParaRPr lang="en-US" dirty="0"/>
          </a:p>
        </p:txBody>
      </p:sp>
      <p:sp>
        <p:nvSpPr>
          <p:cNvPr id="3" name="Content Placeholder 2">
            <a:extLst>
              <a:ext uri="{FF2B5EF4-FFF2-40B4-BE49-F238E27FC236}">
                <a16:creationId xmlns:a16="http://schemas.microsoft.com/office/drawing/2014/main" id="{25DC346D-4A55-4205-974D-CEB9BCF512F1}"/>
              </a:ext>
            </a:extLst>
          </p:cNvPr>
          <p:cNvSpPr>
            <a:spLocks noGrp="1"/>
          </p:cNvSpPr>
          <p:nvPr>
            <p:ph idx="1"/>
          </p:nvPr>
        </p:nvSpPr>
        <p:spPr>
          <a:xfrm>
            <a:off x="1484310" y="1588169"/>
            <a:ext cx="10018713" cy="5269832"/>
          </a:xfrm>
        </p:spPr>
        <p:txBody>
          <a:bodyPr>
            <a:normAutofit fontScale="92500"/>
          </a:bodyPr>
          <a:lstStyle/>
          <a:p>
            <a:r>
              <a:rPr lang="en-US" dirty="0"/>
              <a:t>It is type of lock established on a Database Object. It is like a component which cannot be shared within all active Transactions. It is dedicated to particular transaction; only that particular transaction can access and modify that object.</a:t>
            </a:r>
          </a:p>
          <a:p>
            <a:r>
              <a:rPr lang="en-US" b="1" dirty="0"/>
              <a:t>Condition:</a:t>
            </a:r>
            <a:r>
              <a:rPr lang="en-US" dirty="0"/>
              <a:t> It should not be exclusively locked by any one of the other Transactions.</a:t>
            </a:r>
          </a:p>
          <a:p>
            <a:r>
              <a:rPr lang="en-US" b="1" dirty="0"/>
              <a:t>Example: </a:t>
            </a:r>
            <a:r>
              <a:rPr lang="en-US" dirty="0"/>
              <a:t>Assume the situation in reservation of Bus tickets in KPN Travels agencies. Assume number of tickets remain in bus no. 664 AV is only one. Two persons who are in different places are trying to reserve that particular ticket. See the situation here that only one of them should be allowed to access the Database while the other should wait until previous one is completed. Otherwise one terminal will check the number of seats available and due to interleaved actions next terminal will do the same and finally both of them will try to modify the Database (Decrement the seats available) this leads to more anomalies in Database and finally Database will be left into inconsistent state.</a:t>
            </a:r>
          </a:p>
          <a:p>
            <a:endParaRPr lang="en-US" dirty="0"/>
          </a:p>
          <a:p>
            <a:endParaRPr lang="en-US" dirty="0"/>
          </a:p>
        </p:txBody>
      </p:sp>
    </p:spTree>
    <p:extLst>
      <p:ext uri="{BB962C8B-B14F-4D97-AF65-F5344CB8AC3E}">
        <p14:creationId xmlns:p14="http://schemas.microsoft.com/office/powerpoint/2010/main" val="36222898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CF26-0A28-410E-8940-4BC2E0429804}"/>
              </a:ext>
            </a:extLst>
          </p:cNvPr>
          <p:cNvSpPr>
            <a:spLocks noGrp="1"/>
          </p:cNvSpPr>
          <p:nvPr>
            <p:ph type="title"/>
          </p:nvPr>
        </p:nvSpPr>
        <p:spPr>
          <a:xfrm>
            <a:off x="1484310" y="128337"/>
            <a:ext cx="10018713" cy="1171073"/>
          </a:xfrm>
        </p:spPr>
        <p:txBody>
          <a:bodyPr>
            <a:normAutofit/>
          </a:bodyPr>
          <a:lstStyle/>
          <a:p>
            <a:r>
              <a:rPr lang="en-US" b="1" dirty="0"/>
              <a:t>Deadlock</a:t>
            </a:r>
            <a:endParaRPr lang="en-US" dirty="0"/>
          </a:p>
        </p:txBody>
      </p:sp>
      <p:sp>
        <p:nvSpPr>
          <p:cNvPr id="3" name="Content Placeholder 2">
            <a:extLst>
              <a:ext uri="{FF2B5EF4-FFF2-40B4-BE49-F238E27FC236}">
                <a16:creationId xmlns:a16="http://schemas.microsoft.com/office/drawing/2014/main" id="{EFE07514-C4F4-47A6-8CA7-1867144E839D}"/>
              </a:ext>
            </a:extLst>
          </p:cNvPr>
          <p:cNvSpPr>
            <a:spLocks noGrp="1"/>
          </p:cNvSpPr>
          <p:nvPr>
            <p:ph idx="1"/>
          </p:nvPr>
        </p:nvSpPr>
        <p:spPr>
          <a:xfrm>
            <a:off x="1484310" y="1058780"/>
            <a:ext cx="10018713" cy="5799220"/>
          </a:xfrm>
        </p:spPr>
        <p:txBody>
          <a:bodyPr>
            <a:normAutofit/>
          </a:bodyPr>
          <a:lstStyle/>
          <a:p>
            <a:r>
              <a:rPr lang="en-US" dirty="0"/>
              <a:t>Deadlock occurs within the Transactions in DBMS system. </a:t>
            </a:r>
          </a:p>
          <a:p>
            <a:r>
              <a:rPr lang="en-US" dirty="0"/>
              <a:t>Due to this neither one will be committed. This is the dead end to the execution of transactions. DBMS has to use suitable recovery systems to overcome Deadlocks. Reasons for Deadlock Occurrence. </a:t>
            </a:r>
          </a:p>
          <a:p>
            <a:r>
              <a:rPr lang="en-US" dirty="0"/>
              <a:t>Deadlock occurs mainly due to the Lock-Based Concurrency Control. The exclusive lock type will isolate one particular Database Object from the access of other transactions. </a:t>
            </a:r>
          </a:p>
          <a:p>
            <a:r>
              <a:rPr lang="en-US" dirty="0"/>
              <a:t>This will suspend all the transactions who request Shared lock on that particular Database Object until the transaction which holds Exclusive lock on that object is completed. This will create a loop in Database which leads to Deadlock within transactions. </a:t>
            </a:r>
          </a:p>
          <a:p>
            <a:r>
              <a:rPr lang="en-US" dirty="0"/>
              <a:t>This will leave the Database in inconsistent state.</a:t>
            </a:r>
          </a:p>
        </p:txBody>
      </p:sp>
    </p:spTree>
    <p:extLst>
      <p:ext uri="{BB962C8B-B14F-4D97-AF65-F5344CB8AC3E}">
        <p14:creationId xmlns:p14="http://schemas.microsoft.com/office/powerpoint/2010/main" val="38881662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9455E-A59C-401A-84D2-24CD0E284F58}"/>
              </a:ext>
            </a:extLst>
          </p:cNvPr>
          <p:cNvSpPr>
            <a:spLocks noGrp="1"/>
          </p:cNvSpPr>
          <p:nvPr>
            <p:ph type="title"/>
          </p:nvPr>
        </p:nvSpPr>
        <p:spPr>
          <a:xfrm>
            <a:off x="1484310" y="132347"/>
            <a:ext cx="10018713" cy="934453"/>
          </a:xfrm>
        </p:spPr>
        <p:txBody>
          <a:bodyPr/>
          <a:lstStyle/>
          <a:p>
            <a:r>
              <a:rPr lang="en-US" b="1" dirty="0"/>
              <a:t>Example</a:t>
            </a:r>
            <a:endParaRPr lang="en-US" dirty="0"/>
          </a:p>
        </p:txBody>
      </p:sp>
      <p:sp>
        <p:nvSpPr>
          <p:cNvPr id="3" name="Content Placeholder 2">
            <a:extLst>
              <a:ext uri="{FF2B5EF4-FFF2-40B4-BE49-F238E27FC236}">
                <a16:creationId xmlns:a16="http://schemas.microsoft.com/office/drawing/2014/main" id="{058FDACD-87E7-4792-A203-A0E1EE1F7E43}"/>
              </a:ext>
            </a:extLst>
          </p:cNvPr>
          <p:cNvSpPr>
            <a:spLocks noGrp="1"/>
          </p:cNvSpPr>
          <p:nvPr>
            <p:ph idx="1"/>
          </p:nvPr>
        </p:nvSpPr>
        <p:spPr>
          <a:xfrm>
            <a:off x="1484310" y="1347537"/>
            <a:ext cx="4884406" cy="4954628"/>
          </a:xfrm>
        </p:spPr>
        <p:txBody>
          <a:bodyPr/>
          <a:lstStyle/>
          <a:p>
            <a:r>
              <a:rPr lang="en-US" dirty="0"/>
              <a:t>Assume, Transactions T1, T2, T3 as illustrated in Figure below Database Objects are O1, O2, O3.</a:t>
            </a:r>
          </a:p>
          <a:p>
            <a:r>
              <a:rPr lang="en-US" b="1" dirty="0"/>
              <a:t>Explanation: </a:t>
            </a:r>
            <a:r>
              <a:rPr lang="en-US" dirty="0"/>
              <a:t>Here we can observe that the loop occurs between T1 and T3. Neither T1 nor T3 are completed.</a:t>
            </a:r>
          </a:p>
          <a:p>
            <a:endParaRPr lang="en-US" dirty="0"/>
          </a:p>
        </p:txBody>
      </p:sp>
      <p:pic>
        <p:nvPicPr>
          <p:cNvPr id="5122" name="Picture 2">
            <a:extLst>
              <a:ext uri="{FF2B5EF4-FFF2-40B4-BE49-F238E27FC236}">
                <a16:creationId xmlns:a16="http://schemas.microsoft.com/office/drawing/2014/main" id="{F5A09351-08ED-4EAD-A6B8-45089E9B4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3666" y="836571"/>
            <a:ext cx="5465594" cy="546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3980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1C2C6-C094-414F-9B20-84658FA4C008}"/>
              </a:ext>
            </a:extLst>
          </p:cNvPr>
          <p:cNvSpPr>
            <a:spLocks noGrp="1"/>
          </p:cNvSpPr>
          <p:nvPr>
            <p:ph type="title"/>
          </p:nvPr>
        </p:nvSpPr>
        <p:spPr>
          <a:xfrm>
            <a:off x="1644732" y="204537"/>
            <a:ext cx="10018713" cy="741947"/>
          </a:xfrm>
        </p:spPr>
        <p:txBody>
          <a:bodyPr/>
          <a:lstStyle/>
          <a:p>
            <a:r>
              <a:rPr lang="en-US" b="1" dirty="0"/>
              <a:t>Methods to Overcome Deadlock</a:t>
            </a:r>
            <a:endParaRPr lang="en-US" dirty="0"/>
          </a:p>
        </p:txBody>
      </p:sp>
      <p:sp>
        <p:nvSpPr>
          <p:cNvPr id="3" name="Content Placeholder 2">
            <a:extLst>
              <a:ext uri="{FF2B5EF4-FFF2-40B4-BE49-F238E27FC236}">
                <a16:creationId xmlns:a16="http://schemas.microsoft.com/office/drawing/2014/main" id="{5B3ED10C-E24C-46E9-96D9-93487BBE8D4E}"/>
              </a:ext>
            </a:extLst>
          </p:cNvPr>
          <p:cNvSpPr>
            <a:spLocks noGrp="1"/>
          </p:cNvSpPr>
          <p:nvPr>
            <p:ph idx="1"/>
          </p:nvPr>
        </p:nvSpPr>
        <p:spPr>
          <a:xfrm>
            <a:off x="1484310" y="1090863"/>
            <a:ext cx="10018713" cy="5562600"/>
          </a:xfrm>
        </p:spPr>
        <p:txBody>
          <a:bodyPr>
            <a:normAutofit/>
          </a:bodyPr>
          <a:lstStyle/>
          <a:p>
            <a:r>
              <a:rPr lang="en-US" dirty="0"/>
              <a:t>Mostly it is not possible to avoid the occurrence of Deadlock. Most of the methods available are detection and recovery based.</a:t>
            </a:r>
          </a:p>
          <a:p>
            <a:pPr lvl="0">
              <a:buFont typeface="Wingdings" panose="05000000000000000000" pitchFamily="2" charset="2"/>
              <a:buChar char="Ø"/>
            </a:pPr>
            <a:r>
              <a:rPr lang="en-US" dirty="0"/>
              <a:t>Detection from the Average Waiting Time of the Transaction</a:t>
            </a:r>
          </a:p>
          <a:p>
            <a:pPr lvl="0">
              <a:buFont typeface="Wingdings" panose="05000000000000000000" pitchFamily="2" charset="2"/>
              <a:buChar char="Ø"/>
            </a:pPr>
            <a:r>
              <a:rPr lang="en-US" dirty="0"/>
              <a:t>Deadlock Detection algorithm</a:t>
            </a:r>
          </a:p>
          <a:p>
            <a:pPr marL="0" indent="0">
              <a:buNone/>
            </a:pPr>
            <a:endParaRPr lang="en-US" dirty="0"/>
          </a:p>
          <a:p>
            <a:pPr>
              <a:buFont typeface="Wingdings" panose="05000000000000000000" pitchFamily="2" charset="2"/>
              <a:buChar char="v"/>
            </a:pPr>
            <a:r>
              <a:rPr lang="en-US" b="1" dirty="0"/>
              <a:t>Recovery Mechanism</a:t>
            </a:r>
            <a:endParaRPr lang="en-US" dirty="0"/>
          </a:p>
          <a:p>
            <a:r>
              <a:rPr lang="en-US" dirty="0"/>
              <a:t>Once if Deadlock is found then we have several methods to release locked Transactions.</a:t>
            </a:r>
          </a:p>
          <a:p>
            <a:pPr>
              <a:buFont typeface="Wingdings" panose="05000000000000000000" pitchFamily="2" charset="2"/>
              <a:buChar char="Ø"/>
            </a:pPr>
            <a:r>
              <a:rPr lang="en-US" b="1" i="1" dirty="0"/>
              <a:t>Method 1</a:t>
            </a:r>
            <a:r>
              <a:rPr lang="en-US" i="1" dirty="0"/>
              <a:t>:</a:t>
            </a:r>
            <a:r>
              <a:rPr lang="en-US" dirty="0"/>
              <a:t> Release of Objects from Big Transaction</a:t>
            </a:r>
          </a:p>
          <a:p>
            <a:pPr>
              <a:buFont typeface="Wingdings" panose="05000000000000000000" pitchFamily="2" charset="2"/>
              <a:buChar char="Ø"/>
            </a:pPr>
            <a:r>
              <a:rPr lang="en-US" b="1" i="1" dirty="0"/>
              <a:t>Method 2:</a:t>
            </a:r>
            <a:r>
              <a:rPr lang="en-US" dirty="0"/>
              <a:t> Restarting the Locked Transactions</a:t>
            </a:r>
          </a:p>
          <a:p>
            <a:endParaRPr lang="en-US" dirty="0"/>
          </a:p>
        </p:txBody>
      </p:sp>
    </p:spTree>
    <p:extLst>
      <p:ext uri="{BB962C8B-B14F-4D97-AF65-F5344CB8AC3E}">
        <p14:creationId xmlns:p14="http://schemas.microsoft.com/office/powerpoint/2010/main" val="15509187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4650</TotalTime>
  <Words>2752</Words>
  <Application>Microsoft Office PowerPoint</Application>
  <PresentationFormat>Widescreen</PresentationFormat>
  <Paragraphs>153</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Corbel</vt:lpstr>
      <vt:lpstr>Wingdings</vt:lpstr>
      <vt:lpstr>Parallax</vt:lpstr>
      <vt:lpstr>Database Systems 2</vt:lpstr>
      <vt:lpstr>Database II - Lecture 6 Transaction Processing</vt:lpstr>
      <vt:lpstr>Introduction</vt:lpstr>
      <vt:lpstr>Key Notations in Transaction Management</vt:lpstr>
      <vt:lpstr>Concept of Transaction Management</vt:lpstr>
      <vt:lpstr>ACID Properties of DBMS</vt:lpstr>
      <vt:lpstr>Atomicity</vt:lpstr>
      <vt:lpstr>Durability</vt:lpstr>
      <vt:lpstr>Consistency</vt:lpstr>
      <vt:lpstr>Isolation</vt:lpstr>
      <vt:lpstr>Serial Scheduling</vt:lpstr>
      <vt:lpstr>Interleaved Execution</vt:lpstr>
      <vt:lpstr>Example</vt:lpstr>
      <vt:lpstr> Anomalies due to Interleaved Transactions</vt:lpstr>
      <vt:lpstr>WR Conflicts</vt:lpstr>
      <vt:lpstr>Explanation</vt:lpstr>
      <vt:lpstr>RW Conflicts</vt:lpstr>
      <vt:lpstr>Explanation</vt:lpstr>
      <vt:lpstr> WW Conflicts</vt:lpstr>
      <vt:lpstr>Explanation </vt:lpstr>
      <vt:lpstr>Concurrency Control</vt:lpstr>
      <vt:lpstr>Need for Concurrency Control </vt:lpstr>
      <vt:lpstr>Lock-Based Concurrency Control </vt:lpstr>
      <vt:lpstr>Key Terms in Lock-Based Concurrency Control</vt:lpstr>
      <vt:lpstr>Locking Protocol </vt:lpstr>
      <vt:lpstr>Strict Two-Phase Locking (Strict 2PL) </vt:lpstr>
      <vt:lpstr>Shared Lock</vt:lpstr>
      <vt:lpstr>Exclusive Lock</vt:lpstr>
      <vt:lpstr>Deadlock</vt:lpstr>
      <vt:lpstr>Example</vt:lpstr>
      <vt:lpstr>Methods to Overcome Deadlock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Troubleshoot network connectivity issues</dc:title>
  <dc:creator>Rasool Al-Saadi</dc:creator>
  <cp:lastModifiedBy>Rasool Al-Saadi</cp:lastModifiedBy>
  <cp:revision>223</cp:revision>
  <dcterms:created xsi:type="dcterms:W3CDTF">2020-02-18T05:03:49Z</dcterms:created>
  <dcterms:modified xsi:type="dcterms:W3CDTF">2023-04-05T19:39:02Z</dcterms:modified>
</cp:coreProperties>
</file>