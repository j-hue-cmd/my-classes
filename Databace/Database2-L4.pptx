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3" r:id="rId1"/>
  </p:sldMasterIdLst>
  <p:sldIdLst>
    <p:sldId id="256" r:id="rId2"/>
    <p:sldId id="274" r:id="rId3"/>
    <p:sldId id="293" r:id="rId4"/>
    <p:sldId id="294" r:id="rId5"/>
    <p:sldId id="295" r:id="rId6"/>
    <p:sldId id="296" r:id="rId7"/>
    <p:sldId id="297" r:id="rId8"/>
    <p:sldId id="298" r:id="rId9"/>
    <p:sldId id="299" r:id="rId10"/>
    <p:sldId id="300" r:id="rId11"/>
    <p:sldId id="301" r:id="rId12"/>
    <p:sldId id="302" r:id="rId13"/>
    <p:sldId id="303" r:id="rId14"/>
    <p:sldId id="304" r:id="rId15"/>
    <p:sldId id="305" r:id="rId16"/>
    <p:sldId id="306" r:id="rId17"/>
    <p:sldId id="307" r:id="rId18"/>
    <p:sldId id="308" r:id="rId19"/>
    <p:sldId id="309" r:id="rId20"/>
    <p:sldId id="310"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238" autoAdjust="0"/>
  </p:normalViewPr>
  <p:slideViewPr>
    <p:cSldViewPr snapToGrid="0">
      <p:cViewPr varScale="1">
        <p:scale>
          <a:sx n="86" d="100"/>
          <a:sy n="86"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AU" dirty="0"/>
            </a:p>
          </p:txBody>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2BE6EF5-D501-45B9-BF1D-4F3958A2C023}" type="datetimeFigureOut">
              <a:rPr lang="en-AU" smtClean="0"/>
              <a:t>15/03/2023</a:t>
            </a:fld>
            <a:endParaRPr lang="en-AU" dirty="0"/>
          </a:p>
        </p:txBody>
      </p:sp>
      <p:sp>
        <p:nvSpPr>
          <p:cNvPr id="5" name="Footer Placeholder 4"/>
          <p:cNvSpPr>
            <a:spLocks noGrp="1"/>
          </p:cNvSpPr>
          <p:nvPr>
            <p:ph type="ftr" sz="quarter" idx="11"/>
          </p:nvPr>
        </p:nvSpPr>
        <p:spPr>
          <a:xfrm>
            <a:off x="5332412" y="5883275"/>
            <a:ext cx="4324044" cy="365125"/>
          </a:xfrm>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284539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BE6EF5-D501-45B9-BF1D-4F3958A2C023}" type="datetimeFigureOut">
              <a:rPr lang="en-AU" smtClean="0"/>
              <a:t>15/03/2023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a:xfrm>
            <a:off x="10951856" y="5867131"/>
            <a:ext cx="551167" cy="365125"/>
          </a:xfrm>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8938905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15/03/2023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932139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2BE6EF5-D501-45B9-BF1D-4F3958A2C023}" type="datetimeFigureOut">
              <a:rPr lang="en-AU" smtClean="0"/>
              <a:t>15/03/2023</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20544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2BE6EF5-D501-45B9-BF1D-4F3958A2C023}" type="datetimeFigureOut">
              <a:rPr lang="en-AU" smtClean="0"/>
              <a:t>15/03/2023</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7846493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2BE6EF5-D501-45B9-BF1D-4F3958A2C023}" type="datetimeFigureOut">
              <a:rPr lang="en-AU" smtClean="0"/>
              <a:t>15/03/2023</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418546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BE6EF5-D501-45B9-BF1D-4F3958A2C023}" type="datetimeFigureOut">
              <a:rPr lang="en-AU" smtClean="0"/>
              <a:t>15/03/2023</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186357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BE6EF5-D501-45B9-BF1D-4F3958A2C023}" type="datetimeFigureOut">
              <a:rPr lang="en-AU" smtClean="0"/>
              <a:t>15/03/2023</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669406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BE6EF5-D501-45B9-BF1D-4F3958A2C023}" type="datetimeFigureOut">
              <a:rPr lang="en-AU" smtClean="0"/>
              <a:t>15/03/2023</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3936086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BE6EF5-D501-45B9-BF1D-4F3958A2C023}" type="datetimeFigureOut">
              <a:rPr lang="en-AU" smtClean="0"/>
              <a:t>15/03/2023</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106932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15/03/2023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6776190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15/03/2023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323524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15/03/2023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42604582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15/03/2023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3236049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15/03/2023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3958155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BE6EF5-D501-45B9-BF1D-4F3958A2C023}" type="datetimeFigureOut">
              <a:rPr lang="en-AU" smtClean="0"/>
              <a:t>15/03/2023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42835600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BE6EF5-D501-45B9-BF1D-4F3958A2C023}" type="datetimeFigureOut">
              <a:rPr lang="en-AU" smtClean="0"/>
              <a:t>15/03/2023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3928317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alphaModFix amt="3400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2BE6EF5-D501-45B9-BF1D-4F3958A2C023}" type="datetimeFigureOut">
              <a:rPr lang="en-AU" smtClean="0"/>
              <a:t>15/03/2023</a:t>
            </a:fld>
            <a:endParaRPr lang="en-AU"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AU"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DA86AD4-3B45-4902-8FDB-DE84D31C86CD}" type="slidenum">
              <a:rPr lang="en-AU" smtClean="0"/>
              <a:t>‹#›</a:t>
            </a:fld>
            <a:endParaRPr lang="en-AU" dirty="0"/>
          </a:p>
        </p:txBody>
      </p:sp>
    </p:spTree>
    <p:extLst>
      <p:ext uri="{BB962C8B-B14F-4D97-AF65-F5344CB8AC3E}">
        <p14:creationId xmlns:p14="http://schemas.microsoft.com/office/powerpoint/2010/main" val="2986099449"/>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 id="2147483785" r:id="rId12"/>
    <p:sldLayoutId id="2147483786" r:id="rId13"/>
    <p:sldLayoutId id="2147483787" r:id="rId14"/>
    <p:sldLayoutId id="2147483788" r:id="rId15"/>
    <p:sldLayoutId id="2147483789" r:id="rId16"/>
    <p:sldLayoutId id="2147483790"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B6A14-583D-428B-BCEA-39BC26517A96}"/>
              </a:ext>
            </a:extLst>
          </p:cNvPr>
          <p:cNvSpPr>
            <a:spLocks noGrp="1"/>
          </p:cNvSpPr>
          <p:nvPr>
            <p:ph type="ctrTitle"/>
          </p:nvPr>
        </p:nvSpPr>
        <p:spPr>
          <a:xfrm>
            <a:off x="2820918" y="0"/>
            <a:ext cx="8574622" cy="2616199"/>
          </a:xfrm>
        </p:spPr>
        <p:txBody>
          <a:bodyPr/>
          <a:lstStyle/>
          <a:p>
            <a:pPr algn="ctr"/>
            <a:r>
              <a:rPr lang="en-AU" dirty="0"/>
              <a:t>Database Systems 2</a:t>
            </a:r>
          </a:p>
        </p:txBody>
      </p:sp>
      <p:sp>
        <p:nvSpPr>
          <p:cNvPr id="3" name="Subtitle 2">
            <a:extLst>
              <a:ext uri="{FF2B5EF4-FFF2-40B4-BE49-F238E27FC236}">
                <a16:creationId xmlns:a16="http://schemas.microsoft.com/office/drawing/2014/main" id="{E9053E97-050B-432A-8023-71AA641A2B49}"/>
              </a:ext>
            </a:extLst>
          </p:cNvPr>
          <p:cNvSpPr>
            <a:spLocks noGrp="1"/>
          </p:cNvSpPr>
          <p:nvPr>
            <p:ph type="subTitle" idx="1"/>
          </p:nvPr>
        </p:nvSpPr>
        <p:spPr>
          <a:xfrm>
            <a:off x="4138863" y="2782682"/>
            <a:ext cx="6481012" cy="3842708"/>
          </a:xfrm>
        </p:spPr>
        <p:txBody>
          <a:bodyPr>
            <a:normAutofit/>
          </a:bodyPr>
          <a:lstStyle/>
          <a:p>
            <a:pPr algn="ctr"/>
            <a:r>
              <a:rPr lang="en-US" b="1" dirty="0"/>
              <a:t>Dr. Rasool Hisham</a:t>
            </a:r>
          </a:p>
          <a:p>
            <a:pPr algn="ctr"/>
            <a:r>
              <a:rPr lang="en-US" b="1" dirty="0"/>
              <a:t>For 3</a:t>
            </a:r>
            <a:r>
              <a:rPr lang="en-US" b="1" baseline="30000" dirty="0"/>
              <a:t>rd</a:t>
            </a:r>
            <a:r>
              <a:rPr lang="en-US" b="1" dirty="0"/>
              <a:t> year students, 2</a:t>
            </a:r>
            <a:r>
              <a:rPr lang="en-US" b="1" baseline="30000" dirty="0"/>
              <a:t>nd</a:t>
            </a:r>
            <a:r>
              <a:rPr lang="en-US" b="1" dirty="0"/>
              <a:t> semester</a:t>
            </a:r>
          </a:p>
          <a:p>
            <a:pPr algn="l"/>
            <a:endParaRPr lang="en-US" b="1" dirty="0"/>
          </a:p>
          <a:p>
            <a:pPr algn="l"/>
            <a:r>
              <a:rPr lang="en-US" b="1" dirty="0"/>
              <a:t>Al-</a:t>
            </a:r>
            <a:r>
              <a:rPr lang="en-US" b="1" dirty="0" err="1"/>
              <a:t>Nahrain</a:t>
            </a:r>
            <a:r>
              <a:rPr lang="en-US" b="1" dirty="0"/>
              <a:t> University</a:t>
            </a:r>
          </a:p>
          <a:p>
            <a:pPr algn="l"/>
            <a:r>
              <a:rPr lang="en-US" b="1" dirty="0"/>
              <a:t>College of Science</a:t>
            </a:r>
          </a:p>
          <a:p>
            <a:pPr algn="l"/>
            <a:r>
              <a:rPr lang="en-US" b="1" dirty="0"/>
              <a:t>Computer Science Department</a:t>
            </a:r>
          </a:p>
        </p:txBody>
      </p:sp>
    </p:spTree>
    <p:extLst>
      <p:ext uri="{BB962C8B-B14F-4D97-AF65-F5344CB8AC3E}">
        <p14:creationId xmlns:p14="http://schemas.microsoft.com/office/powerpoint/2010/main" val="25631992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CB23D-5EEF-4B0C-BC86-F26DF1B552B8}"/>
              </a:ext>
            </a:extLst>
          </p:cNvPr>
          <p:cNvSpPr>
            <a:spLocks noGrp="1"/>
          </p:cNvSpPr>
          <p:nvPr>
            <p:ph type="title"/>
          </p:nvPr>
        </p:nvSpPr>
        <p:spPr>
          <a:xfrm>
            <a:off x="1484310" y="2552700"/>
            <a:ext cx="10018713" cy="1752599"/>
          </a:xfrm>
        </p:spPr>
        <p:txBody>
          <a:bodyPr>
            <a:normAutofit fontScale="90000"/>
          </a:bodyPr>
          <a:lstStyle/>
          <a:p>
            <a:r>
              <a:rPr lang="en-US" sz="3100" dirty="0">
                <a:ea typeface="Times New Roman" panose="02020603050405020304" pitchFamily="18" charset="0"/>
              </a:rPr>
              <a:t>Database II - </a:t>
            </a:r>
            <a:r>
              <a:rPr lang="en-US" sz="3100">
                <a:ea typeface="Times New Roman" panose="02020603050405020304" pitchFamily="18" charset="0"/>
              </a:rPr>
              <a:t>Lecture 4</a:t>
            </a:r>
            <a:br>
              <a:rPr lang="en-US" sz="3100" dirty="0">
                <a:ea typeface="Times New Roman" panose="02020603050405020304" pitchFamily="18" charset="0"/>
              </a:rPr>
            </a:br>
            <a:br>
              <a:rPr lang="en-US" dirty="0">
                <a:ea typeface="Times New Roman" panose="02020603050405020304" pitchFamily="18" charset="0"/>
              </a:rPr>
            </a:br>
            <a:r>
              <a:rPr lang="en-US" dirty="0"/>
              <a:t>Functional Dependency </a:t>
            </a:r>
            <a:br>
              <a:rPr lang="en-US" dirty="0"/>
            </a:br>
            <a:endParaRPr lang="en-AU" dirty="0"/>
          </a:p>
        </p:txBody>
      </p:sp>
    </p:spTree>
    <p:extLst>
      <p:ext uri="{BB962C8B-B14F-4D97-AF65-F5344CB8AC3E}">
        <p14:creationId xmlns:p14="http://schemas.microsoft.com/office/powerpoint/2010/main" val="1835116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5" y="272715"/>
            <a:ext cx="10018713" cy="1502043"/>
          </a:xfrm>
        </p:spPr>
        <p:txBody>
          <a:bodyPr/>
          <a:lstStyle/>
          <a:p>
            <a:r>
              <a:rPr lang="en-US" dirty="0"/>
              <a:t>Functional Dependency</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283368"/>
            <a:ext cx="9813726" cy="5440177"/>
          </a:xfrm>
        </p:spPr>
        <p:txBody>
          <a:bodyPr>
            <a:normAutofit/>
          </a:bodyPr>
          <a:lstStyle/>
          <a:p>
            <a:r>
              <a:rPr lang="en-US" dirty="0">
                <a:cs typeface="Courier New" panose="02070309020205020404" pitchFamily="49" charset="0"/>
              </a:rPr>
              <a:t>Functional dependencies are the relationships among the attributes within a relation. </a:t>
            </a:r>
          </a:p>
          <a:p>
            <a:r>
              <a:rPr lang="en-US" dirty="0">
                <a:cs typeface="Courier New" panose="02070309020205020404" pitchFamily="49" charset="0"/>
              </a:rPr>
              <a:t>Functional dependencies provide a formal mechanism to express constraints between attributes. </a:t>
            </a:r>
          </a:p>
          <a:p>
            <a:r>
              <a:rPr lang="en-US" dirty="0">
                <a:cs typeface="Courier New" panose="02070309020205020404" pitchFamily="49" charset="0"/>
              </a:rPr>
              <a:t>If attribute A functionally depends on attribute B, then for every instance of B you will know the respective value of A. </a:t>
            </a:r>
          </a:p>
          <a:p>
            <a:r>
              <a:rPr lang="en-US" dirty="0">
                <a:cs typeface="Courier New" panose="02070309020205020404" pitchFamily="49" charset="0"/>
              </a:rPr>
              <a:t>Attribute “B” is functionally dependent upon attribute “A” (or collection of attributes) if a value of “A” determines or single value of attributes “B” at only one time.</a:t>
            </a:r>
          </a:p>
          <a:p>
            <a:r>
              <a:rPr lang="en-US" dirty="0">
                <a:cs typeface="Courier New" panose="02070309020205020404" pitchFamily="49" charset="0"/>
              </a:rPr>
              <a:t>Functional dependency helps to identify how attributes are related to each other.</a:t>
            </a:r>
          </a:p>
        </p:txBody>
      </p:sp>
    </p:spTree>
    <p:extLst>
      <p:ext uri="{BB962C8B-B14F-4D97-AF65-F5344CB8AC3E}">
        <p14:creationId xmlns:p14="http://schemas.microsoft.com/office/powerpoint/2010/main" val="9540030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5" y="0"/>
            <a:ext cx="10018713" cy="1502043"/>
          </a:xfrm>
        </p:spPr>
        <p:txBody>
          <a:bodyPr/>
          <a:lstStyle/>
          <a:p>
            <a:r>
              <a:rPr lang="en-US" dirty="0"/>
              <a:t>Notation of Functional Dependency</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892967" y="1283369"/>
            <a:ext cx="9555187" cy="4523874"/>
          </a:xfrm>
        </p:spPr>
        <p:txBody>
          <a:bodyPr>
            <a:normAutofit/>
          </a:bodyPr>
          <a:lstStyle/>
          <a:p>
            <a:r>
              <a:rPr lang="en-US" dirty="0">
                <a:cs typeface="Courier New" panose="02070309020205020404" pitchFamily="49" charset="0"/>
              </a:rPr>
              <a:t>The notation of functional dependency is A </a:t>
            </a:r>
            <a:r>
              <a:rPr lang="en-AU" dirty="0"/>
              <a:t> </a:t>
            </a:r>
            <a:r>
              <a:rPr lang="en-US" dirty="0">
                <a:sym typeface="Symbol" panose="05050102010706020507" pitchFamily="18" charset="2"/>
              </a:rPr>
              <a:t> </a:t>
            </a:r>
            <a:r>
              <a:rPr lang="en-US" dirty="0">
                <a:cs typeface="Courier New" panose="02070309020205020404" pitchFamily="49" charset="0"/>
              </a:rPr>
              <a:t>B.</a:t>
            </a:r>
          </a:p>
          <a:p>
            <a:r>
              <a:rPr lang="en-US" dirty="0">
                <a:cs typeface="Courier New" panose="02070309020205020404" pitchFamily="49" charset="0"/>
              </a:rPr>
              <a:t>The meaning of this notation is:</a:t>
            </a:r>
          </a:p>
          <a:p>
            <a:pPr marL="457200" indent="-457200">
              <a:buFont typeface="+mj-lt"/>
              <a:buAutoNum type="arabicPeriod"/>
            </a:pPr>
            <a:r>
              <a:rPr lang="en-US" dirty="0">
                <a:cs typeface="Courier New" panose="02070309020205020404" pitchFamily="49" charset="0"/>
              </a:rPr>
              <a:t> “A” determines “B”</a:t>
            </a:r>
          </a:p>
          <a:p>
            <a:pPr marL="457200" indent="-457200">
              <a:buFont typeface="+mj-lt"/>
              <a:buAutoNum type="arabicPeriod"/>
            </a:pPr>
            <a:r>
              <a:rPr lang="en-US" dirty="0">
                <a:cs typeface="Courier New" panose="02070309020205020404" pitchFamily="49" charset="0"/>
              </a:rPr>
              <a:t>“B” is functionally dependent on “A”</a:t>
            </a:r>
          </a:p>
          <a:p>
            <a:pPr marL="457200" indent="-457200">
              <a:buFont typeface="+mj-lt"/>
              <a:buAutoNum type="arabicPeriod"/>
            </a:pPr>
            <a:r>
              <a:rPr lang="en-US" dirty="0">
                <a:cs typeface="Courier New" panose="02070309020205020404" pitchFamily="49" charset="0"/>
              </a:rPr>
              <a:t>“A” is called determinant</a:t>
            </a:r>
          </a:p>
          <a:p>
            <a:pPr marL="457200" indent="-457200">
              <a:buFont typeface="+mj-lt"/>
              <a:buAutoNum type="arabicPeriod"/>
            </a:pPr>
            <a:r>
              <a:rPr lang="en-US" dirty="0">
                <a:cs typeface="Courier New" panose="02070309020205020404" pitchFamily="49" charset="0"/>
              </a:rPr>
              <a:t>“B” is called object of the determinant</a:t>
            </a:r>
          </a:p>
          <a:p>
            <a:r>
              <a:rPr lang="en-US" dirty="0">
                <a:cs typeface="Courier New" panose="02070309020205020404" pitchFamily="49" charset="0"/>
              </a:rPr>
              <a:t>Student ID </a:t>
            </a:r>
            <a:r>
              <a:rPr lang="en-AU" dirty="0"/>
              <a:t> </a:t>
            </a:r>
            <a:r>
              <a:rPr lang="en-US" dirty="0">
                <a:sym typeface="Symbol" panose="05050102010706020507" pitchFamily="18" charset="2"/>
              </a:rPr>
              <a:t></a:t>
            </a:r>
            <a:r>
              <a:rPr lang="en-US" dirty="0"/>
              <a:t> </a:t>
            </a:r>
            <a:r>
              <a:rPr lang="en-US" dirty="0">
                <a:cs typeface="Courier New" panose="02070309020205020404" pitchFamily="49" charset="0"/>
              </a:rPr>
              <a:t>GPA. The meaning is the grade point average (GPA) can be determined if we know the student ID.</a:t>
            </a:r>
          </a:p>
          <a:p>
            <a:endParaRPr lang="en-US" dirty="0">
              <a:cs typeface="Courier New" panose="02070309020205020404" pitchFamily="49" charset="0"/>
            </a:endParaRPr>
          </a:p>
        </p:txBody>
      </p:sp>
      <p:pic>
        <p:nvPicPr>
          <p:cNvPr id="4098" name="Picture 2">
            <a:extLst>
              <a:ext uri="{FF2B5EF4-FFF2-40B4-BE49-F238E27FC236}">
                <a16:creationId xmlns:a16="http://schemas.microsoft.com/office/drawing/2014/main" id="{6DDAF808-0A64-4EAD-AFE2-B900B207141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 b="46809"/>
          <a:stretch/>
        </p:blipFill>
        <p:spPr bwMode="auto">
          <a:xfrm>
            <a:off x="3485899" y="5409363"/>
            <a:ext cx="5154525" cy="91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16035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29441" y="134455"/>
            <a:ext cx="10018713" cy="1502043"/>
          </a:xfrm>
        </p:spPr>
        <p:txBody>
          <a:bodyPr/>
          <a:lstStyle/>
          <a:p>
            <a:r>
              <a:rPr lang="en-US" dirty="0"/>
              <a:t>Notation of Functional Dependency (cont.)</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892967" y="1034793"/>
            <a:ext cx="9555187" cy="5440177"/>
          </a:xfrm>
        </p:spPr>
        <p:txBody>
          <a:bodyPr>
            <a:normAutofit/>
          </a:bodyPr>
          <a:lstStyle/>
          <a:p>
            <a:r>
              <a:rPr lang="en-US" sz="2800" dirty="0"/>
              <a:t>Let us consider another example of functional dependency,</a:t>
            </a:r>
            <a:endParaRPr lang="en-AU" sz="2800" dirty="0"/>
          </a:p>
          <a:p>
            <a:pPr marL="0" indent="0">
              <a:buNone/>
            </a:pPr>
            <a:r>
              <a:rPr lang="en-US" sz="2800" dirty="0"/>
              <a:t>	Child </a:t>
            </a:r>
            <a:r>
              <a:rPr lang="en-US" sz="2800" dirty="0">
                <a:sym typeface="Symbol" panose="05050102010706020507" pitchFamily="18" charset="2"/>
              </a:rPr>
              <a:t> </a:t>
            </a:r>
            <a:r>
              <a:rPr lang="en-US" sz="2800" dirty="0"/>
              <a:t>Mother</a:t>
            </a:r>
            <a:endParaRPr lang="en-AU" sz="2800" dirty="0"/>
          </a:p>
          <a:p>
            <a:r>
              <a:rPr lang="en-US" sz="2800" dirty="0"/>
              <a:t>Every child has exactly one mother. </a:t>
            </a:r>
          </a:p>
          <a:p>
            <a:r>
              <a:rPr lang="en-US" sz="2800" dirty="0"/>
              <a:t>The attribute mother is functionally dependent on the attribute child.</a:t>
            </a:r>
          </a:p>
          <a:p>
            <a:r>
              <a:rPr lang="en-US" sz="2800" dirty="0"/>
              <a:t> If we specify a child, there is only one possible value for the mother. </a:t>
            </a:r>
          </a:p>
          <a:p>
            <a:r>
              <a:rPr lang="en-US" sz="2800" dirty="0"/>
              <a:t>A functional dependency A</a:t>
            </a:r>
            <a:r>
              <a:rPr lang="en-US" sz="2800" dirty="0">
                <a:sym typeface="Symbol" panose="05050102010706020507" pitchFamily="18" charset="2"/>
              </a:rPr>
              <a:t></a:t>
            </a:r>
            <a:r>
              <a:rPr lang="en-US" sz="2800" dirty="0"/>
              <a:t>B is said to be trivial if B </a:t>
            </a:r>
            <a:r>
              <a:rPr lang="en-US" sz="2800" dirty="0">
                <a:sym typeface="Symbol" panose="05050102010706020507" pitchFamily="18" charset="2"/>
              </a:rPr>
              <a:t></a:t>
            </a:r>
            <a:r>
              <a:rPr lang="en-US" sz="2800" dirty="0"/>
              <a:t> A.</a:t>
            </a:r>
            <a:endParaRPr lang="en-AU" sz="2800" dirty="0"/>
          </a:p>
        </p:txBody>
      </p:sp>
    </p:spTree>
    <p:extLst>
      <p:ext uri="{BB962C8B-B14F-4D97-AF65-F5344CB8AC3E}">
        <p14:creationId xmlns:p14="http://schemas.microsoft.com/office/powerpoint/2010/main" val="626277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29441" y="134455"/>
            <a:ext cx="10018713" cy="1502043"/>
          </a:xfrm>
        </p:spPr>
        <p:txBody>
          <a:bodyPr/>
          <a:lstStyle/>
          <a:p>
            <a:r>
              <a:rPr lang="en-US" dirty="0"/>
              <a:t>Compound Determinants</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892967" y="1283368"/>
            <a:ext cx="9555187" cy="5440177"/>
          </a:xfrm>
        </p:spPr>
        <p:txBody>
          <a:bodyPr>
            <a:normAutofit/>
          </a:bodyPr>
          <a:lstStyle/>
          <a:p>
            <a:r>
              <a:rPr lang="en-US" sz="2800" dirty="0"/>
              <a:t>More than one attribute is necessary to determine another attribute in an entity, and then such a determinant is termed as </a:t>
            </a:r>
            <a:r>
              <a:rPr lang="en-US" sz="2800" b="1" i="1" dirty="0"/>
              <a:t>composite determinant</a:t>
            </a:r>
            <a:r>
              <a:rPr lang="en-US" sz="2800" dirty="0"/>
              <a:t>. </a:t>
            </a:r>
          </a:p>
          <a:p>
            <a:r>
              <a:rPr lang="en-US" sz="2800" dirty="0"/>
              <a:t>For example, the internal marks and the external marks scored by the student determine the grade of the student in a particular subject. </a:t>
            </a:r>
          </a:p>
          <a:p>
            <a:r>
              <a:rPr lang="en-US" sz="2800" dirty="0"/>
              <a:t>Internal mark, external mark </a:t>
            </a:r>
            <a:r>
              <a:rPr lang="en-US" dirty="0">
                <a:sym typeface="Symbol" panose="05050102010706020507" pitchFamily="18" charset="2"/>
              </a:rPr>
              <a:t> </a:t>
            </a:r>
            <a:r>
              <a:rPr lang="en-US" sz="2800" dirty="0"/>
              <a:t>grade. </a:t>
            </a:r>
          </a:p>
          <a:p>
            <a:r>
              <a:rPr lang="en-US" sz="2800" dirty="0"/>
              <a:t>Since more than one attribute is necessary to determine the attribute grade it is an example of compound determinant.</a:t>
            </a:r>
          </a:p>
        </p:txBody>
      </p:sp>
    </p:spTree>
    <p:extLst>
      <p:ext uri="{BB962C8B-B14F-4D97-AF65-F5344CB8AC3E}">
        <p14:creationId xmlns:p14="http://schemas.microsoft.com/office/powerpoint/2010/main" val="94901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29441" y="134455"/>
            <a:ext cx="10018713" cy="1502043"/>
          </a:xfrm>
        </p:spPr>
        <p:txBody>
          <a:bodyPr/>
          <a:lstStyle/>
          <a:p>
            <a:r>
              <a:rPr lang="en-US" dirty="0"/>
              <a:t>Full &amp; Partial Functional Dependency</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892967" y="1283368"/>
            <a:ext cx="9555187" cy="5440177"/>
          </a:xfrm>
        </p:spPr>
        <p:txBody>
          <a:bodyPr>
            <a:normAutofit/>
          </a:bodyPr>
          <a:lstStyle/>
          <a:p>
            <a:r>
              <a:rPr lang="en-US" sz="2800" b="1" dirty="0"/>
              <a:t>Full Functional Dependency</a:t>
            </a:r>
          </a:p>
          <a:p>
            <a:pPr marL="457200" lvl="1" indent="0">
              <a:buNone/>
            </a:pPr>
            <a:r>
              <a:rPr lang="en-US" sz="2800" dirty="0"/>
              <a:t>An attribute is fully functionally dependent on a second attribute if and only if it is functionally dependent on the second attribute but not on any subset of the second attribute.</a:t>
            </a:r>
          </a:p>
          <a:p>
            <a:r>
              <a:rPr lang="en-US" sz="2800" b="1" dirty="0"/>
              <a:t>Partial Functional Dependency</a:t>
            </a:r>
          </a:p>
          <a:p>
            <a:pPr marL="457200" lvl="1" indent="0">
              <a:buNone/>
            </a:pPr>
            <a:r>
              <a:rPr lang="en-US" sz="2800" dirty="0"/>
              <a:t>This is the situation that exists if it is necessary to only use a subset of the attributes of the composite determinant to identify its object.</a:t>
            </a:r>
          </a:p>
          <a:p>
            <a:endParaRPr lang="en-US" sz="2800" dirty="0"/>
          </a:p>
        </p:txBody>
      </p:sp>
    </p:spTree>
    <p:extLst>
      <p:ext uri="{BB962C8B-B14F-4D97-AF65-F5344CB8AC3E}">
        <p14:creationId xmlns:p14="http://schemas.microsoft.com/office/powerpoint/2010/main" val="27587099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29441" y="134455"/>
            <a:ext cx="10018713" cy="1502043"/>
          </a:xfrm>
        </p:spPr>
        <p:txBody>
          <a:bodyPr/>
          <a:lstStyle/>
          <a:p>
            <a:r>
              <a:rPr lang="en-US" dirty="0"/>
              <a:t>Full &amp; Partial Functional Dependency: Example</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892967" y="2358190"/>
            <a:ext cx="9555187" cy="4365356"/>
          </a:xfrm>
        </p:spPr>
        <p:txBody>
          <a:bodyPr>
            <a:normAutofit fontScale="25000" lnSpcReduction="20000"/>
          </a:bodyPr>
          <a:lstStyle/>
          <a:p>
            <a:r>
              <a:rPr lang="en-US" sz="9600" i="1" dirty="0"/>
              <a:t>Full Functional Dependency: </a:t>
            </a:r>
            <a:r>
              <a:rPr lang="en-US" sz="9600" dirty="0"/>
              <a:t>The roll number and subject number determines the grade. It implies that a student may be interested in a particular subject; in that subject the grade secured by that student will be good. It is not necessary that the same student get good grade in all the subjects. Hence the grade depends on the subject number.</a:t>
            </a:r>
            <a:endParaRPr lang="en-AU" sz="9600" dirty="0"/>
          </a:p>
          <a:p>
            <a:r>
              <a:rPr lang="en-US" sz="9600" dirty="0"/>
              <a:t>Roll No, Subject </a:t>
            </a:r>
            <a:r>
              <a:rPr lang="en-US" sz="9600" dirty="0" err="1"/>
              <a:t>Number</a:t>
            </a:r>
            <a:r>
              <a:rPr lang="en-US" sz="9600" dirty="0" err="1">
                <a:sym typeface="Symbol" panose="05050102010706020507" pitchFamily="18" charset="2"/>
              </a:rPr>
              <a:t></a:t>
            </a:r>
            <a:r>
              <a:rPr lang="en-US" sz="9600" dirty="0" err="1"/>
              <a:t>Grade</a:t>
            </a:r>
            <a:endParaRPr lang="en-AU" sz="9600" dirty="0"/>
          </a:p>
          <a:p>
            <a:r>
              <a:rPr lang="en-US" sz="9600" i="1" dirty="0"/>
              <a:t>Partial Functional Dependency: </a:t>
            </a:r>
            <a:r>
              <a:rPr lang="en-US" sz="9600" dirty="0"/>
              <a:t>With respect to examination schedule, it is not necessary that all the subjects should be held in the same examination hall. Hence hall number depends on both the subject number and the roll number. Hall number depends on subject number is only partial functional dependency because the hall number also depends on the roll number of the student.</a:t>
            </a:r>
            <a:endParaRPr lang="en-AU" sz="9600" dirty="0"/>
          </a:p>
          <a:p>
            <a:r>
              <a:rPr lang="en-US" sz="9600" dirty="0"/>
              <a:t>Subject </a:t>
            </a:r>
            <a:r>
              <a:rPr lang="en-US" sz="9600" dirty="0" err="1"/>
              <a:t>Number</a:t>
            </a:r>
            <a:r>
              <a:rPr lang="en-US" sz="9600" dirty="0" err="1">
                <a:sym typeface="Symbol" panose="05050102010706020507" pitchFamily="18" charset="2"/>
              </a:rPr>
              <a:t></a:t>
            </a:r>
            <a:r>
              <a:rPr lang="en-US" sz="9600" dirty="0" err="1"/>
              <a:t>Hall</a:t>
            </a:r>
            <a:r>
              <a:rPr lang="en-US" sz="9600" dirty="0"/>
              <a:t> Number</a:t>
            </a:r>
            <a:endParaRPr lang="en-AU" sz="9600" dirty="0"/>
          </a:p>
          <a:p>
            <a:endParaRPr lang="en-US" sz="2800" dirty="0"/>
          </a:p>
        </p:txBody>
      </p:sp>
      <p:pic>
        <p:nvPicPr>
          <p:cNvPr id="5122" name="Picture 2">
            <a:extLst>
              <a:ext uri="{FF2B5EF4-FFF2-40B4-BE49-F238E27FC236}">
                <a16:creationId xmlns:a16="http://schemas.microsoft.com/office/drawing/2014/main" id="{C205A15B-20A0-4D68-841E-993B3616C8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5683" y="1251386"/>
            <a:ext cx="7860633" cy="930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623048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29441" y="134455"/>
            <a:ext cx="10018713" cy="1502043"/>
          </a:xfrm>
        </p:spPr>
        <p:txBody>
          <a:bodyPr/>
          <a:lstStyle/>
          <a:p>
            <a:r>
              <a:rPr lang="en-US" dirty="0"/>
              <a:t>Transitive Dependency</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892967" y="2358190"/>
            <a:ext cx="9555187" cy="4365356"/>
          </a:xfrm>
        </p:spPr>
        <p:txBody>
          <a:bodyPr>
            <a:normAutofit/>
          </a:bodyPr>
          <a:lstStyle/>
          <a:p>
            <a:r>
              <a:rPr lang="en-US" dirty="0"/>
              <a:t>A transitive dependency exists when there is an intermediate functional dependency.</a:t>
            </a:r>
            <a:endParaRPr lang="en-AU" dirty="0"/>
          </a:p>
          <a:p>
            <a:pPr marL="0" indent="0">
              <a:buNone/>
            </a:pPr>
            <a:r>
              <a:rPr lang="en-US" dirty="0"/>
              <a:t>Notation:</a:t>
            </a:r>
            <a:endParaRPr lang="en-AU" dirty="0"/>
          </a:p>
          <a:p>
            <a:r>
              <a:rPr lang="en-US" dirty="0"/>
              <a:t>A→ B, B→ C, and if A→ C then it can be stated that the transitive dependency exists.</a:t>
            </a:r>
            <a:endParaRPr lang="en-AU" dirty="0"/>
          </a:p>
          <a:p>
            <a:r>
              <a:rPr lang="en-US" dirty="0"/>
              <a:t>A→ B→C</a:t>
            </a:r>
            <a:endParaRPr lang="en-AU" dirty="0"/>
          </a:p>
          <a:p>
            <a:endParaRPr lang="en-US" sz="2800" dirty="0"/>
          </a:p>
        </p:txBody>
      </p:sp>
    </p:spTree>
    <p:extLst>
      <p:ext uri="{BB962C8B-B14F-4D97-AF65-F5344CB8AC3E}">
        <p14:creationId xmlns:p14="http://schemas.microsoft.com/office/powerpoint/2010/main" val="485391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29441" y="134455"/>
            <a:ext cx="10018713" cy="1502043"/>
          </a:xfrm>
        </p:spPr>
        <p:txBody>
          <a:bodyPr/>
          <a:lstStyle/>
          <a:p>
            <a:r>
              <a:rPr lang="en-US" dirty="0"/>
              <a:t>Transitive Dependency: example</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892967" y="1636498"/>
            <a:ext cx="9555187" cy="2566534"/>
          </a:xfrm>
        </p:spPr>
        <p:txBody>
          <a:bodyPr>
            <a:normAutofit/>
          </a:bodyPr>
          <a:lstStyle/>
          <a:p>
            <a:r>
              <a:rPr lang="en-US" dirty="0"/>
              <a:t>Consider the example of the relation STAFF. </a:t>
            </a:r>
          </a:p>
          <a:p>
            <a:r>
              <a:rPr lang="en-US" dirty="0"/>
              <a:t>The attributes associated with the STAFF are Staff number which is unique to each staff, the designation of the staff like Manager, Deputy Manager, and Managing Director, etc. </a:t>
            </a:r>
          </a:p>
          <a:p>
            <a:r>
              <a:rPr lang="en-US" dirty="0"/>
              <a:t>The last attribute is the salary associated with the staff.</a:t>
            </a:r>
          </a:p>
        </p:txBody>
      </p:sp>
      <p:pic>
        <p:nvPicPr>
          <p:cNvPr id="6146" name="Picture 2">
            <a:extLst>
              <a:ext uri="{FF2B5EF4-FFF2-40B4-BE49-F238E27FC236}">
                <a16:creationId xmlns:a16="http://schemas.microsoft.com/office/drawing/2014/main" id="{9DD32AFA-F05F-4E1C-BFD9-58609209E7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8249" y="4203032"/>
            <a:ext cx="7745161" cy="179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847983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29441" y="134455"/>
            <a:ext cx="10018713" cy="1502043"/>
          </a:xfrm>
        </p:spPr>
        <p:txBody>
          <a:bodyPr/>
          <a:lstStyle/>
          <a:p>
            <a:r>
              <a:rPr lang="en-US" dirty="0"/>
              <a:t>Transitive Dependency: example (cont.)</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892967" y="2743200"/>
            <a:ext cx="9555187" cy="3256546"/>
          </a:xfrm>
        </p:spPr>
        <p:txBody>
          <a:bodyPr>
            <a:normAutofit fontScale="92500" lnSpcReduction="10000"/>
          </a:bodyPr>
          <a:lstStyle/>
          <a:p>
            <a:r>
              <a:rPr lang="en-US" dirty="0"/>
              <a:t>It is to be noted that the staff number determines the designation. The designation obviously determines the salary. For example the manager will get more salary than the deputy manager. On the other hand the staff number determines the salary.</a:t>
            </a:r>
            <a:endParaRPr lang="en-AU" dirty="0"/>
          </a:p>
          <a:p>
            <a:r>
              <a:rPr lang="en-US" dirty="0"/>
              <a:t>STAFF NUMBER → DESIGNATION</a:t>
            </a:r>
            <a:endParaRPr lang="en-AU" dirty="0"/>
          </a:p>
          <a:p>
            <a:r>
              <a:rPr lang="en-US" dirty="0"/>
              <a:t>DESIGNATION → SALARY</a:t>
            </a:r>
            <a:endParaRPr lang="en-AU" dirty="0"/>
          </a:p>
          <a:p>
            <a:r>
              <a:rPr lang="en-US" dirty="0"/>
              <a:t>STAFF NUMBER → SALARY</a:t>
            </a:r>
            <a:endParaRPr lang="en-AU" dirty="0"/>
          </a:p>
          <a:p>
            <a:r>
              <a:rPr lang="en-US" dirty="0"/>
              <a:t>There is a transitive dependency between STAFF NUMBER and SALARY.</a:t>
            </a:r>
            <a:endParaRPr lang="en-AU" dirty="0"/>
          </a:p>
          <a:p>
            <a:endParaRPr lang="en-US" dirty="0"/>
          </a:p>
        </p:txBody>
      </p:sp>
      <p:pic>
        <p:nvPicPr>
          <p:cNvPr id="5" name="Picture 2">
            <a:extLst>
              <a:ext uri="{FF2B5EF4-FFF2-40B4-BE49-F238E27FC236}">
                <a16:creationId xmlns:a16="http://schemas.microsoft.com/office/drawing/2014/main" id="{560EF0C7-0FF0-4E19-98A9-C4BA0D4509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3872" y="1251285"/>
            <a:ext cx="7745161" cy="1363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760523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29441" y="767729"/>
            <a:ext cx="10018713" cy="1502043"/>
          </a:xfrm>
        </p:spPr>
        <p:txBody>
          <a:bodyPr>
            <a:normAutofit fontScale="90000"/>
          </a:bodyPr>
          <a:lstStyle/>
          <a:p>
            <a:r>
              <a:rPr lang="en-US" dirty="0"/>
              <a:t>Functional Dependency Inference Rules (Armstrong’s Axioms)</a:t>
            </a:r>
            <a:br>
              <a:rPr lang="en-US" dirty="0"/>
            </a:br>
            <a:r>
              <a:rPr lang="en-US" b="1" dirty="0"/>
              <a:t>(1) Reflexivity</a:t>
            </a:r>
            <a:br>
              <a:rPr lang="en-AU" dirty="0"/>
            </a:br>
            <a:endParaRPr lang="en-US" dirty="0"/>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892967" y="2390274"/>
            <a:ext cx="9555187" cy="3256546"/>
          </a:xfrm>
        </p:spPr>
        <p:txBody>
          <a:bodyPr>
            <a:normAutofit/>
          </a:bodyPr>
          <a:lstStyle/>
          <a:p>
            <a:r>
              <a:rPr lang="en-US" dirty="0"/>
              <a:t>If Y </a:t>
            </a:r>
            <a:r>
              <a:rPr lang="en-US" dirty="0">
                <a:sym typeface="Symbol" panose="05050102010706020507" pitchFamily="18" charset="2"/>
              </a:rPr>
              <a:t></a:t>
            </a:r>
            <a:r>
              <a:rPr lang="en-US" dirty="0"/>
              <a:t> X then, X → Y . The axiom of reflexivity indicates that given a set of attributes the set itself functionally determines any of its own subsets.</a:t>
            </a:r>
          </a:p>
          <a:p>
            <a:r>
              <a:rPr lang="en-US" dirty="0" err="1"/>
              <a:t>StudentID</a:t>
            </a:r>
            <a:r>
              <a:rPr lang="en-US" dirty="0"/>
              <a:t>, </a:t>
            </a:r>
            <a:r>
              <a:rPr lang="en-US" dirty="0" err="1"/>
              <a:t>StudentName</a:t>
            </a:r>
            <a:r>
              <a:rPr lang="en-US"/>
              <a:t> → </a:t>
            </a:r>
            <a:r>
              <a:rPr lang="en-US" dirty="0" err="1"/>
              <a:t>StudentName</a:t>
            </a:r>
            <a:endParaRPr lang="en-AU" dirty="0"/>
          </a:p>
          <a:p>
            <a:endParaRPr lang="en-US" dirty="0"/>
          </a:p>
        </p:txBody>
      </p:sp>
    </p:spTree>
    <p:extLst>
      <p:ext uri="{BB962C8B-B14F-4D97-AF65-F5344CB8AC3E}">
        <p14:creationId xmlns:p14="http://schemas.microsoft.com/office/powerpoint/2010/main" val="6438407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29441" y="439255"/>
            <a:ext cx="10018713" cy="1502043"/>
          </a:xfrm>
        </p:spPr>
        <p:txBody>
          <a:bodyPr>
            <a:normAutofit fontScale="90000"/>
          </a:bodyPr>
          <a:lstStyle/>
          <a:p>
            <a:r>
              <a:rPr lang="en-US" dirty="0"/>
              <a:t>Functional Dependency Inference Rules (Armstrong’s Axioms)</a:t>
            </a:r>
            <a:br>
              <a:rPr lang="en-US" dirty="0"/>
            </a:br>
            <a:r>
              <a:rPr lang="en-US" b="1" dirty="0"/>
              <a:t>(2) Augmentation</a:t>
            </a:r>
            <a:br>
              <a:rPr lang="en-AU" dirty="0"/>
            </a:br>
            <a:endParaRPr lang="en-US" dirty="0"/>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892967" y="1941297"/>
            <a:ext cx="9555187" cy="4477447"/>
          </a:xfrm>
        </p:spPr>
        <p:txBody>
          <a:bodyPr>
            <a:normAutofit/>
          </a:bodyPr>
          <a:lstStyle/>
          <a:p>
            <a:r>
              <a:rPr lang="en-US" dirty="0"/>
              <a:t>If X→Y and Z is a subset of table R (i.e., Z is any set of attributes in R), then XZ→YZ. </a:t>
            </a:r>
          </a:p>
          <a:p>
            <a:r>
              <a:rPr lang="en-US" dirty="0"/>
              <a:t>The axiom of augmentation indicates that we can augment the left side of the functional dependency or both sides conveniently with one or more attributes.</a:t>
            </a:r>
          </a:p>
          <a:p>
            <a:r>
              <a:rPr lang="en-US" dirty="0"/>
              <a:t> The axiom does not allow augmenting the right-hand side alone. </a:t>
            </a:r>
          </a:p>
          <a:p>
            <a:r>
              <a:rPr lang="en-US" dirty="0"/>
              <a:t>The augmentation rule can be diagrammatically represented as follows:</a:t>
            </a:r>
            <a:endParaRPr lang="en-AU" dirty="0"/>
          </a:p>
          <a:p>
            <a:r>
              <a:rPr lang="en-US" dirty="0"/>
              <a:t>If X→Y then XZ→Y</a:t>
            </a:r>
            <a:endParaRPr lang="en-AU" dirty="0"/>
          </a:p>
        </p:txBody>
      </p:sp>
    </p:spTree>
    <p:extLst>
      <p:ext uri="{BB962C8B-B14F-4D97-AF65-F5344CB8AC3E}">
        <p14:creationId xmlns:p14="http://schemas.microsoft.com/office/powerpoint/2010/main" val="24136706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29441" y="439255"/>
            <a:ext cx="10018713" cy="1502043"/>
          </a:xfrm>
        </p:spPr>
        <p:txBody>
          <a:bodyPr>
            <a:normAutofit fontScale="90000"/>
          </a:bodyPr>
          <a:lstStyle/>
          <a:p>
            <a:r>
              <a:rPr lang="en-US" dirty="0"/>
              <a:t>Functional Dependency Inference Rules (Armstrong’s Axioms)</a:t>
            </a:r>
            <a:br>
              <a:rPr lang="en-US" dirty="0"/>
            </a:br>
            <a:r>
              <a:rPr lang="en-US" b="1" dirty="0"/>
              <a:t>(2) Augmentation</a:t>
            </a:r>
            <a:br>
              <a:rPr lang="en-AU" dirty="0"/>
            </a:br>
            <a:endParaRPr lang="en-US" dirty="0"/>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171073" y="4452942"/>
            <a:ext cx="8037096" cy="2424260"/>
          </a:xfrm>
        </p:spPr>
        <p:txBody>
          <a:bodyPr>
            <a:normAutofit/>
          </a:bodyPr>
          <a:lstStyle/>
          <a:p>
            <a:r>
              <a:rPr lang="en-US" dirty="0"/>
              <a:t>A second variation of augmentation is diagrammatically shown right:</a:t>
            </a:r>
            <a:endParaRPr lang="en-AU" dirty="0"/>
          </a:p>
          <a:p>
            <a:endParaRPr lang="en-AU" dirty="0"/>
          </a:p>
        </p:txBody>
      </p:sp>
      <p:pic>
        <p:nvPicPr>
          <p:cNvPr id="1026" name="Picture 2">
            <a:extLst>
              <a:ext uri="{FF2B5EF4-FFF2-40B4-BE49-F238E27FC236}">
                <a16:creationId xmlns:a16="http://schemas.microsoft.com/office/drawing/2014/main" id="{441FF518-D1DB-486D-8559-84A79E58A0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8634" y="2023312"/>
            <a:ext cx="4353049" cy="255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3">
            <a:extLst>
              <a:ext uri="{FF2B5EF4-FFF2-40B4-BE49-F238E27FC236}">
                <a16:creationId xmlns:a16="http://schemas.microsoft.com/office/drawing/2014/main" id="{B79E016D-2756-41A8-8547-4D636EC0DA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38623" y="3005801"/>
            <a:ext cx="3473010" cy="3324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786709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29441" y="439255"/>
            <a:ext cx="10018713" cy="1502043"/>
          </a:xfrm>
        </p:spPr>
        <p:txBody>
          <a:bodyPr>
            <a:normAutofit fontScale="90000"/>
          </a:bodyPr>
          <a:lstStyle/>
          <a:p>
            <a:r>
              <a:rPr lang="en-US" dirty="0"/>
              <a:t>Functional Dependency Inference Rules (Armstrong’s Axioms)</a:t>
            </a:r>
            <a:br>
              <a:rPr lang="en-US" dirty="0"/>
            </a:br>
            <a:r>
              <a:rPr lang="en-US" b="1" dirty="0"/>
              <a:t>(3) Transitivity</a:t>
            </a:r>
            <a:br>
              <a:rPr lang="en-AU" dirty="0"/>
            </a:br>
            <a:endParaRPr lang="en-US" dirty="0"/>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219199" y="1331495"/>
            <a:ext cx="10684043" cy="5240907"/>
          </a:xfrm>
        </p:spPr>
        <p:txBody>
          <a:bodyPr>
            <a:normAutofit/>
          </a:bodyPr>
          <a:lstStyle/>
          <a:p>
            <a:r>
              <a:rPr lang="en-US" dirty="0"/>
              <a:t>If X→Y and Y→Z then X→Z. </a:t>
            </a:r>
          </a:p>
          <a:p>
            <a:r>
              <a:rPr lang="en-US" dirty="0"/>
              <a:t>The axiom of transitivity indicates that if one attribute uniquely determines a second attribute and this, in turn, uniquely determines a third one, then the first attribute determines the third one.</a:t>
            </a:r>
          </a:p>
          <a:p>
            <a:r>
              <a:rPr lang="en-US" dirty="0"/>
              <a:t> Consider three parallel lines X, Y, and Z. The line X is parallel to line Y.</a:t>
            </a:r>
          </a:p>
          <a:p>
            <a:r>
              <a:rPr lang="en-US" dirty="0"/>
              <a:t> The line Y is parallel to line Z then it implies that line X is parallel to line Z.</a:t>
            </a:r>
          </a:p>
          <a:p>
            <a:r>
              <a:rPr lang="en-US" dirty="0"/>
              <a:t>This property is called transitivity.</a:t>
            </a:r>
          </a:p>
        </p:txBody>
      </p:sp>
    </p:spTree>
    <p:extLst>
      <p:ext uri="{BB962C8B-B14F-4D97-AF65-F5344CB8AC3E}">
        <p14:creationId xmlns:p14="http://schemas.microsoft.com/office/powerpoint/2010/main" val="14964553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29441" y="439255"/>
            <a:ext cx="10018713" cy="1502043"/>
          </a:xfrm>
        </p:spPr>
        <p:txBody>
          <a:bodyPr>
            <a:normAutofit fontScale="90000"/>
          </a:bodyPr>
          <a:lstStyle/>
          <a:p>
            <a:r>
              <a:rPr lang="en-US" dirty="0"/>
              <a:t>Functional Dependency Inference Rules (Armstrong’s Axioms)</a:t>
            </a:r>
            <a:br>
              <a:rPr lang="en-US" dirty="0"/>
            </a:br>
            <a:r>
              <a:rPr lang="en-US" b="1" dirty="0"/>
              <a:t>(4) </a:t>
            </a:r>
            <a:r>
              <a:rPr lang="en-US" b="1" dirty="0" err="1"/>
              <a:t>Pseudotransitivity</a:t>
            </a:r>
            <a:br>
              <a:rPr lang="en-AU" dirty="0"/>
            </a:br>
            <a:endParaRPr lang="en-US" dirty="0"/>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219199" y="1331495"/>
            <a:ext cx="10684043" cy="5240907"/>
          </a:xfrm>
        </p:spPr>
        <p:txBody>
          <a:bodyPr>
            <a:normAutofit/>
          </a:bodyPr>
          <a:lstStyle/>
          <a:p>
            <a:r>
              <a:rPr lang="en-US" dirty="0"/>
              <a:t>If X→Y and YW→Z then XW→Z. </a:t>
            </a:r>
          </a:p>
          <a:p>
            <a:r>
              <a:rPr lang="en-US" dirty="0"/>
              <a:t>Transitivity is a special case of </a:t>
            </a:r>
            <a:r>
              <a:rPr lang="en-US" dirty="0" err="1"/>
              <a:t>pseudotransitivity</a:t>
            </a:r>
            <a:r>
              <a:rPr lang="en-US" dirty="0"/>
              <a:t> when W is null.</a:t>
            </a:r>
          </a:p>
          <a:p>
            <a:r>
              <a:rPr lang="en-US" dirty="0"/>
              <a:t> The axiom of </a:t>
            </a:r>
            <a:r>
              <a:rPr lang="en-US" dirty="0" err="1"/>
              <a:t>pseudotransitivity</a:t>
            </a:r>
            <a:r>
              <a:rPr lang="en-US" dirty="0"/>
              <a:t> is a generalization of the transitivity axiom.</a:t>
            </a:r>
            <a:endParaRPr lang="en-AU" dirty="0"/>
          </a:p>
        </p:txBody>
      </p:sp>
    </p:spTree>
    <p:extLst>
      <p:ext uri="{BB962C8B-B14F-4D97-AF65-F5344CB8AC3E}">
        <p14:creationId xmlns:p14="http://schemas.microsoft.com/office/powerpoint/2010/main" val="31146315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29441" y="439255"/>
            <a:ext cx="10018713" cy="1502043"/>
          </a:xfrm>
        </p:spPr>
        <p:txBody>
          <a:bodyPr>
            <a:normAutofit fontScale="90000"/>
          </a:bodyPr>
          <a:lstStyle/>
          <a:p>
            <a:r>
              <a:rPr lang="en-US" dirty="0"/>
              <a:t>Functional Dependency Inference Rules (Armstrong’s Axioms)</a:t>
            </a:r>
            <a:br>
              <a:rPr lang="en-US" dirty="0"/>
            </a:br>
            <a:r>
              <a:rPr lang="en-US" b="1" dirty="0"/>
              <a:t>(5) Union</a:t>
            </a:r>
            <a:br>
              <a:rPr lang="en-AU" dirty="0"/>
            </a:br>
            <a:endParaRPr lang="en-US" dirty="0"/>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219199" y="1331495"/>
            <a:ext cx="10684043" cy="5240907"/>
          </a:xfrm>
        </p:spPr>
        <p:txBody>
          <a:bodyPr>
            <a:normAutofit/>
          </a:bodyPr>
          <a:lstStyle/>
          <a:p>
            <a:r>
              <a:rPr lang="en-US" dirty="0"/>
              <a:t>If X→Y and X→Z then X→YZ. </a:t>
            </a:r>
          </a:p>
          <a:p>
            <a:r>
              <a:rPr lang="en-US" dirty="0"/>
              <a:t>The axiom of union indicates that if there are two functional dependencies with the same determinant it is possible to form a new functional dependency that preserves the determinant and has its right-hand side the union of the right-hand sides of the two functional dependencies.</a:t>
            </a:r>
            <a:endParaRPr lang="en-AU" dirty="0"/>
          </a:p>
          <a:p>
            <a:r>
              <a:rPr lang="en-US" dirty="0"/>
              <a:t>The union rule can be illustrated with the example of PINCODE.</a:t>
            </a:r>
          </a:p>
          <a:p>
            <a:r>
              <a:rPr lang="en-US" dirty="0"/>
              <a:t> The PINCODE is used to identify city as well as PINCODE is used to identify state. This implies that PINCODE determines both city and state</a:t>
            </a:r>
            <a:endParaRPr lang="en-AU" dirty="0"/>
          </a:p>
        </p:txBody>
      </p:sp>
    </p:spTree>
    <p:extLst>
      <p:ext uri="{BB962C8B-B14F-4D97-AF65-F5344CB8AC3E}">
        <p14:creationId xmlns:p14="http://schemas.microsoft.com/office/powerpoint/2010/main" val="4463952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29441" y="439255"/>
            <a:ext cx="10018713" cy="1502043"/>
          </a:xfrm>
        </p:spPr>
        <p:txBody>
          <a:bodyPr>
            <a:normAutofit fontScale="90000"/>
          </a:bodyPr>
          <a:lstStyle/>
          <a:p>
            <a:r>
              <a:rPr lang="en-US" dirty="0"/>
              <a:t>Functional Dependency Inference Rules (Armstrong’s Axioms)</a:t>
            </a:r>
            <a:br>
              <a:rPr lang="en-US" dirty="0"/>
            </a:br>
            <a:r>
              <a:rPr lang="en-US" b="1" dirty="0"/>
              <a:t>(5) Union</a:t>
            </a:r>
            <a:br>
              <a:rPr lang="en-AU" dirty="0"/>
            </a:br>
            <a:endParaRPr lang="en-US" dirty="0"/>
          </a:p>
        </p:txBody>
      </p:sp>
      <p:pic>
        <p:nvPicPr>
          <p:cNvPr id="3074" name="Picture 2">
            <a:extLst>
              <a:ext uri="{FF2B5EF4-FFF2-40B4-BE49-F238E27FC236}">
                <a16:creationId xmlns:a16="http://schemas.microsoft.com/office/drawing/2014/main" id="{A98EAD76-446C-4DDE-A650-0D733E4597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5878" y="1941298"/>
            <a:ext cx="7727532" cy="4732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892417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29441" y="439255"/>
            <a:ext cx="10018713" cy="1502043"/>
          </a:xfrm>
        </p:spPr>
        <p:txBody>
          <a:bodyPr>
            <a:normAutofit fontScale="90000"/>
          </a:bodyPr>
          <a:lstStyle/>
          <a:p>
            <a:r>
              <a:rPr lang="en-US" dirty="0"/>
              <a:t>Functional Dependency Inference Rules (Armstrong’s Axioms)</a:t>
            </a:r>
            <a:br>
              <a:rPr lang="en-US" dirty="0"/>
            </a:br>
            <a:r>
              <a:rPr lang="en-US" b="1" dirty="0"/>
              <a:t>(6) Decomposition</a:t>
            </a:r>
            <a:br>
              <a:rPr lang="en-AU" dirty="0"/>
            </a:br>
            <a:endParaRPr lang="en-US" dirty="0"/>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892967" y="1941297"/>
            <a:ext cx="9555187" cy="4477447"/>
          </a:xfrm>
        </p:spPr>
        <p:txBody>
          <a:bodyPr>
            <a:normAutofit/>
          </a:bodyPr>
          <a:lstStyle/>
          <a:p>
            <a:r>
              <a:rPr lang="en-US" dirty="0"/>
              <a:t>If X→YZ then X→Y and X→Z. </a:t>
            </a:r>
          </a:p>
          <a:p>
            <a:r>
              <a:rPr lang="en-US" dirty="0"/>
              <a:t>The axiom of decomposition indicates that the determinant of any functional dependency can uniquely determine any individual attribute or any combination of attributes of the right-hand side of the functional dependency.</a:t>
            </a:r>
            <a:endParaRPr lang="en-AU" dirty="0"/>
          </a:p>
          <a:p>
            <a:r>
              <a:rPr lang="en-US" dirty="0"/>
              <a:t>The decomposition can be illustrated with an example of Book ID. </a:t>
            </a:r>
          </a:p>
          <a:p>
            <a:r>
              <a:rPr lang="en-US" dirty="0"/>
              <a:t>The </a:t>
            </a:r>
            <a:r>
              <a:rPr lang="en-US" dirty="0" err="1"/>
              <a:t>BookID</a:t>
            </a:r>
            <a:r>
              <a:rPr lang="en-US" dirty="0"/>
              <a:t> determines the title and the author similar to (X→YZ) which implies that </a:t>
            </a:r>
            <a:r>
              <a:rPr lang="en-US" dirty="0" err="1"/>
              <a:t>BookID</a:t>
            </a:r>
            <a:r>
              <a:rPr lang="en-US" dirty="0"/>
              <a:t> determines title(X→Y) and </a:t>
            </a:r>
            <a:r>
              <a:rPr lang="en-US" dirty="0" err="1"/>
              <a:t>BookID</a:t>
            </a:r>
            <a:r>
              <a:rPr lang="en-US" dirty="0"/>
              <a:t> determines Author (X→Z)</a:t>
            </a:r>
            <a:endParaRPr lang="en-AU" dirty="0"/>
          </a:p>
        </p:txBody>
      </p:sp>
    </p:spTree>
    <p:extLst>
      <p:ext uri="{BB962C8B-B14F-4D97-AF65-F5344CB8AC3E}">
        <p14:creationId xmlns:p14="http://schemas.microsoft.com/office/powerpoint/2010/main" val="19292761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29441" y="439255"/>
            <a:ext cx="10018713" cy="1502043"/>
          </a:xfrm>
        </p:spPr>
        <p:txBody>
          <a:bodyPr>
            <a:normAutofit fontScale="90000"/>
          </a:bodyPr>
          <a:lstStyle/>
          <a:p>
            <a:r>
              <a:rPr lang="en-US" dirty="0"/>
              <a:t>Functional Dependency Inference Rules (Armstrong’s Axioms)</a:t>
            </a:r>
            <a:br>
              <a:rPr lang="en-US" dirty="0"/>
            </a:br>
            <a:r>
              <a:rPr lang="en-US" b="1" dirty="0"/>
              <a:t>(6) Decomposition</a:t>
            </a:r>
            <a:br>
              <a:rPr lang="en-AU" dirty="0"/>
            </a:br>
            <a:endParaRPr lang="en-US" dirty="0"/>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892967" y="1941297"/>
            <a:ext cx="9555187" cy="4477447"/>
          </a:xfrm>
        </p:spPr>
        <p:txBody>
          <a:bodyPr>
            <a:normAutofit/>
          </a:bodyPr>
          <a:lstStyle/>
          <a:p>
            <a:endParaRPr lang="en-AU" dirty="0"/>
          </a:p>
        </p:txBody>
      </p:sp>
      <p:pic>
        <p:nvPicPr>
          <p:cNvPr id="4098" name="Picture 2">
            <a:extLst>
              <a:ext uri="{FF2B5EF4-FFF2-40B4-BE49-F238E27FC236}">
                <a16:creationId xmlns:a16="http://schemas.microsoft.com/office/drawing/2014/main" id="{6A474337-CC91-407E-BD22-88AC123823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0171" y="2072607"/>
            <a:ext cx="6251658" cy="4157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251859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1689</TotalTime>
  <Words>1342</Words>
  <Application>Microsoft Office PowerPoint</Application>
  <PresentationFormat>Widescreen</PresentationFormat>
  <Paragraphs>92</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Corbel</vt:lpstr>
      <vt:lpstr>Parallax</vt:lpstr>
      <vt:lpstr>Database Systems 2</vt:lpstr>
      <vt:lpstr>Database II - Lecture 4  Functional Dependency  </vt:lpstr>
      <vt:lpstr>Functional Dependency</vt:lpstr>
      <vt:lpstr>Notation of Functional Dependency</vt:lpstr>
      <vt:lpstr>Notation of Functional Dependency (cont.)</vt:lpstr>
      <vt:lpstr>Compound Determinants</vt:lpstr>
      <vt:lpstr>Full &amp; Partial Functional Dependency</vt:lpstr>
      <vt:lpstr>Full &amp; Partial Functional Dependency: Example</vt:lpstr>
      <vt:lpstr>Transitive Dependency</vt:lpstr>
      <vt:lpstr>Transitive Dependency: example</vt:lpstr>
      <vt:lpstr>Transitive Dependency: example (cont.)</vt:lpstr>
      <vt:lpstr>Functional Dependency Inference Rules (Armstrong’s Axioms) (1) Reflexivity </vt:lpstr>
      <vt:lpstr>Functional Dependency Inference Rules (Armstrong’s Axioms) (2) Augmentation </vt:lpstr>
      <vt:lpstr>Functional Dependency Inference Rules (Armstrong’s Axioms) (2) Augmentation </vt:lpstr>
      <vt:lpstr>Functional Dependency Inference Rules (Armstrong’s Axioms) (3) Transitivity </vt:lpstr>
      <vt:lpstr>Functional Dependency Inference Rules (Armstrong’s Axioms) (4) Pseudotransitivity </vt:lpstr>
      <vt:lpstr>Functional Dependency Inference Rules (Armstrong’s Axioms) (5) Union </vt:lpstr>
      <vt:lpstr>Functional Dependency Inference Rules (Armstrong’s Axioms) (5) Union </vt:lpstr>
      <vt:lpstr>Functional Dependency Inference Rules (Armstrong’s Axioms) (6) Decomposition </vt:lpstr>
      <vt:lpstr>Functional Dependency Inference Rules (Armstrong’s Axioms) (6) Decomposition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Troubleshoot network connectivity issues</dc:title>
  <dc:creator>Rasool Al-Saadi</dc:creator>
  <cp:lastModifiedBy>Rasool Al-Saadi</cp:lastModifiedBy>
  <cp:revision>182</cp:revision>
  <dcterms:created xsi:type="dcterms:W3CDTF">2020-02-18T05:03:49Z</dcterms:created>
  <dcterms:modified xsi:type="dcterms:W3CDTF">2023-03-15T20:12:48Z</dcterms:modified>
</cp:coreProperties>
</file>