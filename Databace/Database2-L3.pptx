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74" r:id="rId3"/>
    <p:sldId id="260" r:id="rId4"/>
    <p:sldId id="262" r:id="rId5"/>
    <p:sldId id="263" r:id="rId6"/>
    <p:sldId id="264" r:id="rId7"/>
    <p:sldId id="265" r:id="rId8"/>
    <p:sldId id="266" r:id="rId9"/>
    <p:sldId id="268" r:id="rId10"/>
    <p:sldId id="270" r:id="rId11"/>
    <p:sldId id="269" r:id="rId12"/>
    <p:sldId id="271" r:id="rId13"/>
    <p:sldId id="272" r:id="rId14"/>
    <p:sldId id="273"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38" autoAdjust="0"/>
  </p:normalViewPr>
  <p:slideViewPr>
    <p:cSldViewPr snapToGrid="0">
      <p:cViewPr varScale="1">
        <p:scale>
          <a:sx n="86" d="100"/>
          <a:sy n="86"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AU" dirty="0"/>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5" name="Footer Placeholder 4"/>
          <p:cNvSpPr>
            <a:spLocks noGrp="1"/>
          </p:cNvSpPr>
          <p:nvPr>
            <p:ph type="ftr" sz="quarter" idx="11"/>
          </p:nvPr>
        </p:nvSpPr>
        <p:spPr>
          <a:xfrm>
            <a:off x="5332412" y="5883275"/>
            <a:ext cx="4324044" cy="365125"/>
          </a:xfrm>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284539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a:xfrm>
            <a:off x="10951856" y="5867131"/>
            <a:ext cx="551167" cy="365125"/>
          </a:xfrm>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8938905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932139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20544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784649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418546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86357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669406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36086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1069321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2677619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23524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60458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23604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13958155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42835600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E6EF5-D501-45B9-BF1D-4F3958A2C023}" type="datetimeFigureOut">
              <a:rPr lang="en-AU" smtClean="0"/>
              <a:t>8/03/2023</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CDA86AD4-3B45-4902-8FDB-DE84D31C86CD}" type="slidenum">
              <a:rPr lang="en-AU" smtClean="0"/>
              <a:t>‹#›</a:t>
            </a:fld>
            <a:endParaRPr lang="en-AU" dirty="0"/>
          </a:p>
        </p:txBody>
      </p:sp>
    </p:spTree>
    <p:extLst>
      <p:ext uri="{BB962C8B-B14F-4D97-AF65-F5344CB8AC3E}">
        <p14:creationId xmlns:p14="http://schemas.microsoft.com/office/powerpoint/2010/main" val="3928317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alphaModFix amt="3400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2BE6EF5-D501-45B9-BF1D-4F3958A2C023}" type="datetimeFigureOut">
              <a:rPr lang="en-AU" smtClean="0"/>
              <a:t>8/03/2023</a:t>
            </a:fld>
            <a:endParaRPr lang="en-AU"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DA86AD4-3B45-4902-8FDB-DE84D31C86CD}" type="slidenum">
              <a:rPr lang="en-AU" smtClean="0"/>
              <a:t>‹#›</a:t>
            </a:fld>
            <a:endParaRPr lang="en-AU" dirty="0"/>
          </a:p>
        </p:txBody>
      </p:sp>
    </p:spTree>
    <p:extLst>
      <p:ext uri="{BB962C8B-B14F-4D97-AF65-F5344CB8AC3E}">
        <p14:creationId xmlns:p14="http://schemas.microsoft.com/office/powerpoint/2010/main" val="2986099449"/>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B6A14-583D-428B-BCEA-39BC26517A96}"/>
              </a:ext>
            </a:extLst>
          </p:cNvPr>
          <p:cNvSpPr>
            <a:spLocks noGrp="1"/>
          </p:cNvSpPr>
          <p:nvPr>
            <p:ph type="ctrTitle"/>
          </p:nvPr>
        </p:nvSpPr>
        <p:spPr>
          <a:xfrm>
            <a:off x="2820918" y="0"/>
            <a:ext cx="8574622" cy="2616199"/>
          </a:xfrm>
        </p:spPr>
        <p:txBody>
          <a:bodyPr/>
          <a:lstStyle/>
          <a:p>
            <a:pPr algn="ctr"/>
            <a:r>
              <a:rPr lang="en-AU" dirty="0"/>
              <a:t>Database Systems 2</a:t>
            </a:r>
          </a:p>
        </p:txBody>
      </p:sp>
      <p:sp>
        <p:nvSpPr>
          <p:cNvPr id="3" name="Subtitle 2">
            <a:extLst>
              <a:ext uri="{FF2B5EF4-FFF2-40B4-BE49-F238E27FC236}">
                <a16:creationId xmlns:a16="http://schemas.microsoft.com/office/drawing/2014/main" id="{E9053E97-050B-432A-8023-71AA641A2B49}"/>
              </a:ext>
            </a:extLst>
          </p:cNvPr>
          <p:cNvSpPr>
            <a:spLocks noGrp="1"/>
          </p:cNvSpPr>
          <p:nvPr>
            <p:ph type="subTitle" idx="1"/>
          </p:nvPr>
        </p:nvSpPr>
        <p:spPr>
          <a:xfrm>
            <a:off x="4138863" y="2782682"/>
            <a:ext cx="6481012" cy="3842708"/>
          </a:xfrm>
        </p:spPr>
        <p:txBody>
          <a:bodyPr>
            <a:normAutofit/>
          </a:bodyPr>
          <a:lstStyle/>
          <a:p>
            <a:pPr algn="ctr"/>
            <a:r>
              <a:rPr lang="en-US" b="1" dirty="0"/>
              <a:t>Dr. Rasool Hisham</a:t>
            </a:r>
          </a:p>
          <a:p>
            <a:pPr algn="ctr"/>
            <a:r>
              <a:rPr lang="en-US" b="1" dirty="0"/>
              <a:t>For 3</a:t>
            </a:r>
            <a:r>
              <a:rPr lang="en-US" b="1" baseline="30000" dirty="0"/>
              <a:t>rd</a:t>
            </a:r>
            <a:r>
              <a:rPr lang="en-US" b="1" dirty="0"/>
              <a:t> year students, 2</a:t>
            </a:r>
            <a:r>
              <a:rPr lang="en-US" b="1" baseline="30000" dirty="0"/>
              <a:t>nd</a:t>
            </a:r>
            <a:r>
              <a:rPr lang="en-US" b="1" dirty="0"/>
              <a:t> semester</a:t>
            </a:r>
          </a:p>
          <a:p>
            <a:pPr algn="l"/>
            <a:endParaRPr lang="en-US" b="1" dirty="0"/>
          </a:p>
          <a:p>
            <a:pPr algn="l"/>
            <a:r>
              <a:rPr lang="en-US" b="1" dirty="0"/>
              <a:t>Al-</a:t>
            </a:r>
            <a:r>
              <a:rPr lang="en-US" b="1" dirty="0" err="1"/>
              <a:t>Nahrain</a:t>
            </a:r>
            <a:r>
              <a:rPr lang="en-US" b="1" dirty="0"/>
              <a:t> University</a:t>
            </a:r>
          </a:p>
          <a:p>
            <a:pPr algn="l"/>
            <a:r>
              <a:rPr lang="en-US" b="1" dirty="0"/>
              <a:t>College of Science</a:t>
            </a:r>
          </a:p>
          <a:p>
            <a:pPr algn="l"/>
            <a:r>
              <a:rPr lang="en-US" b="1" dirty="0"/>
              <a:t>Computer Science Department</a:t>
            </a:r>
          </a:p>
        </p:txBody>
      </p:sp>
    </p:spTree>
    <p:extLst>
      <p:ext uri="{BB962C8B-B14F-4D97-AF65-F5344CB8AC3E}">
        <p14:creationId xmlns:p14="http://schemas.microsoft.com/office/powerpoint/2010/main" val="2563199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CB23D-5EEF-4B0C-BC86-F26DF1B552B8}"/>
              </a:ext>
            </a:extLst>
          </p:cNvPr>
          <p:cNvSpPr>
            <a:spLocks noGrp="1"/>
          </p:cNvSpPr>
          <p:nvPr>
            <p:ph type="title"/>
          </p:nvPr>
        </p:nvSpPr>
        <p:spPr>
          <a:xfrm>
            <a:off x="1484310" y="2552700"/>
            <a:ext cx="10018713" cy="1752599"/>
          </a:xfrm>
        </p:spPr>
        <p:txBody>
          <a:bodyPr>
            <a:normAutofit fontScale="90000"/>
          </a:bodyPr>
          <a:lstStyle/>
          <a:p>
            <a:r>
              <a:rPr lang="en-US" sz="3100" dirty="0">
                <a:ea typeface="Times New Roman" panose="02020603050405020304" pitchFamily="18" charset="0"/>
              </a:rPr>
              <a:t>Database II - </a:t>
            </a:r>
            <a:r>
              <a:rPr lang="en-US" sz="3100">
                <a:ea typeface="Times New Roman" panose="02020603050405020304" pitchFamily="18" charset="0"/>
              </a:rPr>
              <a:t>Lecture 3</a:t>
            </a:r>
            <a:br>
              <a:rPr lang="en-US" sz="3100" dirty="0">
                <a:ea typeface="Times New Roman" panose="02020603050405020304" pitchFamily="18" charset="0"/>
              </a:rPr>
            </a:br>
            <a:br>
              <a:rPr lang="en-US" dirty="0">
                <a:ea typeface="Times New Roman" panose="02020603050405020304" pitchFamily="18" charset="0"/>
              </a:rPr>
            </a:br>
            <a:r>
              <a:rPr lang="en-US" dirty="0">
                <a:ea typeface="Times New Roman" panose="02020603050405020304" pitchFamily="18" charset="0"/>
              </a:rPr>
              <a:t>Database Design</a:t>
            </a:r>
            <a:endParaRPr lang="en-AU" dirty="0"/>
          </a:p>
        </p:txBody>
      </p:sp>
    </p:spTree>
    <p:extLst>
      <p:ext uri="{BB962C8B-B14F-4D97-AF65-F5344CB8AC3E}">
        <p14:creationId xmlns:p14="http://schemas.microsoft.com/office/powerpoint/2010/main" val="1835116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Introduction</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467768" y="1556084"/>
            <a:ext cx="9877894" cy="4764505"/>
          </a:xfrm>
        </p:spPr>
        <p:txBody>
          <a:bodyPr>
            <a:normAutofit fontScale="85000" lnSpcReduction="10000"/>
          </a:bodyPr>
          <a:lstStyle/>
          <a:p>
            <a:r>
              <a:rPr lang="en-US" sz="2800" dirty="0"/>
              <a:t>Database design process integrates relevant data in such a manner that it can be processed through a mechanism for recording the facts. </a:t>
            </a:r>
          </a:p>
          <a:p>
            <a:r>
              <a:rPr lang="en-US" sz="2800" dirty="0"/>
              <a:t>A database of an organization is an information repository that represents facts about the organization.</a:t>
            </a:r>
          </a:p>
          <a:p>
            <a:r>
              <a:rPr lang="en-US" sz="2800" dirty="0"/>
              <a:t>It is manipulated by some software to incorporate the changes that take place in the organization. </a:t>
            </a:r>
          </a:p>
          <a:p>
            <a:r>
              <a:rPr lang="en-US" sz="2800" dirty="0"/>
              <a:t>The database design is a complex process. The complexity arises mainly because of the identification of relationships among individual components and their representation for maintaining correct functionality are highly involved. </a:t>
            </a:r>
          </a:p>
          <a:p>
            <a:r>
              <a:rPr lang="en-US" sz="2800" dirty="0"/>
              <a:t>The degree of complexity increases if there are many-to-many relationships among individual components. </a:t>
            </a:r>
            <a:endParaRPr lang="en-US" dirty="0"/>
          </a:p>
        </p:txBody>
      </p:sp>
    </p:spTree>
    <p:extLst>
      <p:ext uri="{BB962C8B-B14F-4D97-AF65-F5344CB8AC3E}">
        <p14:creationId xmlns:p14="http://schemas.microsoft.com/office/powerpoint/2010/main" val="1586032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Introduction (cont.)</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315454" y="2063515"/>
            <a:ext cx="3641558" cy="4017195"/>
          </a:xfrm>
        </p:spPr>
        <p:txBody>
          <a:bodyPr>
            <a:normAutofit/>
          </a:bodyPr>
          <a:lstStyle/>
          <a:p>
            <a:r>
              <a:rPr lang="en-US" dirty="0"/>
              <a:t>The process of database design usually requires a number of steps which are in figure.</a:t>
            </a:r>
          </a:p>
          <a:p>
            <a:endParaRPr lang="en-US" dirty="0"/>
          </a:p>
        </p:txBody>
      </p:sp>
      <p:pic>
        <p:nvPicPr>
          <p:cNvPr id="1026" name="Picture 2">
            <a:extLst>
              <a:ext uri="{FF2B5EF4-FFF2-40B4-BE49-F238E27FC236}">
                <a16:creationId xmlns:a16="http://schemas.microsoft.com/office/drawing/2014/main" id="{E110135E-6842-4CD0-93EF-5BD6FAC1D1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0459" y="1432510"/>
            <a:ext cx="5551251" cy="5291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6351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565486"/>
            <a:ext cx="10018713" cy="1453714"/>
          </a:xfrm>
        </p:spPr>
        <p:txBody>
          <a:bodyPr>
            <a:normAutofit/>
          </a:bodyPr>
          <a:lstStyle/>
          <a:p>
            <a:r>
              <a:rPr lang="en-US" sz="4400" dirty="0"/>
              <a:t>Feasibility Study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84159"/>
            <a:ext cx="9877894" cy="4736430"/>
          </a:xfrm>
        </p:spPr>
        <p:txBody>
          <a:bodyPr>
            <a:normAutofit/>
          </a:bodyPr>
          <a:lstStyle/>
          <a:p>
            <a:r>
              <a:rPr lang="en-US" sz="2800" dirty="0"/>
              <a:t>When designing a database, the purpose for which the database is being designed must be clearly defined.</a:t>
            </a:r>
          </a:p>
          <a:p>
            <a:r>
              <a:rPr lang="en-US" sz="2800" dirty="0"/>
              <a:t> In other words the objective of creating the database must be crystal clear.</a:t>
            </a:r>
          </a:p>
        </p:txBody>
      </p:sp>
    </p:spTree>
    <p:extLst>
      <p:ext uri="{BB962C8B-B14F-4D97-AF65-F5344CB8AC3E}">
        <p14:creationId xmlns:p14="http://schemas.microsoft.com/office/powerpoint/2010/main" val="2202915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Requirement Collection and Analysis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8"/>
            <a:ext cx="9813726" cy="5286652"/>
          </a:xfrm>
        </p:spPr>
        <p:txBody>
          <a:bodyPr>
            <a:normAutofit/>
          </a:bodyPr>
          <a:lstStyle/>
          <a:p>
            <a:r>
              <a:rPr lang="en-US" dirty="0"/>
              <a:t>In requirement collection, one has to decide what data are to be stored, and to some extent, how that data will be used. </a:t>
            </a:r>
          </a:p>
          <a:p>
            <a:r>
              <a:rPr lang="en-US" dirty="0"/>
              <a:t>The people who are going to use the database must be interviewed repeatedly.</a:t>
            </a:r>
          </a:p>
          <a:p>
            <a:r>
              <a:rPr lang="en-US" dirty="0"/>
              <a:t> Assumptions about the stated relationships between various parts of the data must be questioned again and again. </a:t>
            </a:r>
          </a:p>
          <a:p>
            <a:r>
              <a:rPr lang="en-US" dirty="0"/>
              <a:t>For example, in designing the database about medical records of a patient, the following queries must be clearly defined. </a:t>
            </a:r>
          </a:p>
          <a:p>
            <a:r>
              <a:rPr lang="en-US" dirty="0"/>
              <a:t>Does a patient have more than one doctor? Is there a separate billing number for each drug ordered by a patient?</a:t>
            </a:r>
          </a:p>
        </p:txBody>
      </p:sp>
    </p:spTree>
    <p:extLst>
      <p:ext uri="{BB962C8B-B14F-4D97-AF65-F5344CB8AC3E}">
        <p14:creationId xmlns:p14="http://schemas.microsoft.com/office/powerpoint/2010/main" val="4086604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567591"/>
            <a:ext cx="10018713" cy="1752599"/>
          </a:xfrm>
        </p:spPr>
        <p:txBody>
          <a:bodyPr/>
          <a:lstStyle/>
          <a:p>
            <a:r>
              <a:rPr lang="en-US" dirty="0"/>
              <a:t>Prototyping and Design</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571349"/>
            <a:ext cx="9813726" cy="4296792"/>
          </a:xfrm>
        </p:spPr>
        <p:txBody>
          <a:bodyPr>
            <a:normAutofit/>
          </a:bodyPr>
          <a:lstStyle/>
          <a:p>
            <a:r>
              <a:rPr lang="en-US" sz="2800" dirty="0"/>
              <a:t>Design implies a procedure for analyzing and organizing data into a form suitable to support business requirements and makes use of strategic technology.</a:t>
            </a:r>
          </a:p>
          <a:p>
            <a:r>
              <a:rPr lang="en-US" sz="2800" dirty="0"/>
              <a:t> The three phases in relational database design are conceptual design, logical design, and physical design.</a:t>
            </a:r>
          </a:p>
        </p:txBody>
      </p:sp>
    </p:spTree>
    <p:extLst>
      <p:ext uri="{BB962C8B-B14F-4D97-AF65-F5344CB8AC3E}">
        <p14:creationId xmlns:p14="http://schemas.microsoft.com/office/powerpoint/2010/main" val="3673641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Implementation</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912874" y="1572126"/>
            <a:ext cx="10018714" cy="5648725"/>
          </a:xfrm>
        </p:spPr>
        <p:txBody>
          <a:bodyPr>
            <a:normAutofit/>
          </a:bodyPr>
          <a:lstStyle/>
          <a:p>
            <a:r>
              <a:rPr lang="en-US" sz="2800" dirty="0"/>
              <a:t>Database implement involves development of code for database processing, and also the installation of new database contents, usually form existing data sources.</a:t>
            </a:r>
          </a:p>
        </p:txBody>
      </p:sp>
    </p:spTree>
    <p:extLst>
      <p:ext uri="{BB962C8B-B14F-4D97-AF65-F5344CB8AC3E}">
        <p14:creationId xmlns:p14="http://schemas.microsoft.com/office/powerpoint/2010/main" val="1934847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Objectives of Database Design</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52336" y="1571349"/>
            <a:ext cx="9693325" cy="5037998"/>
          </a:xfrm>
        </p:spPr>
        <p:txBody>
          <a:bodyPr>
            <a:normAutofit/>
          </a:bodyPr>
          <a:lstStyle/>
          <a:p>
            <a:pPr marL="0" indent="0">
              <a:buNone/>
            </a:pPr>
            <a:r>
              <a:rPr lang="en-US" sz="2800" dirty="0">
                <a:cs typeface="Courier New" panose="02070309020205020404" pitchFamily="49" charset="0"/>
              </a:rPr>
              <a:t>The objectives of database design vary from implementation to implementation.</a:t>
            </a:r>
          </a:p>
          <a:p>
            <a:pPr marL="0" indent="0">
              <a:buNone/>
            </a:pPr>
            <a:r>
              <a:rPr lang="en-US" sz="2800" dirty="0">
                <a:cs typeface="Courier New" panose="02070309020205020404" pitchFamily="49" charset="0"/>
              </a:rPr>
              <a:t> Some of the important factors like efficiency, integrity, privacy, security, </a:t>
            </a:r>
            <a:r>
              <a:rPr lang="en-US" sz="2800" dirty="0" err="1">
                <a:cs typeface="Courier New" panose="02070309020205020404" pitchFamily="49" charset="0"/>
              </a:rPr>
              <a:t>implementability</a:t>
            </a:r>
            <a:r>
              <a:rPr lang="en-US" sz="2800" dirty="0">
                <a:cs typeface="Courier New" panose="02070309020205020404" pitchFamily="49" charset="0"/>
              </a:rPr>
              <a:t>, flexibility have to be considered in the design of the database.</a:t>
            </a:r>
          </a:p>
        </p:txBody>
      </p:sp>
    </p:spTree>
    <p:extLst>
      <p:ext uri="{BB962C8B-B14F-4D97-AF65-F5344CB8AC3E}">
        <p14:creationId xmlns:p14="http://schemas.microsoft.com/office/powerpoint/2010/main" val="3279088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Objectives of Database Design: Efficiency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12758" y="1571349"/>
            <a:ext cx="9532903" cy="5152197"/>
          </a:xfrm>
        </p:spPr>
        <p:txBody>
          <a:bodyPr>
            <a:normAutofit/>
          </a:bodyPr>
          <a:lstStyle/>
          <a:p>
            <a:r>
              <a:rPr lang="en-US" sz="2800" dirty="0"/>
              <a:t>Efficiency is generally considered to be the most important.</a:t>
            </a:r>
          </a:p>
          <a:p>
            <a:r>
              <a:rPr lang="en-US" sz="2800" dirty="0"/>
              <a:t> Given a piece of hardware on which the database will run and a piece of software (DBMS) to run it, the design should make full and efficient use of the facilities provided. </a:t>
            </a:r>
          </a:p>
          <a:p>
            <a:r>
              <a:rPr lang="en-US" sz="2800" dirty="0"/>
              <a:t>If the database is made online, then the users should interact with the database without any time delay.</a:t>
            </a:r>
          </a:p>
        </p:txBody>
      </p:sp>
      <p:sp>
        <p:nvSpPr>
          <p:cNvPr id="3" name="Rectangle 2">
            <a:extLst>
              <a:ext uri="{FF2B5EF4-FFF2-40B4-BE49-F238E27FC236}">
                <a16:creationId xmlns:a16="http://schemas.microsoft.com/office/drawing/2014/main" id="{0513E224-88B4-4673-AFD8-3DD1B411D0CC}"/>
              </a:ext>
            </a:extLst>
          </p:cNvPr>
          <p:cNvSpPr>
            <a:spLocks noChangeArrowheads="1"/>
          </p:cNvSpPr>
          <p:nvPr/>
        </p:nvSpPr>
        <p:spPr bwMode="auto">
          <a:xfrm>
            <a:off x="1812758" y="2424628"/>
            <a:ext cx="1393870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AU"/>
          </a:p>
        </p:txBody>
      </p:sp>
    </p:spTree>
    <p:extLst>
      <p:ext uri="{BB962C8B-B14F-4D97-AF65-F5344CB8AC3E}">
        <p14:creationId xmlns:p14="http://schemas.microsoft.com/office/powerpoint/2010/main" val="203488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0"/>
            <a:ext cx="10018713" cy="1752599"/>
          </a:xfrm>
        </p:spPr>
        <p:txBody>
          <a:bodyPr/>
          <a:lstStyle/>
          <a:p>
            <a:r>
              <a:rPr lang="en-US" dirty="0"/>
              <a:t>Objectives of Database Design: Integrity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531936" y="1491450"/>
            <a:ext cx="9813726" cy="4971494"/>
          </a:xfrm>
        </p:spPr>
        <p:txBody>
          <a:bodyPr>
            <a:normAutofit/>
          </a:bodyPr>
          <a:lstStyle/>
          <a:p>
            <a:r>
              <a:rPr lang="en-US" sz="2800" dirty="0"/>
              <a:t>The term integrity means that the database should be as accurate as possible. </a:t>
            </a:r>
          </a:p>
          <a:p>
            <a:r>
              <a:rPr lang="en-US" sz="2800" dirty="0"/>
              <a:t>The problem of preserving the integrity of data in a database can be viewed at a number of levels. </a:t>
            </a:r>
          </a:p>
          <a:p>
            <a:r>
              <a:rPr lang="en-US" sz="2800" dirty="0"/>
              <a:t>At a low level it concerns ensuring that the data are not corrupted by hardware or software errors. </a:t>
            </a:r>
          </a:p>
          <a:p>
            <a:r>
              <a:rPr lang="en-US" sz="2800" dirty="0"/>
              <a:t>At a higher level, the problem of preserving database integrity concerns maintaining an accurate representation of the real world.</a:t>
            </a:r>
            <a:endParaRPr lang="en-US"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66025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134454"/>
            <a:ext cx="10018713" cy="1752599"/>
          </a:xfrm>
        </p:spPr>
        <p:txBody>
          <a:bodyPr/>
          <a:lstStyle/>
          <a:p>
            <a:r>
              <a:rPr lang="en-US" dirty="0"/>
              <a:t>Objectives of Database Design: Privacy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2021305"/>
            <a:ext cx="9813726" cy="4539916"/>
          </a:xfrm>
        </p:spPr>
        <p:txBody>
          <a:bodyPr>
            <a:normAutofit/>
          </a:bodyPr>
          <a:lstStyle/>
          <a:p>
            <a:r>
              <a:rPr lang="en-US" sz="2800" dirty="0"/>
              <a:t>The database should not allow unauthorized access to files. </a:t>
            </a:r>
          </a:p>
          <a:p>
            <a:r>
              <a:rPr lang="en-US" sz="2800" dirty="0"/>
              <a:t>This is very important in the case of financial data. </a:t>
            </a:r>
          </a:p>
          <a:p>
            <a:r>
              <a:rPr lang="en-US" sz="2800" dirty="0"/>
              <a:t>For example, the bank balance of one customer should not be revealed to other customers.</a:t>
            </a:r>
          </a:p>
        </p:txBody>
      </p:sp>
    </p:spTree>
    <p:extLst>
      <p:ext uri="{BB962C8B-B14F-4D97-AF65-F5344CB8AC3E}">
        <p14:creationId xmlns:p14="http://schemas.microsoft.com/office/powerpoint/2010/main" val="3812183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6" y="393032"/>
            <a:ext cx="10018713" cy="1752599"/>
          </a:xfrm>
        </p:spPr>
        <p:txBody>
          <a:bodyPr/>
          <a:lstStyle/>
          <a:p>
            <a:r>
              <a:rPr lang="en-US" dirty="0"/>
              <a:t>Objectives of Database Design: Security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849218" y="1697039"/>
            <a:ext cx="9813726" cy="4767929"/>
          </a:xfrm>
        </p:spPr>
        <p:txBody>
          <a:bodyPr>
            <a:normAutofit/>
          </a:bodyPr>
          <a:lstStyle/>
          <a:p>
            <a:pPr marL="0" indent="0">
              <a:buNone/>
            </a:pPr>
            <a:r>
              <a:rPr lang="en-US" sz="2800" dirty="0">
                <a:cs typeface="Courier New" panose="02070309020205020404" pitchFamily="49" charset="0"/>
              </a:rPr>
              <a:t>The database, once loaded, should be safe from physical corruption whether from hardware or software failure or from unauthorized access. </a:t>
            </a:r>
          </a:p>
          <a:p>
            <a:pPr marL="0" indent="0">
              <a:buNone/>
            </a:pPr>
            <a:r>
              <a:rPr lang="en-US" sz="2800" dirty="0">
                <a:cs typeface="Courier New" panose="02070309020205020404" pitchFamily="49" charset="0"/>
              </a:rPr>
              <a:t>This is a general requirement of most databases.</a:t>
            </a:r>
          </a:p>
        </p:txBody>
      </p:sp>
    </p:spTree>
    <p:extLst>
      <p:ext uri="{BB962C8B-B14F-4D97-AF65-F5344CB8AC3E}">
        <p14:creationId xmlns:p14="http://schemas.microsoft.com/office/powerpoint/2010/main" val="1071761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134455"/>
            <a:ext cx="10018713" cy="1752599"/>
          </a:xfrm>
        </p:spPr>
        <p:txBody>
          <a:bodyPr/>
          <a:lstStyle/>
          <a:p>
            <a:r>
              <a:rPr lang="en-US" dirty="0"/>
              <a:t>Objectives of Database Design: Implementation </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764632"/>
            <a:ext cx="9813726" cy="4958913"/>
          </a:xfrm>
        </p:spPr>
        <p:txBody>
          <a:bodyPr>
            <a:normAutofit/>
          </a:bodyPr>
          <a:lstStyle/>
          <a:p>
            <a:r>
              <a:rPr lang="en-US" sz="2800" dirty="0"/>
              <a:t>The conceptual model should be simple and effective so that mapping from conceptual model to logical model is easy. </a:t>
            </a:r>
          </a:p>
          <a:p>
            <a:r>
              <a:rPr lang="en-US" sz="2800" dirty="0"/>
              <a:t>Moreover while designing the database, care has to be taken such that application programs should interact effectively with the database.</a:t>
            </a:r>
          </a:p>
        </p:txBody>
      </p:sp>
    </p:spTree>
    <p:extLst>
      <p:ext uri="{BB962C8B-B14F-4D97-AF65-F5344CB8AC3E}">
        <p14:creationId xmlns:p14="http://schemas.microsoft.com/office/powerpoint/2010/main" val="2905332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134455"/>
            <a:ext cx="10018713" cy="1752599"/>
          </a:xfrm>
        </p:spPr>
        <p:txBody>
          <a:bodyPr/>
          <a:lstStyle/>
          <a:p>
            <a:r>
              <a:rPr lang="en-US" dirty="0"/>
              <a:t>Objectives of Database Design: Flexibility </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2053389"/>
            <a:ext cx="9813726" cy="4670156"/>
          </a:xfrm>
        </p:spPr>
        <p:txBody>
          <a:bodyPr>
            <a:normAutofit/>
          </a:bodyPr>
          <a:lstStyle/>
          <a:p>
            <a:r>
              <a:rPr lang="en-US" sz="2800" dirty="0"/>
              <a:t>The database should not be implemented in a rigid way that assumes the business will remain constant forever. </a:t>
            </a:r>
          </a:p>
          <a:p>
            <a:r>
              <a:rPr lang="en-US" sz="2800" dirty="0"/>
              <a:t>Changes will occur and the database must be capable of responding readily to such change. </a:t>
            </a:r>
          </a:p>
          <a:p>
            <a:r>
              <a:rPr lang="en-US" sz="2800" dirty="0"/>
              <a:t>Other than the factors which were mentioned above, the design of the database should ensure that data redundancy is not there.</a:t>
            </a:r>
            <a:endParaRPr lang="fr-FR"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53345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134455"/>
            <a:ext cx="10018713" cy="1752599"/>
          </a:xfrm>
        </p:spPr>
        <p:txBody>
          <a:bodyPr/>
          <a:lstStyle/>
          <a:p>
            <a:r>
              <a:rPr lang="en-US" dirty="0"/>
              <a:t>Database Design Tools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dirty="0"/>
              <a:t>Once the objectives of the database design and the various steps in database design is known, it is essential to know the database design tools which are used to automate the task of designing a business system. </a:t>
            </a:r>
          </a:p>
          <a:p>
            <a:r>
              <a:rPr lang="en-US" dirty="0"/>
              <a:t>Using automated design tools is the process of using a GUI tool to assist in the design of a database or database application. </a:t>
            </a:r>
          </a:p>
          <a:p>
            <a:r>
              <a:rPr lang="en-US" dirty="0"/>
              <a:t>Many database design tools are available with a variety of features. </a:t>
            </a:r>
          </a:p>
          <a:p>
            <a:r>
              <a:rPr lang="en-US" dirty="0"/>
              <a:t>The design tools are vendor-specific. </a:t>
            </a:r>
          </a:p>
          <a:p>
            <a:r>
              <a:rPr lang="en-US" dirty="0"/>
              <a:t>CASE tools are software that provides automated support for some portion of the systems development process.</a:t>
            </a:r>
          </a:p>
          <a:p>
            <a:r>
              <a:rPr lang="en-US" dirty="0"/>
              <a:t> Database drawing tools are used in enterprise modeling, conceptual data modeling, logical database design, and physical data modeling.</a:t>
            </a:r>
            <a:endParaRPr lang="fr-FR"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13167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134455"/>
            <a:ext cx="10018713" cy="1752599"/>
          </a:xfrm>
        </p:spPr>
        <p:txBody>
          <a:bodyPr/>
          <a:lstStyle/>
          <a:p>
            <a:r>
              <a:rPr lang="en-US" dirty="0"/>
              <a:t>Need for Database Design Tool</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sz="2800" dirty="0"/>
              <a:t>The database design tools increase the overall productivity because the manual tasks are automated and less time is spent in performing tedious tasks and more time is spent in thinking about the actual design of the database. </a:t>
            </a:r>
          </a:p>
          <a:p>
            <a:r>
              <a:rPr lang="en-US" sz="2800" dirty="0"/>
              <a:t>The quality of the end product is improved in using database design tools; because the design tool automates much of the design process as a result the time taken to design a database is reduced. </a:t>
            </a:r>
          </a:p>
          <a:p>
            <a:r>
              <a:rPr lang="en-US" sz="2800" dirty="0"/>
              <a:t>As a result, more time is available to interview the customer, conduct user feedback sessions, and naturally the quality of the product is improved.</a:t>
            </a:r>
            <a:endParaRPr lang="fr-FR"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22885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170345"/>
            <a:ext cx="10018713" cy="1752599"/>
          </a:xfrm>
        </p:spPr>
        <p:txBody>
          <a:bodyPr/>
          <a:lstStyle/>
          <a:p>
            <a:r>
              <a:rPr lang="en-US" dirty="0"/>
              <a:t>Desired Features of Database Design Tools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lnSpcReduction="10000"/>
          </a:bodyPr>
          <a:lstStyle/>
          <a:p>
            <a:r>
              <a:rPr lang="en-US" dirty="0"/>
              <a:t>The database design tools should help the developer to complete the database model of database application in a timely fashion. Some of the features of the database design tools are given below:</a:t>
            </a:r>
          </a:p>
          <a:p>
            <a:r>
              <a:rPr lang="en-US" dirty="0"/>
              <a:t>The database design tools should capture the user needs.</a:t>
            </a:r>
          </a:p>
          <a:p>
            <a:r>
              <a:rPr lang="en-US" dirty="0"/>
              <a:t>The capability to model the flow of data in an organization.</a:t>
            </a:r>
          </a:p>
          <a:p>
            <a:r>
              <a:rPr lang="en-US" dirty="0"/>
              <a:t>The database design tool should have the capability to model entities and their relationships.</a:t>
            </a:r>
          </a:p>
          <a:p>
            <a:r>
              <a:rPr lang="en-US" dirty="0"/>
              <a:t>The database design tool should have the capability to generate Data Definition Language (DDL) to create database object.</a:t>
            </a:r>
          </a:p>
          <a:p>
            <a:r>
              <a:rPr lang="en-US" dirty="0"/>
              <a:t>The database design tool should support full life cycle database support.</a:t>
            </a:r>
          </a:p>
          <a:p>
            <a:r>
              <a:rPr lang="en-US" dirty="0"/>
              <a:t>Database and application version control.</a:t>
            </a:r>
          </a:p>
          <a:p>
            <a:r>
              <a:rPr lang="en-US" dirty="0"/>
              <a:t>The database design tool should generate reports for documentation and user-feedback sessions.</a:t>
            </a:r>
          </a:p>
        </p:txBody>
      </p:sp>
    </p:spTree>
    <p:extLst>
      <p:ext uri="{BB962C8B-B14F-4D97-AF65-F5344CB8AC3E}">
        <p14:creationId xmlns:p14="http://schemas.microsoft.com/office/powerpoint/2010/main" val="2392100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134455"/>
            <a:ext cx="10018713" cy="1752599"/>
          </a:xfrm>
        </p:spPr>
        <p:txBody>
          <a:bodyPr/>
          <a:lstStyle/>
          <a:p>
            <a:r>
              <a:rPr lang="en-US" dirty="0"/>
              <a:t>Advantages of Database Design Tools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dirty="0"/>
              <a:t>Some of the advantages of using database design tools for system design or application development are given as:</a:t>
            </a:r>
          </a:p>
          <a:p>
            <a:pPr>
              <a:buFont typeface="Wingdings" panose="05000000000000000000" pitchFamily="2" charset="2"/>
              <a:buChar char="Ø"/>
            </a:pPr>
            <a:r>
              <a:rPr lang="en-US" dirty="0"/>
              <a:t>The amount of code to be written is reduced as a result the database design time is reduced.</a:t>
            </a:r>
          </a:p>
          <a:p>
            <a:pPr>
              <a:buFont typeface="Wingdings" panose="05000000000000000000" pitchFamily="2" charset="2"/>
              <a:buChar char="Ø"/>
            </a:pPr>
            <a:r>
              <a:rPr lang="en-US" dirty="0"/>
              <a:t>Chances of errors because of manual work are reduced.</a:t>
            </a:r>
          </a:p>
          <a:p>
            <a:pPr>
              <a:buFont typeface="Wingdings" panose="05000000000000000000" pitchFamily="2" charset="2"/>
              <a:buChar char="Ø"/>
            </a:pPr>
            <a:r>
              <a:rPr lang="en-US" dirty="0"/>
              <a:t>Easy to convert the business model to working database model.</a:t>
            </a:r>
          </a:p>
          <a:p>
            <a:pPr>
              <a:buFont typeface="Wingdings" panose="05000000000000000000" pitchFamily="2" charset="2"/>
              <a:buChar char="Ø"/>
            </a:pPr>
            <a:r>
              <a:rPr lang="en-US" dirty="0"/>
              <a:t>Easy to ensure that all business requirements are met with.</a:t>
            </a:r>
          </a:p>
          <a:p>
            <a:pPr>
              <a:buFont typeface="Wingdings" panose="05000000000000000000" pitchFamily="2" charset="2"/>
              <a:buChar char="Ø"/>
            </a:pPr>
            <a:r>
              <a:rPr lang="en-US" dirty="0"/>
              <a:t>A higher quality, more accurate product is produced.</a:t>
            </a:r>
          </a:p>
        </p:txBody>
      </p:sp>
    </p:spTree>
    <p:extLst>
      <p:ext uri="{BB962C8B-B14F-4D97-AF65-F5344CB8AC3E}">
        <p14:creationId xmlns:p14="http://schemas.microsoft.com/office/powerpoint/2010/main" val="1800150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407068"/>
            <a:ext cx="10018713" cy="1752599"/>
          </a:xfrm>
        </p:spPr>
        <p:txBody>
          <a:bodyPr/>
          <a:lstStyle/>
          <a:p>
            <a:r>
              <a:rPr lang="en-US" dirty="0"/>
              <a:t>Disadvantages of Database Design Tools</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sz="2800" dirty="0"/>
              <a:t>Some of the disadvantages of database design tools are given below:</a:t>
            </a:r>
          </a:p>
          <a:p>
            <a:pPr>
              <a:buFont typeface="Wingdings" panose="05000000000000000000" pitchFamily="2" charset="2"/>
              <a:buChar char="Ø"/>
            </a:pPr>
            <a:r>
              <a:rPr lang="en-US" sz="2800" dirty="0"/>
              <a:t>More expenses involved for the tool itself.</a:t>
            </a:r>
          </a:p>
          <a:p>
            <a:pPr>
              <a:buFont typeface="Wingdings" panose="05000000000000000000" pitchFamily="2" charset="2"/>
              <a:buChar char="Ø"/>
            </a:pPr>
            <a:r>
              <a:rPr lang="en-US" sz="2800" dirty="0"/>
              <a:t>Developers might require special training to use the tool.</a:t>
            </a:r>
          </a:p>
        </p:txBody>
      </p:sp>
    </p:spTree>
    <p:extLst>
      <p:ext uri="{BB962C8B-B14F-4D97-AF65-F5344CB8AC3E}">
        <p14:creationId xmlns:p14="http://schemas.microsoft.com/office/powerpoint/2010/main" val="3231897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429442" y="134455"/>
            <a:ext cx="10018713" cy="1752599"/>
          </a:xfrm>
        </p:spPr>
        <p:txBody>
          <a:bodyPr/>
          <a:lstStyle/>
          <a:p>
            <a:r>
              <a:rPr lang="en-US" dirty="0"/>
              <a:t>Redundancy and Data Anomaly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2133600"/>
            <a:ext cx="9813726" cy="3545305"/>
          </a:xfrm>
        </p:spPr>
        <p:txBody>
          <a:bodyPr>
            <a:normAutofit/>
          </a:bodyPr>
          <a:lstStyle/>
          <a:p>
            <a:r>
              <a:rPr lang="en-US" sz="2800" dirty="0"/>
              <a:t>Redundant data means storing the same information more than once, i.e., redundant data could be removed without the loss of information.</a:t>
            </a:r>
          </a:p>
          <a:p>
            <a:r>
              <a:rPr lang="en-US" sz="2800" dirty="0"/>
              <a:t>Redundancy can lead to anomalies. The different anomalies are insertion, deletion, and update anomalies.</a:t>
            </a:r>
            <a:endParaRPr lang="en-US"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77005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134455"/>
            <a:ext cx="10018713" cy="1752599"/>
          </a:xfrm>
        </p:spPr>
        <p:txBody>
          <a:bodyPr/>
          <a:lstStyle/>
          <a:p>
            <a:r>
              <a:rPr lang="en-US" dirty="0"/>
              <a:t>Problems of Redundancy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684421"/>
            <a:ext cx="9813726" cy="5039124"/>
          </a:xfrm>
        </p:spPr>
        <p:txBody>
          <a:bodyPr>
            <a:normAutofit/>
          </a:bodyPr>
          <a:lstStyle/>
          <a:p>
            <a:r>
              <a:rPr lang="en-US" sz="2800" dirty="0"/>
              <a:t>Redundancy can cause problems during normal database operations.</a:t>
            </a:r>
          </a:p>
          <a:p>
            <a:r>
              <a:rPr lang="en-US" sz="2800" dirty="0"/>
              <a:t> For example, when data are inserted into the database, the data must be duplicated wherever redundant versions of that data exist. </a:t>
            </a:r>
          </a:p>
          <a:p>
            <a:r>
              <a:rPr lang="en-US" sz="2800" dirty="0"/>
              <a:t>Also when the data are updated, all redundant data must be simultaneously updated to reflect that change.</a:t>
            </a:r>
            <a:endParaRPr lang="en-US"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9117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753647" y="134455"/>
            <a:ext cx="11438353" cy="1566008"/>
          </a:xfrm>
        </p:spPr>
        <p:txBody>
          <a:bodyPr/>
          <a:lstStyle/>
          <a:p>
            <a:r>
              <a:rPr lang="en-US" dirty="0"/>
              <a:t>Insertion, Deletion, and Update Anomaly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700464"/>
            <a:ext cx="9813726" cy="5023082"/>
          </a:xfrm>
        </p:spPr>
        <p:txBody>
          <a:bodyPr>
            <a:normAutofit/>
          </a:bodyPr>
          <a:lstStyle/>
          <a:p>
            <a:r>
              <a:rPr lang="en-US" sz="2800" dirty="0"/>
              <a:t>A table anomaly is a structure for which a normal database operation cannot be executed without information loss or full search of the data table. </a:t>
            </a:r>
          </a:p>
          <a:p>
            <a:r>
              <a:rPr lang="en-US" sz="2800" dirty="0"/>
              <a:t>The table anomaly can be broadly classified into (1) Insertion Anomaly, (2) Deletion Anomaly, and (3) Update or Modification Anomaly.</a:t>
            </a:r>
            <a:endParaRPr lang="en-US" sz="2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753159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481263"/>
            <a:ext cx="10018713" cy="1502043"/>
          </a:xfrm>
        </p:spPr>
        <p:txBody>
          <a:bodyPr/>
          <a:lstStyle/>
          <a:p>
            <a:r>
              <a:rPr lang="en-US" dirty="0"/>
              <a:t>Insertion, Deletion, and Update Anomaly: Example</a:t>
            </a:r>
          </a:p>
        </p:txBody>
      </p:sp>
      <p:pic>
        <p:nvPicPr>
          <p:cNvPr id="2051" name="Picture 3">
            <a:extLst>
              <a:ext uri="{FF2B5EF4-FFF2-40B4-BE49-F238E27FC236}">
                <a16:creationId xmlns:a16="http://schemas.microsoft.com/office/drawing/2014/main" id="{9FF1D7B6-B6FC-4C2A-99A4-7FE5C58189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1935" y="2736231"/>
            <a:ext cx="10508282" cy="3247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9375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0"/>
            <a:ext cx="10018713" cy="1502043"/>
          </a:xfrm>
        </p:spPr>
        <p:txBody>
          <a:bodyPr/>
          <a:lstStyle/>
          <a:p>
            <a:r>
              <a:rPr lang="en-US" dirty="0"/>
              <a:t>Insertion Anomaly</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010654"/>
            <a:ext cx="9813726" cy="5712892"/>
          </a:xfrm>
        </p:spPr>
        <p:txBody>
          <a:bodyPr>
            <a:normAutofit/>
          </a:bodyPr>
          <a:lstStyle/>
          <a:p>
            <a:r>
              <a:rPr lang="en-US" sz="2800" b="1" dirty="0"/>
              <a:t>Insertion Anomaly:</a:t>
            </a:r>
            <a:r>
              <a:rPr lang="en-US" sz="2800" dirty="0"/>
              <a:t> </a:t>
            </a:r>
            <a:r>
              <a:rPr lang="en-US" sz="2800" dirty="0">
                <a:cs typeface="Courier New" panose="02070309020205020404" pitchFamily="49" charset="0"/>
              </a:rPr>
              <a:t>We cannot insert a department without inserting a member of staff that works in that department.</a:t>
            </a:r>
          </a:p>
          <a:p>
            <a:r>
              <a:rPr lang="en-US" sz="2800" b="1" dirty="0">
                <a:cs typeface="Courier New" panose="02070309020205020404" pitchFamily="49" charset="0"/>
              </a:rPr>
              <a:t>Update Anomaly:</a:t>
            </a:r>
            <a:r>
              <a:rPr lang="en-US" sz="2800" dirty="0">
                <a:cs typeface="Courier New" panose="02070309020205020404" pitchFamily="49" charset="0"/>
              </a:rPr>
              <a:t> Employee 519 is shown as having different addresses on different records.</a:t>
            </a:r>
          </a:p>
          <a:p>
            <a:endParaRPr lang="en-US" sz="2800" dirty="0">
              <a:cs typeface="Courier New" panose="02070309020205020404" pitchFamily="49" charset="0"/>
            </a:endParaRPr>
          </a:p>
          <a:p>
            <a:endParaRPr lang="en-US" sz="2800" dirty="0">
              <a:cs typeface="Courier New" panose="02070309020205020404" pitchFamily="49" charset="0"/>
            </a:endParaRPr>
          </a:p>
          <a:p>
            <a:endParaRPr lang="en-US" sz="2800" dirty="0">
              <a:cs typeface="Courier New" panose="02070309020205020404" pitchFamily="49" charset="0"/>
            </a:endParaRPr>
          </a:p>
          <a:p>
            <a:r>
              <a:rPr lang="en-US" sz="2800" b="1" dirty="0">
                <a:cs typeface="Courier New" panose="02070309020205020404" pitchFamily="49" charset="0"/>
              </a:rPr>
              <a:t>Deletion Anomaly:</a:t>
            </a:r>
            <a:r>
              <a:rPr lang="en-US" sz="2800" dirty="0">
                <a:cs typeface="Courier New" panose="02070309020205020404" pitchFamily="49" charset="0"/>
              </a:rPr>
              <a:t> By removing, employee 100, we have removed all information pertaining to the sales department.</a:t>
            </a:r>
          </a:p>
        </p:txBody>
      </p:sp>
      <p:pic>
        <p:nvPicPr>
          <p:cNvPr id="3074" name="Picture 2">
            <a:extLst>
              <a:ext uri="{FF2B5EF4-FFF2-40B4-BE49-F238E27FC236}">
                <a16:creationId xmlns:a16="http://schemas.microsoft.com/office/drawing/2014/main" id="{584151D1-1948-4296-8C08-79401B4E70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1291" y="3429000"/>
            <a:ext cx="4514371" cy="1948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63964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0"/>
            <a:ext cx="10018713" cy="1502043"/>
          </a:xfrm>
        </p:spPr>
        <p:txBody>
          <a:bodyPr/>
          <a:lstStyle/>
          <a:p>
            <a:r>
              <a:rPr lang="en-US" dirty="0"/>
              <a:t>Repeating Group</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8"/>
            <a:ext cx="9813726" cy="5440177"/>
          </a:xfrm>
        </p:spPr>
        <p:txBody>
          <a:bodyPr>
            <a:normAutofit/>
          </a:bodyPr>
          <a:lstStyle/>
          <a:p>
            <a:r>
              <a:rPr lang="en-US" sz="2800" dirty="0">
                <a:cs typeface="Courier New" panose="02070309020205020404" pitchFamily="49" charset="0"/>
              </a:rPr>
              <a:t>A repeating group is an attribute (or set of attributes) that can have more than one value for a primary key value. </a:t>
            </a:r>
          </a:p>
          <a:p>
            <a:r>
              <a:rPr lang="en-US" sz="2800" dirty="0">
                <a:cs typeface="Courier New" panose="02070309020205020404" pitchFamily="49" charset="0"/>
              </a:rPr>
              <a:t>To understand the concept of repeating group, consider the example of the table STAFF. </a:t>
            </a:r>
          </a:p>
          <a:p>
            <a:r>
              <a:rPr lang="en-US" sz="2800" dirty="0">
                <a:cs typeface="Courier New" panose="02070309020205020404" pitchFamily="49" charset="0"/>
              </a:rPr>
              <a:t>A staff can have more than one contact number.</a:t>
            </a:r>
          </a:p>
          <a:p>
            <a:r>
              <a:rPr lang="en-US" sz="2800" dirty="0">
                <a:cs typeface="Courier New" panose="02070309020205020404" pitchFamily="49" charset="0"/>
              </a:rPr>
              <a:t> For each contact number, we have to store the data of the STAFF which leads to more storage space (more memory).</a:t>
            </a:r>
          </a:p>
        </p:txBody>
      </p:sp>
    </p:spTree>
    <p:extLst>
      <p:ext uri="{BB962C8B-B14F-4D97-AF65-F5344CB8AC3E}">
        <p14:creationId xmlns:p14="http://schemas.microsoft.com/office/powerpoint/2010/main" val="8197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0"/>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A80C7-89FD-42E4-BB6A-AB07E25F8938}"/>
              </a:ext>
            </a:extLst>
          </p:cNvPr>
          <p:cNvSpPr>
            <a:spLocks noGrp="1"/>
          </p:cNvSpPr>
          <p:nvPr>
            <p:ph type="title"/>
          </p:nvPr>
        </p:nvSpPr>
        <p:spPr>
          <a:xfrm>
            <a:off x="1531935" y="0"/>
            <a:ext cx="10018713" cy="1502043"/>
          </a:xfrm>
        </p:spPr>
        <p:txBody>
          <a:bodyPr/>
          <a:lstStyle/>
          <a:p>
            <a:r>
              <a:rPr lang="en-US" dirty="0"/>
              <a:t>Repeating Group</a:t>
            </a:r>
          </a:p>
        </p:txBody>
      </p:sp>
      <p:sp>
        <p:nvSpPr>
          <p:cNvPr id="4" name="Content Placeholder 3">
            <a:extLst>
              <a:ext uri="{FF2B5EF4-FFF2-40B4-BE49-F238E27FC236}">
                <a16:creationId xmlns:a16="http://schemas.microsoft.com/office/drawing/2014/main" id="{2F3880DE-143F-4A2C-8F3A-74AAF0B145C2}"/>
              </a:ext>
            </a:extLst>
          </p:cNvPr>
          <p:cNvSpPr>
            <a:spLocks noGrp="1"/>
          </p:cNvSpPr>
          <p:nvPr>
            <p:ph idx="1"/>
          </p:nvPr>
        </p:nvSpPr>
        <p:spPr>
          <a:xfrm>
            <a:off x="1634429" y="1283369"/>
            <a:ext cx="9813726" cy="2145632"/>
          </a:xfrm>
        </p:spPr>
        <p:txBody>
          <a:bodyPr>
            <a:normAutofit/>
          </a:bodyPr>
          <a:lstStyle/>
          <a:p>
            <a:r>
              <a:rPr lang="en-US" dirty="0">
                <a:cs typeface="Courier New" panose="02070309020205020404" pitchFamily="49" charset="0"/>
              </a:rPr>
              <a:t>Repeating groups are not allowed in a relational design, since all attributes have to be atomic, i.e., there can only be one value per cell in a table.</a:t>
            </a:r>
          </a:p>
          <a:p>
            <a:endParaRPr lang="en-US" dirty="0">
              <a:cs typeface="Courier New" panose="02070309020205020404" pitchFamily="49" charset="0"/>
            </a:endParaRPr>
          </a:p>
        </p:txBody>
      </p:sp>
      <p:pic>
        <p:nvPicPr>
          <p:cNvPr id="3" name="Picture 2">
            <a:extLst>
              <a:ext uri="{FF2B5EF4-FFF2-40B4-BE49-F238E27FC236}">
                <a16:creationId xmlns:a16="http://schemas.microsoft.com/office/drawing/2014/main" id="{C68BE39E-28EF-49D4-B697-04D329F264A1}"/>
              </a:ext>
            </a:extLst>
          </p:cNvPr>
          <p:cNvPicPr>
            <a:picLocks noChangeAspect="1"/>
          </p:cNvPicPr>
          <p:nvPr/>
        </p:nvPicPr>
        <p:blipFill>
          <a:blip r:embed="rId3"/>
          <a:stretch>
            <a:fillRect/>
          </a:stretch>
        </p:blipFill>
        <p:spPr>
          <a:xfrm>
            <a:off x="1841206" y="2940941"/>
            <a:ext cx="9175435" cy="2633690"/>
          </a:xfrm>
          <a:prstGeom prst="rect">
            <a:avLst/>
          </a:prstGeom>
        </p:spPr>
      </p:pic>
    </p:spTree>
    <p:extLst>
      <p:ext uri="{BB962C8B-B14F-4D97-AF65-F5344CB8AC3E}">
        <p14:creationId xmlns:p14="http://schemas.microsoft.com/office/powerpoint/2010/main" val="8954084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1610</TotalTime>
  <Words>1589</Words>
  <Application>Microsoft Office PowerPoint</Application>
  <PresentationFormat>Widescreen</PresentationFormat>
  <Paragraphs>112</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Corbel</vt:lpstr>
      <vt:lpstr>Courier New</vt:lpstr>
      <vt:lpstr>Wingdings</vt:lpstr>
      <vt:lpstr>Parallax</vt:lpstr>
      <vt:lpstr>Database Systems 2</vt:lpstr>
      <vt:lpstr>Database II - Lecture 3  Database Design</vt:lpstr>
      <vt:lpstr>Introduction</vt:lpstr>
      <vt:lpstr>Introduction (cont.)</vt:lpstr>
      <vt:lpstr>Feasibility Study</vt:lpstr>
      <vt:lpstr>Requirement Collection and Analysis</vt:lpstr>
      <vt:lpstr>Prototyping and Design</vt:lpstr>
      <vt:lpstr>Implementation</vt:lpstr>
      <vt:lpstr>Objectives of Database Design</vt:lpstr>
      <vt:lpstr>Objectives of Database Design: Efficiency</vt:lpstr>
      <vt:lpstr>Objectives of Database Design: Integrity</vt:lpstr>
      <vt:lpstr>Objectives of Database Design: Privacy</vt:lpstr>
      <vt:lpstr>Objectives of Database Design: Security</vt:lpstr>
      <vt:lpstr>Objectives of Database Design: Implementation </vt:lpstr>
      <vt:lpstr>Objectives of Database Design: Flexibility </vt:lpstr>
      <vt:lpstr>Database Design Tools</vt:lpstr>
      <vt:lpstr>Need for Database Design Tool</vt:lpstr>
      <vt:lpstr>Desired Features of Database Design Tools</vt:lpstr>
      <vt:lpstr>Advantages of Database Design Tools</vt:lpstr>
      <vt:lpstr>Disadvantages of Database Design Tools</vt:lpstr>
      <vt:lpstr>Redundancy and Data Anomaly</vt:lpstr>
      <vt:lpstr>Problems of Redundancy</vt:lpstr>
      <vt:lpstr>Insertion, Deletion, and Update Anomaly</vt:lpstr>
      <vt:lpstr>Insertion, Deletion, and Update Anomaly: Example</vt:lpstr>
      <vt:lpstr>Insertion Anomaly</vt:lpstr>
      <vt:lpstr>Repeating Group</vt:lpstr>
      <vt:lpstr>Repeating Group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Troubleshoot network connectivity issues</dc:title>
  <dc:creator>Rasool Al-Saadi</dc:creator>
  <cp:lastModifiedBy>Rasool Al-Saadi</cp:lastModifiedBy>
  <cp:revision>172</cp:revision>
  <dcterms:created xsi:type="dcterms:W3CDTF">2020-02-18T05:03:49Z</dcterms:created>
  <dcterms:modified xsi:type="dcterms:W3CDTF">2023-03-08T17:05:31Z</dcterms:modified>
</cp:coreProperties>
</file>