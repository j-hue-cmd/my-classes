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9" r:id="rId4"/>
    <p:sldId id="258" r:id="rId5"/>
    <p:sldId id="274" r:id="rId6"/>
    <p:sldId id="260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69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38" autoAdjust="0"/>
  </p:normalViewPr>
  <p:slideViewPr>
    <p:cSldViewPr snapToGrid="0">
      <p:cViewPr varScale="1">
        <p:scale>
          <a:sx n="48" d="100"/>
          <a:sy n="48" d="100"/>
        </p:scale>
        <p:origin x="67" y="8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453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3890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2139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54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464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8546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35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9406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6086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693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7619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352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0458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604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5815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35600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831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3400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2BE6EF5-D501-45B9-BF1D-4F3958A2C023}" type="datetimeFigureOut">
              <a:rPr lang="en-AU" smtClean="0"/>
              <a:t>8/05/2021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609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6A14-583D-428B-BCEA-39BC26517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0918" y="0"/>
            <a:ext cx="8574622" cy="2616199"/>
          </a:xfrm>
        </p:spPr>
        <p:txBody>
          <a:bodyPr/>
          <a:lstStyle/>
          <a:p>
            <a:pPr algn="ctr"/>
            <a:r>
              <a:rPr lang="en-AU" dirty="0"/>
              <a:t>Database Systems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53E97-050B-432A-8023-71AA641A2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8863" y="2782682"/>
            <a:ext cx="6481012" cy="384270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Dr. Rasool Hisham</a:t>
            </a:r>
          </a:p>
          <a:p>
            <a:pPr algn="ctr"/>
            <a:r>
              <a:rPr lang="en-US" b="1" dirty="0"/>
              <a:t>For 3</a:t>
            </a:r>
            <a:r>
              <a:rPr lang="en-US" b="1" baseline="30000" dirty="0"/>
              <a:t>rd</a:t>
            </a:r>
            <a:r>
              <a:rPr lang="en-US" b="1" dirty="0"/>
              <a:t> year students, 2</a:t>
            </a:r>
            <a:r>
              <a:rPr lang="en-US" b="1" baseline="30000" dirty="0"/>
              <a:t>nd</a:t>
            </a:r>
            <a:r>
              <a:rPr lang="en-US" b="1" dirty="0"/>
              <a:t> semester</a:t>
            </a:r>
          </a:p>
          <a:p>
            <a:pPr algn="l"/>
            <a:endParaRPr lang="en-US" b="1" dirty="0"/>
          </a:p>
          <a:p>
            <a:pPr algn="l"/>
            <a:r>
              <a:rPr lang="en-US" b="1" dirty="0"/>
              <a:t>Al-</a:t>
            </a:r>
            <a:r>
              <a:rPr lang="en-US" b="1" dirty="0" err="1"/>
              <a:t>Nahrain</a:t>
            </a:r>
            <a:r>
              <a:rPr lang="en-US" b="1" dirty="0"/>
              <a:t> University</a:t>
            </a:r>
          </a:p>
          <a:p>
            <a:pPr algn="l"/>
            <a:r>
              <a:rPr lang="en-US" b="1" dirty="0"/>
              <a:t>College of Science</a:t>
            </a:r>
          </a:p>
          <a:p>
            <a:pPr algn="l"/>
            <a:r>
              <a:rPr lang="en-US" b="1" dirty="0"/>
              <a:t>Computer Science Department</a:t>
            </a:r>
          </a:p>
        </p:txBody>
      </p:sp>
    </p:spTree>
    <p:extLst>
      <p:ext uri="{BB962C8B-B14F-4D97-AF65-F5344CB8AC3E}">
        <p14:creationId xmlns:p14="http://schemas.microsoft.com/office/powerpoint/2010/main" val="2563199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5"/>
            <a:ext cx="10018713" cy="717802"/>
          </a:xfrm>
        </p:spPr>
        <p:txBody>
          <a:bodyPr/>
          <a:lstStyle/>
          <a:p>
            <a:r>
              <a:rPr lang="en-US" dirty="0"/>
              <a:t>Syllabus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768" y="2063515"/>
            <a:ext cx="9877894" cy="3124201"/>
          </a:xfrm>
        </p:spPr>
        <p:txBody>
          <a:bodyPr/>
          <a:lstStyle/>
          <a:p>
            <a:endParaRPr lang="en-AU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1D10A4-8D15-41E7-8AE0-A12124183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518832"/>
              </p:ext>
            </p:extLst>
          </p:nvPr>
        </p:nvGraphicFramePr>
        <p:xfrm>
          <a:off x="1620713" y="937577"/>
          <a:ext cx="10170857" cy="56878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51145">
                  <a:extLst>
                    <a:ext uri="{9D8B030D-6E8A-4147-A177-3AD203B41FA5}">
                      <a16:colId xmlns:a16="http://schemas.microsoft.com/office/drawing/2014/main" val="3563850490"/>
                    </a:ext>
                  </a:extLst>
                </a:gridCol>
                <a:gridCol w="9019712">
                  <a:extLst>
                    <a:ext uri="{9D8B030D-6E8A-4147-A177-3AD203B41FA5}">
                      <a16:colId xmlns:a16="http://schemas.microsoft.com/office/drawing/2014/main" val="3148603914"/>
                    </a:ext>
                  </a:extLst>
                </a:gridCol>
              </a:tblGrid>
              <a:tr h="2048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Week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Topics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839648"/>
                  </a:ext>
                </a:extLst>
              </a:tr>
              <a:tr h="5301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Advanced Data Manipulation Language (Queries within Queries)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l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Subquery Terminology, Subqueries in a SELECT List, Subqueries in the WHERE Clause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864053"/>
                  </a:ext>
                </a:extLst>
              </a:tr>
              <a:tr h="6861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Operators in Subqueries,  Revisiting the IN Operator, Using the ANY, SOME, and ALL Operators, Using the EXISTS Operator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70703"/>
                  </a:ext>
                </a:extLst>
              </a:tr>
              <a:tr h="12127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Data Definition Language, Creating a Database, Data types in SQL, Creating, Altering, and Deleting Tables, Ensuring Data Validity with Constraints, NOT NULL Constraint, UNIQUE Constraint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CHECK Constraint, Primary Key and PRIMARY KEY Constraint, Foreign Key, Speeding Up Results with Indexes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42533"/>
                  </a:ext>
                </a:extLst>
              </a:tr>
              <a:tr h="9669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Database Design, Objectives of Database Design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Database Design Tools, Need for Database Design Tool, Desired Features of Database Design Tools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Advantages of Database Design Tools, Disadvantages of Database Design Tools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59068"/>
                  </a:ext>
                </a:extLst>
              </a:tr>
              <a:tr h="79902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Redundancy and Data Anomaly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Problems of Redundancy, Insertion, Deletion, and Updation Anomaly, Repeating Group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586375"/>
                  </a:ext>
                </a:extLst>
              </a:tr>
              <a:tr h="7987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Functional Dependency, Functional Dependency Inference Rules (Armstrong’s Axioms)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Reflexivity, Augmentation, Transitivity,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Pseudotransitivity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, Union, Decomposition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105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51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5"/>
            <a:ext cx="10018713" cy="886478"/>
          </a:xfrm>
        </p:spPr>
        <p:txBody>
          <a:bodyPr/>
          <a:lstStyle/>
          <a:p>
            <a:r>
              <a:rPr lang="en-US" dirty="0"/>
              <a:t>Syllabus (cont.)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768" y="2063515"/>
            <a:ext cx="9877894" cy="3124201"/>
          </a:xfrm>
        </p:spPr>
        <p:txBody>
          <a:bodyPr/>
          <a:lstStyle/>
          <a:p>
            <a:endParaRPr lang="en-AU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1D10A4-8D15-41E7-8AE0-A12124183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130709"/>
              </p:ext>
            </p:extLst>
          </p:nvPr>
        </p:nvGraphicFramePr>
        <p:xfrm>
          <a:off x="1379792" y="1020933"/>
          <a:ext cx="10170857" cy="542799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15634">
                  <a:extLst>
                    <a:ext uri="{9D8B030D-6E8A-4147-A177-3AD203B41FA5}">
                      <a16:colId xmlns:a16="http://schemas.microsoft.com/office/drawing/2014/main" val="3563850490"/>
                    </a:ext>
                  </a:extLst>
                </a:gridCol>
                <a:gridCol w="9055223">
                  <a:extLst>
                    <a:ext uri="{9D8B030D-6E8A-4147-A177-3AD203B41FA5}">
                      <a16:colId xmlns:a16="http://schemas.microsoft.com/office/drawing/2014/main" val="3148603914"/>
                    </a:ext>
                  </a:extLst>
                </a:gridCol>
              </a:tblGrid>
              <a:tr h="2557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Week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Topics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839648"/>
                  </a:ext>
                </a:extLst>
              </a:tr>
              <a:tr h="8167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Normalization, Purpose of Normalization, Steps in Normalization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Unnormal Form to First Normal Form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652332"/>
                  </a:ext>
                </a:extLst>
              </a:tr>
              <a:tr h="90552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First Normal Form to Second Normal Form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Second Normal Form to Third Normal Form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419818"/>
                  </a:ext>
                </a:extLst>
              </a:tr>
              <a:tr h="603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Transaction Processing, Key Notations in Transaction Management, Concept of Transaction Management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ACID Properties of DBMS, Atomicity and Durability, Consistency and Isolation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014138"/>
                  </a:ext>
                </a:extLst>
              </a:tr>
              <a:tr h="10653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Serial Scheduling, Anomalies due to Interleaved Transactions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WR Conflicts, RW Conflicts, WW Conflicts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Lock-Based Concurrency Control, Need for Concurrency Control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563829"/>
                  </a:ext>
                </a:extLst>
              </a:tr>
              <a:tr h="6835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Lock-Based Concurrency Control, Key Terms in Lock-Based Concurrency Control, Locking Protocol, Strict Two-Phase Locking (Strict 2PL), Deadlock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l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Methods to Overcome Deadlock, Recovery Mechanism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03952"/>
                  </a:ext>
                </a:extLst>
              </a:tr>
              <a:tr h="6681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A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409" marR="10409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Distributed Database, Architectural Models for Distributed DBMS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 algn="justLow" rtl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Types of Distributed DBMS Architecture, Client/Server Systems, Peer-to-Peer Distributed Systems</a:t>
                      </a:r>
                      <a:endParaRPr lang="en-A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538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16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4"/>
            <a:ext cx="10018713" cy="1752599"/>
          </a:xfrm>
        </p:spPr>
        <p:txBody>
          <a:bodyPr/>
          <a:lstStyle/>
          <a:p>
            <a:r>
              <a:rPr lang="en-US" dirty="0"/>
              <a:t>Text &amp; Reference books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768" y="2063515"/>
            <a:ext cx="9877894" cy="312420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1.	S. Sumathi, S. </a:t>
            </a:r>
            <a:r>
              <a:rPr lang="en-US" dirty="0" err="1"/>
              <a:t>Esakkirajan</a:t>
            </a:r>
            <a:r>
              <a:rPr lang="en-US" dirty="0"/>
              <a:t>, "Fundamentals of Relational Database Management Systems", Springer, 2007.</a:t>
            </a:r>
          </a:p>
          <a:p>
            <a:r>
              <a:rPr lang="en-US" dirty="0"/>
              <a:t>2.	</a:t>
            </a:r>
            <a:r>
              <a:rPr lang="en-US" dirty="0" err="1"/>
              <a:t>Ramez</a:t>
            </a:r>
            <a:r>
              <a:rPr lang="en-US" dirty="0"/>
              <a:t> </a:t>
            </a:r>
            <a:r>
              <a:rPr lang="en-US" dirty="0" err="1"/>
              <a:t>Elmasri</a:t>
            </a:r>
            <a:r>
              <a:rPr lang="en-US" dirty="0"/>
              <a:t>, </a:t>
            </a:r>
            <a:r>
              <a:rPr lang="en-US" dirty="0" err="1"/>
              <a:t>Shamkant</a:t>
            </a:r>
            <a:r>
              <a:rPr lang="en-US" dirty="0"/>
              <a:t> B. </a:t>
            </a:r>
            <a:r>
              <a:rPr lang="en-US" dirty="0" err="1"/>
              <a:t>Navathe</a:t>
            </a:r>
            <a:r>
              <a:rPr lang="en-US" dirty="0"/>
              <a:t>, "Fundamentals of Database Systems", 4th Edition, Addison Wesley, 2003.</a:t>
            </a:r>
          </a:p>
          <a:p>
            <a:r>
              <a:rPr lang="en-US" dirty="0"/>
              <a:t>3.	C. J. Date, "An Introduction to Database Systems", 8th Edition, Addison Wesley, 2004.</a:t>
            </a:r>
          </a:p>
          <a:p>
            <a:r>
              <a:rPr lang="en-US" dirty="0"/>
              <a:t>4.	Raghu Ramakrishnan , Johannes </a:t>
            </a:r>
            <a:r>
              <a:rPr lang="en-US" dirty="0" err="1"/>
              <a:t>Gehrke</a:t>
            </a:r>
            <a:r>
              <a:rPr lang="en-US" dirty="0"/>
              <a:t>, "Database Management Systems", 3rd Edition, McGraw Hill, 2003.</a:t>
            </a:r>
          </a:p>
          <a:p>
            <a:r>
              <a:rPr lang="en-US" dirty="0"/>
              <a:t>5.	Paul Wilton, John W. Colby,  "Beginning SQL", Wiley Publishing, Inc. 2005</a:t>
            </a:r>
          </a:p>
        </p:txBody>
      </p:sp>
    </p:spTree>
    <p:extLst>
      <p:ext uri="{BB962C8B-B14F-4D97-AF65-F5344CB8AC3E}">
        <p14:creationId xmlns:p14="http://schemas.microsoft.com/office/powerpoint/2010/main" val="134516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CB23D-5EEF-4B0C-BC86-F26DF1B55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552700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Times New Roman" panose="02020603050405020304" pitchFamily="18" charset="0"/>
              </a:rPr>
              <a:t>Advanced Data Manipulation Language </a:t>
            </a:r>
            <a:br>
              <a:rPr lang="en-US" dirty="0">
                <a:ea typeface="Times New Roman" panose="02020603050405020304" pitchFamily="18" charset="0"/>
              </a:rPr>
            </a:br>
            <a:r>
              <a:rPr lang="en-US" dirty="0">
                <a:ea typeface="Times New Roman" panose="02020603050405020304" pitchFamily="18" charset="0"/>
              </a:rPr>
              <a:t>- Subquery</a:t>
            </a:r>
            <a:br>
              <a:rPr lang="en-AU" dirty="0">
                <a:ea typeface="Times New Roman" panose="02020603050405020304" pitchFamily="18" charset="0"/>
              </a:rPr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5116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4"/>
            <a:ext cx="10018713" cy="1752599"/>
          </a:xfrm>
        </p:spPr>
        <p:txBody>
          <a:bodyPr/>
          <a:lstStyle/>
          <a:p>
            <a:r>
              <a:rPr lang="en-US" dirty="0"/>
              <a:t>Queries within Queries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768" y="1556084"/>
            <a:ext cx="9877894" cy="4764505"/>
          </a:xfrm>
        </p:spPr>
        <p:txBody>
          <a:bodyPr>
            <a:normAutofit/>
          </a:bodyPr>
          <a:lstStyle/>
          <a:p>
            <a:r>
              <a:rPr lang="en-US" dirty="0"/>
              <a:t>We will examine how we can nest one query inside another. </a:t>
            </a:r>
          </a:p>
          <a:p>
            <a:r>
              <a:rPr lang="en-US" dirty="0"/>
              <a:t>SQL allows queries within queries, or subqueries, which are SELECT statements inside SELECT statements.</a:t>
            </a:r>
          </a:p>
          <a:p>
            <a:r>
              <a:rPr lang="en-US" dirty="0"/>
              <a:t>A subquery’s syntax is just the same as a normal SELECT query’s syntax. </a:t>
            </a:r>
          </a:p>
          <a:p>
            <a:r>
              <a:rPr lang="en-US" dirty="0"/>
              <a:t>As with a normal SELECT statement, a subquery can contain joins, WHERE clauses, HAVING clauses, and GROUP BY clauses.</a:t>
            </a:r>
          </a:p>
        </p:txBody>
      </p:sp>
    </p:spTree>
    <p:extLst>
      <p:ext uri="{BB962C8B-B14F-4D97-AF65-F5344CB8AC3E}">
        <p14:creationId xmlns:p14="http://schemas.microsoft.com/office/powerpoint/2010/main" val="158603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4"/>
            <a:ext cx="10018713" cy="1752599"/>
          </a:xfrm>
        </p:spPr>
        <p:txBody>
          <a:bodyPr/>
          <a:lstStyle/>
          <a:p>
            <a:r>
              <a:rPr lang="en-US" dirty="0"/>
              <a:t>Subquery Terminology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768" y="2063515"/>
            <a:ext cx="9877894" cy="4497706"/>
          </a:xfrm>
        </p:spPr>
        <p:txBody>
          <a:bodyPr>
            <a:normAutofit/>
          </a:bodyPr>
          <a:lstStyle/>
          <a:p>
            <a:r>
              <a:rPr lang="en-US" dirty="0"/>
              <a:t>You’ll notice references to the outer and inner subqueries. </a:t>
            </a:r>
          </a:p>
          <a:p>
            <a:r>
              <a:rPr lang="en-US" dirty="0"/>
              <a:t>The outer query is the main SELECT statement, and you could say that so far all of your SELECT statements have been outer queries. </a:t>
            </a:r>
          </a:p>
          <a:p>
            <a:r>
              <a:rPr lang="en-US" dirty="0"/>
              <a:t>Shown below is a standard query: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Members;</a:t>
            </a:r>
          </a:p>
          <a:p>
            <a:r>
              <a:rPr lang="en-US" dirty="0"/>
              <a:t>Using the standard query, you can nest—that is, place inside the outer query—a subquery, which is termed the inner query: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MemberDetails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(SELECT MAX(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FilmId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FROM Films);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351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5"/>
            <a:ext cx="10018713" cy="1453714"/>
          </a:xfrm>
        </p:spPr>
        <p:txBody>
          <a:bodyPr/>
          <a:lstStyle/>
          <a:p>
            <a:r>
              <a:rPr lang="en-US" dirty="0"/>
              <a:t>Subquery Terminology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768" y="1876927"/>
            <a:ext cx="9877894" cy="48466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WHERE clause is added to the outer query, and it specifies that </a:t>
            </a:r>
            <a:r>
              <a:rPr lang="en-US" dirty="0" err="1"/>
              <a:t>MemberId</a:t>
            </a:r>
            <a:r>
              <a:rPr lang="en-US" dirty="0"/>
              <a:t> must equal the value returned by the nested inner query, which is contained within brackets in the preceding example.</a:t>
            </a:r>
          </a:p>
          <a:p>
            <a:r>
              <a:rPr lang="en-US" dirty="0"/>
              <a:t> It’s also possible to nest a subquery inside the inner query. Consider the following example: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MemberDetails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(SELECT MAX(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FilmId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FROM Films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FilmId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(SELECT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Location));</a:t>
            </a:r>
          </a:p>
          <a:p>
            <a:endParaRPr lang="en-US" dirty="0"/>
          </a:p>
          <a:p>
            <a:r>
              <a:rPr lang="en-US" dirty="0"/>
              <a:t>In the preceding example, a subquery is added to the WHERE clause of the inner query.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915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4"/>
            <a:ext cx="10018713" cy="1752599"/>
          </a:xfrm>
        </p:spPr>
        <p:txBody>
          <a:bodyPr/>
          <a:lstStyle/>
          <a:p>
            <a:r>
              <a:rPr lang="en-US" dirty="0"/>
              <a:t>Subqueries in a SELECT List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571348"/>
            <a:ext cx="9813726" cy="45406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can include a subquery as one of the expressions returning a value in a SELECT query, just as you can include a single column. However, the subquery must return just one record in one expression, in what is known as a scalar subquery. </a:t>
            </a:r>
          </a:p>
          <a:p>
            <a:r>
              <a:rPr lang="en-US" dirty="0"/>
              <a:t>The subquery must also be enclosed in brackets. An example makes things a bit clearer: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Category,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(SELECT MAX(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DVDPrice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FROM Films WHERE 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Films.CategoryId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Category.CategoryId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Category;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04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4"/>
            <a:ext cx="10018713" cy="1752599"/>
          </a:xfrm>
        </p:spPr>
        <p:txBody>
          <a:bodyPr/>
          <a:lstStyle/>
          <a:p>
            <a:r>
              <a:rPr lang="en-US" dirty="0"/>
              <a:t>Subqueries in a SELECT List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571349"/>
            <a:ext cx="9813726" cy="4296792"/>
          </a:xfrm>
        </p:spPr>
        <p:txBody>
          <a:bodyPr>
            <a:normAutofit/>
          </a:bodyPr>
          <a:lstStyle/>
          <a:p>
            <a:r>
              <a:rPr lang="en-US" dirty="0"/>
              <a:t>The SELECT query starts off by selecting the Category column. However, the next item in the list is not another column but rather a subquery.</a:t>
            </a:r>
          </a:p>
          <a:p>
            <a:r>
              <a:rPr lang="en-US" dirty="0"/>
              <a:t> This query inside the main query returns the maximum price of a DVD.</a:t>
            </a:r>
          </a:p>
          <a:p>
            <a:r>
              <a:rPr lang="en-US" dirty="0"/>
              <a:t> An aggregate function returns only one value, complying with the need for a subquery in a SELECT statement to be a scalar subquery.</a:t>
            </a:r>
          </a:p>
          <a:p>
            <a:r>
              <a:rPr lang="en-US" dirty="0"/>
              <a:t> The subquery is also linked to the outer SELECT query using a WHERE clause.</a:t>
            </a:r>
          </a:p>
          <a:p>
            <a:r>
              <a:rPr lang="en-US" dirty="0"/>
              <a:t> Because of this link, MAX(</a:t>
            </a:r>
            <a:r>
              <a:rPr lang="en-US" dirty="0" err="1"/>
              <a:t>DVDPrice</a:t>
            </a:r>
            <a:r>
              <a:rPr lang="en-US" dirty="0"/>
              <a:t>) returns the maximum price for each category in the Category table.</a:t>
            </a:r>
          </a:p>
        </p:txBody>
      </p:sp>
    </p:spTree>
    <p:extLst>
      <p:ext uri="{BB962C8B-B14F-4D97-AF65-F5344CB8AC3E}">
        <p14:creationId xmlns:p14="http://schemas.microsoft.com/office/powerpoint/2010/main" val="3673641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4"/>
            <a:ext cx="10018713" cy="1752599"/>
          </a:xfrm>
        </p:spPr>
        <p:txBody>
          <a:bodyPr/>
          <a:lstStyle/>
          <a:p>
            <a:r>
              <a:rPr lang="en-US" dirty="0"/>
              <a:t>Subqueries in a SELECT List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946484"/>
            <a:ext cx="10399652" cy="6274367"/>
          </a:xfrm>
        </p:spPr>
        <p:txBody>
          <a:bodyPr>
            <a:normAutofit/>
          </a:bodyPr>
          <a:lstStyle/>
          <a:p>
            <a:r>
              <a:rPr lang="en-US" dirty="0"/>
              <a:t>If you execute the whole query, you get the something like: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are no films with a value in the </a:t>
            </a:r>
            <a:r>
              <a:rPr lang="en-US" dirty="0" err="1"/>
              <a:t>DVDPrice</a:t>
            </a:r>
            <a:r>
              <a:rPr lang="en-US" dirty="0"/>
              <a:t> columns for the Comedy or Film Noir categories, so NULL is returned. 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7275F19-3794-48F8-932D-15AEDE419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151" y="1887053"/>
            <a:ext cx="6263628" cy="3488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4847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4"/>
            <a:ext cx="10018713" cy="1752599"/>
          </a:xfrm>
        </p:spPr>
        <p:txBody>
          <a:bodyPr/>
          <a:lstStyle/>
          <a:p>
            <a:r>
              <a:rPr lang="en-US" dirty="0"/>
              <a:t>Subqueries in the WHERE Clause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571349"/>
            <a:ext cx="9813726" cy="503799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syntax and form that subqueries take in WHERE clauses are identical to how they are used in SELECT statements, with one difference: now subqueries are used in comparisons.</a:t>
            </a:r>
          </a:p>
          <a:p>
            <a:r>
              <a:rPr lang="en-US" dirty="0"/>
              <a:t>Example: Imagine that you need to find out the name or names, if there are two or more of identical value, of the cheapest DVDs for each category. </a:t>
            </a:r>
          </a:p>
          <a:p>
            <a:r>
              <a:rPr lang="en-US" dirty="0"/>
              <a:t>You want the results to display the category name, the name of the DVD, and its price.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Category,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FilmName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DVDPrice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Category INNER JOIN Films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Category.CategoryId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Films.CategoryId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Films.DVDPrice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(SELECT MIN(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DVDPrice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FROM Films WHERE 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Films.CategoryId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Category.CategoryId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088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4"/>
            <a:ext cx="10018713" cy="1752599"/>
          </a:xfrm>
        </p:spPr>
        <p:txBody>
          <a:bodyPr/>
          <a:lstStyle/>
          <a:p>
            <a:r>
              <a:rPr lang="en-US" dirty="0"/>
              <a:t>Subqueries in the WHERE Clause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571349"/>
            <a:ext cx="9813726" cy="883093"/>
          </a:xfrm>
        </p:spPr>
        <p:txBody>
          <a:bodyPr>
            <a:normAutofit/>
          </a:bodyPr>
          <a:lstStyle/>
          <a:p>
            <a:r>
              <a:rPr lang="en-US" dirty="0"/>
              <a:t>The results are as follows:</a:t>
            </a:r>
            <a:endParaRPr lang="en-AU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13E224-88B4-4673-AFD8-3DD1B411D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758" y="2424628"/>
            <a:ext cx="139387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4019335-213A-4341-99E9-487D38000D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427827"/>
              </p:ext>
            </p:extLst>
          </p:nvPr>
        </p:nvGraphicFramePr>
        <p:xfrm>
          <a:off x="1666144" y="2368472"/>
          <a:ext cx="10275003" cy="3166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Bitmap Image" r:id="rId4" imgW="5838095" imgH="1800476" progId="Paint.Picture">
                  <p:embed/>
                </p:oleObj>
              </mc:Choice>
              <mc:Fallback>
                <p:oleObj name="Bitmap Image" r:id="rId4" imgW="5838095" imgH="1800476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144" y="2368472"/>
                        <a:ext cx="10275003" cy="31660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48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615150"/>
            <a:ext cx="10018713" cy="1752599"/>
          </a:xfrm>
        </p:spPr>
        <p:txBody>
          <a:bodyPr/>
          <a:lstStyle/>
          <a:p>
            <a:r>
              <a:rPr lang="en-US" dirty="0"/>
              <a:t>Operators in Subqueries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91450"/>
            <a:ext cx="9813726" cy="4971494"/>
          </a:xfrm>
        </p:spPr>
        <p:txBody>
          <a:bodyPr>
            <a:normAutofit/>
          </a:bodyPr>
          <a:lstStyle/>
          <a:p>
            <a:r>
              <a:rPr lang="en-US" dirty="0"/>
              <a:t>So far, all the subqueries you’ve seen have been scalar subqueries—that is, queries that only return only one row.</a:t>
            </a:r>
          </a:p>
          <a:p>
            <a:r>
              <a:rPr lang="en-US" dirty="0"/>
              <a:t> If more than one row is returned, you end up with an error.</a:t>
            </a:r>
          </a:p>
          <a:p>
            <a:r>
              <a:rPr lang="en-US" dirty="0"/>
              <a:t> In this and the following sections, you learn about operators that allow you to make comparisons against a multi-record results set.</a:t>
            </a:r>
          </a:p>
        </p:txBody>
      </p:sp>
    </p:spTree>
    <p:extLst>
      <p:ext uri="{BB962C8B-B14F-4D97-AF65-F5344CB8AC3E}">
        <p14:creationId xmlns:p14="http://schemas.microsoft.com/office/powerpoint/2010/main" val="2366025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4"/>
            <a:ext cx="10018713" cy="1752599"/>
          </a:xfrm>
        </p:spPr>
        <p:txBody>
          <a:bodyPr/>
          <a:lstStyle/>
          <a:p>
            <a:r>
              <a:rPr lang="en-US" dirty="0"/>
              <a:t>Revisiting the IN Operator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429" y="1347537"/>
            <a:ext cx="9813726" cy="5213684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You can also use the IN operator with subqueries.</a:t>
            </a:r>
          </a:p>
          <a:p>
            <a:r>
              <a:rPr lang="en-US" sz="2600" dirty="0"/>
              <a:t> Instead of providing a list of literal values, a SELECT query provides the list of values. </a:t>
            </a:r>
          </a:p>
          <a:p>
            <a:r>
              <a:rPr lang="en-US" sz="2600" dirty="0"/>
              <a:t>For example, if you want to know which members were born in the same year that a film in the Films table was released, you’d use the following SQL query.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FirstName,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YEAR(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MemberDetails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YEAR(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IN (SELECT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YearReleased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Films);</a:t>
            </a:r>
            <a:endParaRPr lang="en-US" dirty="0"/>
          </a:p>
          <a:p>
            <a:r>
              <a:rPr lang="en-US" dirty="0"/>
              <a:t>Ex2: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FirstName,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YEAR(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MemberDetails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YEAR(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NOT IN (SELECT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YearReleased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Films);</a:t>
            </a:r>
          </a:p>
        </p:txBody>
      </p:sp>
    </p:spTree>
    <p:extLst>
      <p:ext uri="{BB962C8B-B14F-4D97-AF65-F5344CB8AC3E}">
        <p14:creationId xmlns:p14="http://schemas.microsoft.com/office/powerpoint/2010/main" val="3812183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134454"/>
            <a:ext cx="10018713" cy="1752599"/>
          </a:xfrm>
        </p:spPr>
        <p:txBody>
          <a:bodyPr/>
          <a:lstStyle/>
          <a:p>
            <a:r>
              <a:rPr lang="en-US" dirty="0"/>
              <a:t>Using the ANY, SOME, and ALL 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218" y="1697039"/>
            <a:ext cx="9813726" cy="4767929"/>
          </a:xfrm>
        </p:spPr>
        <p:txBody>
          <a:bodyPr>
            <a:normAutofit/>
          </a:bodyPr>
          <a:lstStyle/>
          <a:p>
            <a:r>
              <a:rPr lang="en-US" sz="2800" dirty="0"/>
              <a:t>The IN operator allows a simple comparison to see whether a value matches one in a list of values returned by a subquery.</a:t>
            </a:r>
          </a:p>
          <a:p>
            <a:r>
              <a:rPr lang="en-US" sz="2800" dirty="0"/>
              <a:t> The ANY, SOME, and ALL operators not only allow an equality match but also allow any comparison operator to be used.</a:t>
            </a:r>
          </a:p>
        </p:txBody>
      </p:sp>
    </p:spTree>
    <p:extLst>
      <p:ext uri="{BB962C8B-B14F-4D97-AF65-F5344CB8AC3E}">
        <p14:creationId xmlns:p14="http://schemas.microsoft.com/office/powerpoint/2010/main" val="1071761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5" y="-202430"/>
            <a:ext cx="10018713" cy="1752599"/>
          </a:xfrm>
        </p:spPr>
        <p:txBody>
          <a:bodyPr/>
          <a:lstStyle/>
          <a:p>
            <a:r>
              <a:rPr lang="en-US" dirty="0"/>
              <a:t>ANY and SOME 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429" y="1283368"/>
            <a:ext cx="9813726" cy="5440177"/>
          </a:xfrm>
        </p:spPr>
        <p:txBody>
          <a:bodyPr>
            <a:normAutofit/>
          </a:bodyPr>
          <a:lstStyle/>
          <a:p>
            <a:r>
              <a:rPr lang="en-US" dirty="0"/>
              <a:t>First off, ANY and SOME are identical; they do the same thing but have a different name. </a:t>
            </a:r>
          </a:p>
          <a:p>
            <a:r>
              <a:rPr lang="en-US" dirty="0"/>
              <a:t>For ANY to return true to a match, the value being compared needs to match any one of the values returned by the subquery. </a:t>
            </a:r>
          </a:p>
          <a:p>
            <a:r>
              <a:rPr lang="en-US" dirty="0"/>
              <a:t>You must place the comparison operator before the ANY keyword.</a:t>
            </a:r>
            <a:endParaRPr lang="en-AU" dirty="0"/>
          </a:p>
          <a:p>
            <a:r>
              <a:rPr lang="en-US" dirty="0"/>
              <a:t>For example, the following SQL uses the equality (=) operator to find out whether any members have the same birth year as the release date of a film in the Films table:</a:t>
            </a:r>
            <a:endParaRPr lang="en-AU" dirty="0"/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FirstName,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YEAR(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MemberDetails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YEAR(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= ANY (SELECT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YearReleased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Films);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332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2159-9D4B-4B3D-BFDE-AC887AA8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and SOME Operators (cont.)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D4DE0-A4A1-474B-8F06-9F7695D89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note that  the results from = ANY are the same as using the IN operator but we can use any comparison operator rather than =, for example :</a:t>
            </a:r>
            <a:endParaRPr lang="en-AU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FirstName,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MemberDetails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DateOfJoining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ANY (SELECT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MeetingDate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Attendance);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1946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9265B-C9E2-4272-AF4B-0842DAE0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56412"/>
            <a:ext cx="10018713" cy="1752599"/>
          </a:xfrm>
        </p:spPr>
        <p:txBody>
          <a:bodyPr/>
          <a:lstStyle/>
          <a:p>
            <a:r>
              <a:rPr lang="en-AU" dirty="0"/>
              <a:t>ALL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73DA3-6BC8-4ABE-B35C-B8816EFAB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72126"/>
            <a:ext cx="10018713" cy="4748463"/>
          </a:xfrm>
        </p:spPr>
        <p:txBody>
          <a:bodyPr>
            <a:normAutofit/>
          </a:bodyPr>
          <a:lstStyle/>
          <a:p>
            <a:r>
              <a:rPr lang="en-US" dirty="0"/>
              <a:t>The ALL operator requires that every item in the list (all the results of a subquery) comply with the condition set by the comparison operator used with ALL.</a:t>
            </a:r>
          </a:p>
          <a:p>
            <a:r>
              <a:rPr lang="en-US" dirty="0"/>
              <a:t>Put the ALL operator into an example where you select </a:t>
            </a:r>
            <a:r>
              <a:rPr lang="en-US" dirty="0" err="1"/>
              <a:t>MemberIds</a:t>
            </a:r>
            <a:r>
              <a:rPr lang="en-US" dirty="0"/>
              <a:t> that are less than all the values returned by the subquery (SELECT </a:t>
            </a:r>
            <a:r>
              <a:rPr lang="en-US" dirty="0" err="1"/>
              <a:t>FilmId</a:t>
            </a:r>
            <a:r>
              <a:rPr lang="en-US" dirty="0"/>
              <a:t> FROM Films WHERE </a:t>
            </a:r>
            <a:r>
              <a:rPr lang="en-US" dirty="0" err="1"/>
              <a:t>FilmId</a:t>
            </a:r>
            <a:r>
              <a:rPr lang="en-US" dirty="0"/>
              <a:t> &gt; 5):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MemberDetails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ALL (SELECT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FilmId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Films 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FilmId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 5);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3048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C94A-947C-4E07-BBEB-95EA47B54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605" y="190500"/>
            <a:ext cx="10018713" cy="1752599"/>
          </a:xfrm>
        </p:spPr>
        <p:txBody>
          <a:bodyPr/>
          <a:lstStyle/>
          <a:p>
            <a:r>
              <a:rPr lang="en-AU" dirty="0"/>
              <a:t>Using the EXISTS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9C7B1-A672-4E56-A2A1-ACCAF1DE9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36295"/>
            <a:ext cx="10018713" cy="4154905"/>
          </a:xfrm>
        </p:spPr>
        <p:txBody>
          <a:bodyPr>
            <a:normAutofit fontScale="92500"/>
          </a:bodyPr>
          <a:lstStyle/>
          <a:p>
            <a:r>
              <a:rPr lang="en-US" dirty="0"/>
              <a:t>The EXISTS operator is unusual in that it checks for rows and does not compare columns. </a:t>
            </a:r>
          </a:p>
          <a:p>
            <a:r>
              <a:rPr lang="en-US" dirty="0"/>
              <a:t>So far you’ve seen lots of clauses that compare one column to another.</a:t>
            </a:r>
          </a:p>
          <a:p>
            <a:r>
              <a:rPr lang="en-US" dirty="0"/>
              <a:t> On the other hand, EXISTS simply checks to see whether a subquery has returned one or more rows. If it has, then the clause returns true; if not, then it returns false.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City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Location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EXISTS (SELECT *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MemberDetails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5);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0421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8889-AB63-4857-875C-F12A712C5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0500"/>
            <a:ext cx="10018713" cy="1752599"/>
          </a:xfrm>
        </p:spPr>
        <p:txBody>
          <a:bodyPr/>
          <a:lstStyle/>
          <a:p>
            <a:r>
              <a:rPr lang="en-AU" dirty="0"/>
              <a:t>Using the EXISTS Operator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EC773-F10D-483D-B1FB-47890C9F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43099"/>
            <a:ext cx="10018713" cy="3848101"/>
          </a:xfrm>
        </p:spPr>
        <p:txBody>
          <a:bodyPr>
            <a:normAutofit/>
          </a:bodyPr>
          <a:lstStyle/>
          <a:p>
            <a:r>
              <a:rPr lang="en-US" dirty="0"/>
              <a:t>You can reverse the logic of EXISTS by using the NOT operator, essentially checking to see whether no results are returned by the subquery.</a:t>
            </a:r>
          </a:p>
          <a:p>
            <a:r>
              <a:rPr lang="en-US" dirty="0"/>
              <a:t> Modify the second example described previously, where the subquery returns no results, adding a NOT operator to the EXISTS keyword: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City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Location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NOT EXISTS (SELECT *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MemberDetails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 99);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4524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E283-9529-473F-8A34-8C32EBFC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Important note about subquery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C75E2-C02E-4DF0-96B7-EE1701031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u="sng" dirty="0"/>
              <a:t>Subquery  can be used with DELETE and UPDATE in their WHERE clause.</a:t>
            </a:r>
            <a:endParaRPr lang="en-AU" sz="2800" dirty="0"/>
          </a:p>
          <a:p>
            <a:pPr algn="ctr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913904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1274</TotalTime>
  <Words>1826</Words>
  <Application>Microsoft Office PowerPoint</Application>
  <PresentationFormat>Widescreen</PresentationFormat>
  <Paragraphs>164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Corbel</vt:lpstr>
      <vt:lpstr>Courier New</vt:lpstr>
      <vt:lpstr>Symbol</vt:lpstr>
      <vt:lpstr>Times New Roman</vt:lpstr>
      <vt:lpstr>Parallax</vt:lpstr>
      <vt:lpstr>Paintbrush Picture</vt:lpstr>
      <vt:lpstr>Database Systems 2</vt:lpstr>
      <vt:lpstr>Syllabus</vt:lpstr>
      <vt:lpstr>Syllabus (cont.)</vt:lpstr>
      <vt:lpstr>Text &amp; Reference books</vt:lpstr>
      <vt:lpstr>Advanced Data Manipulation Language  - Subquery </vt:lpstr>
      <vt:lpstr>Queries within Queries</vt:lpstr>
      <vt:lpstr>Subquery Terminology</vt:lpstr>
      <vt:lpstr>Subquery Terminology (cont.)</vt:lpstr>
      <vt:lpstr>Subqueries in a SELECT List</vt:lpstr>
      <vt:lpstr>Subqueries in a SELECT List (cont.)</vt:lpstr>
      <vt:lpstr>Subqueries in a SELECT List (cont.)</vt:lpstr>
      <vt:lpstr>Subqueries in the WHERE Clause</vt:lpstr>
      <vt:lpstr>Subqueries in the WHERE Clause (cont.)</vt:lpstr>
      <vt:lpstr>Operators in Subqueries</vt:lpstr>
      <vt:lpstr>Revisiting the IN Operator</vt:lpstr>
      <vt:lpstr>Using the ANY, SOME, and ALL Operators</vt:lpstr>
      <vt:lpstr>ANY and SOME Operators</vt:lpstr>
      <vt:lpstr>ANY and SOME Operators (cont.)</vt:lpstr>
      <vt:lpstr>ALL Operator</vt:lpstr>
      <vt:lpstr>Using the EXISTS Operator</vt:lpstr>
      <vt:lpstr>Using the EXISTS Operator (cont.)</vt:lpstr>
      <vt:lpstr>Important note about subquery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Troubleshoot network connectivity issues</dc:title>
  <dc:creator>Rasool Al-Saadi</dc:creator>
  <cp:lastModifiedBy>Rasool Al-Saadi</cp:lastModifiedBy>
  <cp:revision>106</cp:revision>
  <dcterms:created xsi:type="dcterms:W3CDTF">2020-02-18T05:03:49Z</dcterms:created>
  <dcterms:modified xsi:type="dcterms:W3CDTF">2021-05-08T05:05:34Z</dcterms:modified>
</cp:coreProperties>
</file>