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68" r:id="rId6"/>
    <p:sldId id="266" r:id="rId7"/>
    <p:sldId id="259" r:id="rId8"/>
    <p:sldId id="267" r:id="rId9"/>
    <p:sldId id="260" r:id="rId10"/>
    <p:sldId id="261" r:id="rId11"/>
    <p:sldId id="262" r:id="rId12"/>
    <p:sldId id="263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588" autoAdjust="0"/>
    <p:restoredTop sz="94662" autoAdjust="0"/>
  </p:normalViewPr>
  <p:slideViewPr>
    <p:cSldViewPr>
      <p:cViewPr>
        <p:scale>
          <a:sx n="81" d="100"/>
          <a:sy n="81" d="100"/>
        </p:scale>
        <p:origin x="-82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E33F2-32DD-44FE-A969-451C3B8A50D8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A79B0-6F3B-4466-ACEF-F59E14788D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97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A79B0-6F3B-4466-ACEF-F59E14788D6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900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A79B0-6F3B-4466-ACEF-F59E14788D6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46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A79B0-6F3B-4466-ACEF-F59E14788D6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660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5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46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093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04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31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020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49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2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26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63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631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42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72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31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41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16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49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60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46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2499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77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9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6DAAA-9A54-476D-990B-777EFB009EE4}" type="datetimeFigureOut">
              <a:rPr lang="en-GB" smtClean="0"/>
              <a:t>18/12/2021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2C065-B506-43A0-B311-66951D9924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08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12/18/2021</a:t>
            </a:fld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12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</p:spPr>
        <p:txBody>
          <a:bodyPr/>
          <a:lstStyle/>
          <a:p>
            <a:r>
              <a:rPr lang="en-GB" dirty="0" smtClean="0"/>
              <a:t>Lecture seven</a:t>
            </a:r>
            <a:endParaRPr lang="en-GB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626" y="692696"/>
            <a:ext cx="7010399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1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620000" cy="914400"/>
          </a:xfrm>
        </p:spPr>
        <p:txBody>
          <a:bodyPr/>
          <a:lstStyle/>
          <a:p>
            <a:r>
              <a:rPr lang="en-GB" dirty="0"/>
              <a:t>State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153400" cy="52578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GB" sz="2400" b="1" dirty="0">
                <a:solidFill>
                  <a:srgbClr val="FF0000"/>
                </a:solidFill>
              </a:rPr>
              <a:t>The search </a:t>
            </a:r>
            <a:r>
              <a:rPr lang="en-GB" sz="2400" b="1" dirty="0" smtClean="0">
                <a:solidFill>
                  <a:srgbClr val="FF0000"/>
                </a:solidFill>
              </a:rPr>
              <a:t>tree </a:t>
            </a:r>
            <a:r>
              <a:rPr lang="en-GB" sz="2400" dirty="0" smtClean="0"/>
              <a:t> </a:t>
            </a:r>
            <a:r>
              <a:rPr lang="en-GB" sz="2400" dirty="0"/>
              <a:t>A state can be reached just from one path in the search tree</a:t>
            </a:r>
          </a:p>
          <a:p>
            <a:pPr marL="114300" indent="0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 </a:t>
            </a:r>
            <a:r>
              <a:rPr lang="en-GB" sz="2400" b="1" dirty="0">
                <a:solidFill>
                  <a:srgbClr val="FF0000"/>
                </a:solidFill>
              </a:rPr>
              <a:t>The search </a:t>
            </a:r>
            <a:r>
              <a:rPr lang="en-GB" sz="2400" b="1" dirty="0" smtClean="0">
                <a:solidFill>
                  <a:srgbClr val="FF0000"/>
                </a:solidFill>
              </a:rPr>
              <a:t>graph </a:t>
            </a:r>
            <a:r>
              <a:rPr lang="en-GB" sz="2400" dirty="0" smtClean="0"/>
              <a:t> </a:t>
            </a:r>
            <a:r>
              <a:rPr lang="en-GB" sz="2400" dirty="0"/>
              <a:t>A state can be reached from multiple paths in the search </a:t>
            </a:r>
            <a:r>
              <a:rPr lang="en-GB" sz="2400" dirty="0" smtClean="0"/>
              <a:t>graph</a:t>
            </a:r>
          </a:p>
          <a:p>
            <a:pPr marL="114300" indent="0">
              <a:buNone/>
            </a:pPr>
            <a:r>
              <a:rPr lang="en-GB" sz="2400" dirty="0"/>
              <a:t>We can evaluate an algorithm’s performance </a:t>
            </a:r>
            <a:r>
              <a:rPr lang="en-GB" sz="2400" dirty="0" smtClean="0"/>
              <a:t>in four </a:t>
            </a:r>
            <a:r>
              <a:rPr lang="en-GB" sz="2400" dirty="0"/>
              <a:t>ways:</a:t>
            </a:r>
          </a:p>
          <a:p>
            <a:pPr marL="571500" indent="-457200">
              <a:buFont typeface="+mj-lt"/>
              <a:buAutoNum type="arabicPeriod"/>
            </a:pPr>
            <a:r>
              <a:rPr lang="en-GB" sz="2400" b="1" dirty="0" smtClean="0"/>
              <a:t>Completeness</a:t>
            </a:r>
            <a:r>
              <a:rPr lang="en-GB" sz="2400" dirty="0"/>
              <a:t>: Is the algorithm guaranteed to find a solution when there is one?</a:t>
            </a:r>
          </a:p>
          <a:p>
            <a:pPr marL="571500" indent="-457200">
              <a:buFont typeface="+mj-lt"/>
              <a:buAutoNum type="arabicPeriod"/>
            </a:pPr>
            <a:r>
              <a:rPr lang="en-GB" sz="2400" b="1" dirty="0" smtClean="0"/>
              <a:t>Optimality</a:t>
            </a:r>
            <a:r>
              <a:rPr lang="en-GB" sz="2400" dirty="0"/>
              <a:t>: Does the strategy find the optimal </a:t>
            </a:r>
            <a:r>
              <a:rPr lang="en-GB" sz="2400" dirty="0" smtClean="0"/>
              <a:t>solution?</a:t>
            </a:r>
            <a:endParaRPr lang="en-GB" sz="2400" dirty="0"/>
          </a:p>
          <a:p>
            <a:pPr marL="571500" indent="-457200">
              <a:buFont typeface="+mj-lt"/>
              <a:buAutoNum type="arabicPeriod"/>
            </a:pPr>
            <a:r>
              <a:rPr lang="en-GB" sz="2400" b="1" dirty="0" smtClean="0"/>
              <a:t>Time </a:t>
            </a:r>
            <a:r>
              <a:rPr lang="en-GB" sz="2400" b="1" dirty="0"/>
              <a:t>complexity</a:t>
            </a:r>
            <a:r>
              <a:rPr lang="en-GB" sz="2400" dirty="0"/>
              <a:t>: How long does it take to find a solution?</a:t>
            </a:r>
          </a:p>
          <a:p>
            <a:pPr marL="571500" indent="-457200">
              <a:buFont typeface="+mj-lt"/>
              <a:buAutoNum type="arabicPeriod"/>
            </a:pPr>
            <a:r>
              <a:rPr lang="en-GB" sz="2400" b="1" dirty="0" smtClean="0"/>
              <a:t>Space </a:t>
            </a:r>
            <a:r>
              <a:rPr lang="en-GB" sz="2400" b="1" dirty="0"/>
              <a:t>complexity</a:t>
            </a:r>
            <a:r>
              <a:rPr lang="en-GB" sz="2400" dirty="0"/>
              <a:t>: How much memory is needed to perform the search?</a:t>
            </a:r>
          </a:p>
        </p:txBody>
      </p:sp>
    </p:spTree>
    <p:extLst>
      <p:ext uri="{BB962C8B-B14F-4D97-AF65-F5344CB8AC3E}">
        <p14:creationId xmlns:p14="http://schemas.microsoft.com/office/powerpoint/2010/main" val="341631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7787208" cy="6858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3200" b="1" dirty="0">
                <a:latin typeface="Times New Roman" pitchFamily="18" charset="0"/>
                <a:cs typeface="Times New Roman" pitchFamily="18" charset="0"/>
              </a:rPr>
              <a:t>Uninformed </a:t>
            </a:r>
            <a:r>
              <a:rPr lang="en-GB" sz="3200" b="1" dirty="0" smtClean="0">
                <a:latin typeface="Times New Roman" pitchFamily="18" charset="0"/>
                <a:cs typeface="Times New Roman" pitchFamily="18" charset="0"/>
              </a:rPr>
              <a:t>Search 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Also called blinded 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search</a:t>
            </a:r>
          </a:p>
          <a:p>
            <a:pPr marL="571500" indent="-457200">
              <a:buFont typeface="+mj-lt"/>
              <a:buAutoNum type="arabicPeriod"/>
            </a:pP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Breadt</a:t>
            </a: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 First Search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114300" indent="0" algn="just">
              <a:buNone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Breadth first search explores the space in a level by level manner. Only when there are no more states to be explored at a given level does the algorithm move to the next level. 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is a bigger problem than execution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time in BFS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 marL="1143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66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.pinimg.com/originals/d5/06/ad/d506ad94223fc86af6119d33ed9ab53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84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7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064896" cy="1143000"/>
          </a:xfrm>
        </p:spPr>
        <p:txBody>
          <a:bodyPr/>
          <a:lstStyle/>
          <a:p>
            <a:r>
              <a:rPr lang="en-GB" dirty="0" smtClean="0"/>
              <a:t>Procedure </a:t>
            </a:r>
            <a:r>
              <a:rPr lang="en-GB" dirty="0" err="1" smtClean="0"/>
              <a:t>Breadth_first_search</a:t>
            </a:r>
            <a:r>
              <a:rPr lang="en-GB" dirty="0" smtClean="0"/>
              <a:t>: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7620000" cy="534806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Initialize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OPEN =[start], close= [ ];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While OPEN  ≠ [ ] do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Begin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•	Remove the left state from OPEN, call it X;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•	If X is a goal,  return (success);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•	Generate all children of X;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•	Put X on CLOSED;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•	Eliminate any children of X already on either OPEN or CLOSED to prevent loops.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•	Put the remaining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descendents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of X in order of discovering on the right of OPEN;</a:t>
            </a:r>
          </a:p>
          <a:p>
            <a:pPr marL="114300" indent="0"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End;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72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"/>
            <a:ext cx="5562599" cy="520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195736" y="5589240"/>
            <a:ext cx="4169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 </a:t>
            </a:r>
            <a:r>
              <a:rPr lang="en-GB" dirty="0" smtClean="0"/>
              <a:t>t </a:t>
            </a:r>
            <a:r>
              <a:rPr lang="pt-BR" dirty="0" smtClean="0"/>
              <a:t>S R Q </a:t>
            </a:r>
            <a:r>
              <a:rPr lang="pt-BR" dirty="0"/>
              <a:t>P </a:t>
            </a:r>
            <a:r>
              <a:rPr lang="pt-BR" dirty="0" smtClean="0"/>
              <a:t>O </a:t>
            </a:r>
            <a:r>
              <a:rPr lang="pt-BR" dirty="0"/>
              <a:t>N M L K </a:t>
            </a:r>
            <a:r>
              <a:rPr lang="pt-BR" dirty="0" smtClean="0"/>
              <a:t>J I H G F E D C B A</a:t>
            </a:r>
          </a:p>
          <a:p>
            <a:endParaRPr lang="pt-BR" dirty="0"/>
          </a:p>
          <a:p>
            <a:r>
              <a:rPr lang="pt-BR" dirty="0" smtClean="0"/>
              <a:t>Soul=A B C D E F G H I J K L M N O P Q R S </a:t>
            </a:r>
            <a:r>
              <a:rPr lang="en-GB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79645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443214"/>
              </p:ext>
            </p:extLst>
          </p:nvPr>
        </p:nvGraphicFramePr>
        <p:xfrm>
          <a:off x="1331640" y="116632"/>
          <a:ext cx="6840760" cy="700190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576064"/>
                <a:gridCol w="1152128"/>
                <a:gridCol w="2440888"/>
                <a:gridCol w="2671680"/>
              </a:tblGrid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 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  <a:latin typeface="Times New Roman"/>
                          <a:ea typeface="Times New Roman"/>
                        </a:rPr>
                        <a:t>X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OPEN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CLOSE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1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[A]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[ 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2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A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[B C D</a:t>
                      </a: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]    C D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[A]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3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B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[C D E F]  D E F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[B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4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C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[D E F G H] E F G H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[C </a:t>
                      </a: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5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D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[E F G H I J] F G H I J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[D C B </a:t>
                      </a: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6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E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[F G H I J K L] G H I J K L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[E D C B </a:t>
                      </a: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7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F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[G H I J K L M] H I J K L M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8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G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[H I J K L M N]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9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H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[I J K L M N O P]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10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I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[J K L M N O P Q]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11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J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[K L M N O P Q R]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/>
                          <a:ea typeface="SimSun"/>
                        </a:rPr>
                        <a:t>12</a:t>
                      </a:r>
                      <a:endParaRPr lang="en-GB" sz="105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K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[L M N O P Q R S]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[K 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80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13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L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[M N O P Q R S T]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[L K 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3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14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M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[N O P Q R S T]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[M L K 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3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15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N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[O P Q R S T]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[N M L K 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3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/>
                          <a:ea typeface="SimSun"/>
                        </a:rPr>
                        <a:t>16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O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[P Q R S T]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[O N M L K 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3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17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P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[Q </a:t>
                      </a: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R S T U</a:t>
                      </a: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[P O N M L K 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3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Q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[</a:t>
                      </a: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R S T U</a:t>
                      </a: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]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[Q P O N M L K J I H G F E D C B A]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3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R</a:t>
                      </a: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[</a:t>
                      </a:r>
                      <a:r>
                        <a:rPr lang="en-US" sz="1050" b="1" dirty="0" smtClean="0">
                          <a:effectLst/>
                          <a:latin typeface="Times New Roman"/>
                          <a:ea typeface="SimSun"/>
                        </a:rPr>
                        <a:t>S T U</a:t>
                      </a:r>
                      <a:r>
                        <a:rPr lang="en-GB" sz="1050" b="1" dirty="0" smtClean="0">
                          <a:effectLst/>
                          <a:latin typeface="Times New Roman"/>
                          <a:ea typeface="Times New Roman"/>
                        </a:rPr>
                        <a:t>]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050" b="1" dirty="0" smtClean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05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89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Depth-first search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 smtClean="0"/>
              <a:t>always </a:t>
            </a:r>
            <a:r>
              <a:rPr lang="en-GB" sz="2400" dirty="0"/>
              <a:t>expands </a:t>
            </a:r>
            <a:r>
              <a:rPr lang="en-GB" sz="2400" dirty="0" smtClean="0"/>
              <a:t>the </a:t>
            </a:r>
            <a:r>
              <a:rPr lang="en-GB" sz="2400" dirty="0"/>
              <a:t>deepest node in the current frontier of the search tree</a:t>
            </a:r>
            <a:r>
              <a:rPr lang="en-GB" sz="2400" dirty="0" smtClean="0"/>
              <a:t>.</a:t>
            </a:r>
          </a:p>
          <a:p>
            <a:pPr marL="114300" indent="0">
              <a:buNone/>
            </a:pPr>
            <a:r>
              <a:rPr lang="en-GB" sz="2400" dirty="0"/>
              <a:t>whereas breadth-first-search uses a FIFO queue, depth-first search uses a LIFO queue.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610950"/>
              </p:ext>
            </p:extLst>
          </p:nvPr>
        </p:nvGraphicFramePr>
        <p:xfrm>
          <a:off x="1259632" y="3717032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1390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93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58200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06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depth first </a:t>
            </a:r>
            <a:r>
              <a:rPr lang="en-GB" sz="4000" dirty="0" smtClean="0"/>
              <a:t> search algorithm</a:t>
            </a:r>
            <a:r>
              <a:rPr lang="en-GB" sz="4000" dirty="0"/>
              <a:t/>
            </a:r>
            <a:br>
              <a:rPr lang="en-GB" sz="4000" dirty="0"/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382000" cy="5181600"/>
          </a:xfrm>
        </p:spPr>
        <p:txBody>
          <a:bodyPr/>
          <a:lstStyle/>
          <a:p>
            <a:pPr marL="114300" indent="0">
              <a:buNone/>
            </a:pPr>
            <a:r>
              <a:rPr lang="en-GB" dirty="0" smtClean="0"/>
              <a:t>Procedure </a:t>
            </a:r>
            <a:r>
              <a:rPr lang="en-GB" dirty="0" err="1"/>
              <a:t>depth_first_search</a:t>
            </a:r>
            <a:r>
              <a:rPr lang="en-GB" dirty="0"/>
              <a:t>:</a:t>
            </a:r>
          </a:p>
          <a:p>
            <a:pPr marL="114300" indent="0">
              <a:buNone/>
            </a:pPr>
            <a:r>
              <a:rPr lang="en-GB" dirty="0"/>
              <a:t>Initialize OPEN =[start], close= [ ];</a:t>
            </a:r>
          </a:p>
          <a:p>
            <a:pPr marL="114300" indent="0">
              <a:buNone/>
            </a:pPr>
            <a:r>
              <a:rPr lang="en-GB" dirty="0"/>
              <a:t>While OPEN  ≠ [ ] do</a:t>
            </a:r>
          </a:p>
          <a:p>
            <a:pPr marL="114300" indent="0">
              <a:buNone/>
            </a:pPr>
            <a:r>
              <a:rPr lang="en-GB" dirty="0"/>
              <a:t>Begin</a:t>
            </a:r>
          </a:p>
          <a:p>
            <a:pPr marL="114300" indent="0">
              <a:buNone/>
            </a:pPr>
            <a:r>
              <a:rPr lang="en-GB" dirty="0" smtClean="0"/>
              <a:t>       •</a:t>
            </a:r>
            <a:r>
              <a:rPr lang="en-GB" dirty="0"/>
              <a:t>	Remove the next state from the left of OPEN, call it X;</a:t>
            </a:r>
          </a:p>
          <a:p>
            <a:pPr marL="114300" indent="0">
              <a:buNone/>
            </a:pPr>
            <a:r>
              <a:rPr lang="en-GB" dirty="0" smtClean="0"/>
              <a:t>       •</a:t>
            </a:r>
            <a:r>
              <a:rPr lang="en-GB" dirty="0"/>
              <a:t>	If X is a goal, then quit;</a:t>
            </a:r>
          </a:p>
          <a:p>
            <a:pPr marL="114300" indent="0">
              <a:buNone/>
            </a:pPr>
            <a:r>
              <a:rPr lang="en-GB" dirty="0" smtClean="0"/>
              <a:t>       •</a:t>
            </a:r>
            <a:r>
              <a:rPr lang="en-GB" dirty="0"/>
              <a:t>	Generate all possible children of X already on either OPEN or CLOSED to prevent loops;</a:t>
            </a:r>
          </a:p>
          <a:p>
            <a:pPr marL="114300" indent="0">
              <a:buNone/>
            </a:pPr>
            <a:r>
              <a:rPr lang="en-GB" dirty="0" smtClean="0"/>
              <a:t>      •</a:t>
            </a:r>
            <a:r>
              <a:rPr lang="en-GB" dirty="0"/>
              <a:t>	Put the remaining children of X in order of discovering on the left of OPEN</a:t>
            </a:r>
            <a:r>
              <a:rPr lang="en-GB" dirty="0" smtClean="0"/>
              <a:t>;</a:t>
            </a:r>
            <a:endParaRPr lang="en-GB" dirty="0"/>
          </a:p>
          <a:p>
            <a:pPr marL="114300" indent="0">
              <a:buNone/>
            </a:pPr>
            <a:r>
              <a:rPr lang="en-GB" dirty="0"/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311231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"/>
            <a:ext cx="50292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771800" y="4725144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[P O H N G C M F T L S K B A]</a:t>
            </a:r>
          </a:p>
        </p:txBody>
      </p:sp>
    </p:spTree>
    <p:extLst>
      <p:ext uri="{BB962C8B-B14F-4D97-AF65-F5344CB8AC3E}">
        <p14:creationId xmlns:p14="http://schemas.microsoft.com/office/powerpoint/2010/main" val="396213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982692"/>
              </p:ext>
            </p:extLst>
          </p:nvPr>
        </p:nvGraphicFramePr>
        <p:xfrm>
          <a:off x="1403648" y="620688"/>
          <a:ext cx="5904656" cy="579452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879743"/>
                <a:gridCol w="879743"/>
                <a:gridCol w="1839088"/>
                <a:gridCol w="2306082"/>
              </a:tblGrid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/>
                          <a:ea typeface="SimSun"/>
                        </a:rPr>
                        <a:t> </a:t>
                      </a:r>
                      <a:endParaRPr lang="en-GB" sz="11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b="1" dirty="0" smtClean="0">
                          <a:effectLst/>
                          <a:latin typeface="Times New Roman"/>
                          <a:ea typeface="Times New Roman"/>
                        </a:rPr>
                        <a:t>x</a:t>
                      </a:r>
                      <a:endParaRPr lang="en-GB" sz="11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/>
                          <a:ea typeface="SimSun"/>
                        </a:rPr>
                        <a:t>OPEN</a:t>
                      </a:r>
                      <a:endParaRPr lang="en-GB" sz="11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/>
                          <a:ea typeface="SimSun"/>
                        </a:rPr>
                        <a:t>CLOSE</a:t>
                      </a:r>
                      <a:endParaRPr lang="en-GB" sz="11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1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[A]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[ ]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2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A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[B C D]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3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B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[E F C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4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E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[K L F C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[E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5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K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[S L F C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[K E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6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S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[L F C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7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L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[T F C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8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SimSun"/>
                        </a:rPr>
                        <a:t>T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[F C D]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[T 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9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F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[M C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[F T L S K B A]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10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M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[C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[M F T 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11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C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[G H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[C M F T 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12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G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[N H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[G C M F T 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13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N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[H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[N G C M F T 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14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H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[O P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[H N G C M F T 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15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O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[P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[O H N G C M F T L S K B A]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16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P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SimSun"/>
                        </a:rPr>
                        <a:t>[U D]</a:t>
                      </a: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[P O H N G C M F T L S K B A]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17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 smtClean="0">
                          <a:effectLst/>
                          <a:latin typeface="Times New Roman"/>
                          <a:ea typeface="Times New Roman"/>
                        </a:rPr>
                        <a:t>U</a:t>
                      </a: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1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9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20132</TotalTime>
  <Words>947</Words>
  <Application>Microsoft Office PowerPoint</Application>
  <PresentationFormat>On-screen Show (4:3)</PresentationFormat>
  <Paragraphs>189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Adjacency</vt:lpstr>
      <vt:lpstr>PowerPoint Presentation</vt:lpstr>
      <vt:lpstr>State Space</vt:lpstr>
      <vt:lpstr>PowerPoint Presentation</vt:lpstr>
      <vt:lpstr>PowerPoint Presentation</vt:lpstr>
      <vt:lpstr>Procedure Breadth_first_search: </vt:lpstr>
      <vt:lpstr>PowerPoint Presentation</vt:lpstr>
      <vt:lpstr>PowerPoint Presentation</vt:lpstr>
      <vt:lpstr>Depth-first search </vt:lpstr>
      <vt:lpstr>PowerPoint Presentation</vt:lpstr>
      <vt:lpstr>depth first  search algorithm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lec.Najwan Abed</dc:title>
  <dc:creator>najtena2003@outlook.com</dc:creator>
  <cp:lastModifiedBy>Maher</cp:lastModifiedBy>
  <cp:revision>19</cp:revision>
  <dcterms:created xsi:type="dcterms:W3CDTF">2020-03-18T20:15:12Z</dcterms:created>
  <dcterms:modified xsi:type="dcterms:W3CDTF">2021-12-18T20:07:16Z</dcterms:modified>
</cp:coreProperties>
</file>