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7CE3E-721A-491C-8E3C-91F446F7DD92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F74EA-CE7B-4007-AAA9-9D7D5B6BB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56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DFEFF-3E22-4D78-8715-7D96414B0A02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49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63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49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57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96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55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01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31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01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36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85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02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8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33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7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07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4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16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80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9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7A5E3-A66A-4203-9086-B0E3A174557D}" type="datetimeFigureOut">
              <a:rPr lang="en-GB" smtClean="0"/>
              <a:t>06/12/2021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D7710-40BF-498A-AE74-456A3163E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57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12/6/2021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77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</p:spPr>
        <p:txBody>
          <a:bodyPr/>
          <a:lstStyle/>
          <a:p>
            <a:r>
              <a:rPr lang="en-GB" dirty="0" smtClean="0"/>
              <a:t>Lecture five</a:t>
            </a:r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26" y="692696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63" y="13855"/>
            <a:ext cx="7620000" cy="685800"/>
          </a:xfrm>
        </p:spPr>
        <p:txBody>
          <a:bodyPr/>
          <a:lstStyle/>
          <a:p>
            <a:r>
              <a:rPr lang="en-GB" dirty="0"/>
              <a:t>Model-based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7924800" cy="5715000"/>
          </a:xfrm>
        </p:spPr>
        <p:txBody>
          <a:bodyPr/>
          <a:lstStyle/>
          <a:p>
            <a:pPr marL="114300" indent="0" algn="just">
              <a:buNone/>
            </a:pPr>
            <a:r>
              <a:rPr lang="en-GB" dirty="0"/>
              <a:t>Agents maintain internal state to track aspects of </a:t>
            </a:r>
            <a:r>
              <a:rPr lang="en-GB" dirty="0" smtClean="0"/>
              <a:t>the world </a:t>
            </a:r>
            <a:r>
              <a:rPr lang="en-GB" dirty="0"/>
              <a:t>that are not evident in the current state, </a:t>
            </a:r>
            <a:r>
              <a:rPr lang="en-GB" dirty="0" smtClean="0"/>
              <a:t>it is the </a:t>
            </a:r>
            <a:r>
              <a:rPr lang="en-GB" dirty="0"/>
              <a:t>most effective way to handle partial </a:t>
            </a:r>
            <a:r>
              <a:rPr lang="en-GB" dirty="0" smtClean="0"/>
              <a:t>observable.</a:t>
            </a:r>
            <a:endParaRPr lang="en-GB" dirty="0"/>
          </a:p>
          <a:p>
            <a:pPr marL="114300" indent="0" algn="just">
              <a:buNone/>
            </a:pPr>
            <a:r>
              <a:rPr lang="en-GB" dirty="0"/>
              <a:t>– Parts of the percept history kept to reflect some of </a:t>
            </a:r>
            <a:r>
              <a:rPr lang="en-GB" dirty="0" smtClean="0"/>
              <a:t>the unobserved aspects of the current state</a:t>
            </a:r>
          </a:p>
          <a:p>
            <a:pPr marL="114300" indent="0" algn="just">
              <a:buNone/>
            </a:pPr>
            <a:r>
              <a:rPr lang="en-GB" dirty="0" smtClean="0"/>
              <a:t>– </a:t>
            </a:r>
            <a:r>
              <a:rPr lang="en-GB" dirty="0"/>
              <a:t>Updating internal state information require knowledge about</a:t>
            </a:r>
          </a:p>
          <a:p>
            <a:pPr marL="114300" indent="0" algn="just">
              <a:buNone/>
            </a:pPr>
            <a:r>
              <a:rPr lang="en-GB" dirty="0"/>
              <a:t>• Which perceptual information is significant</a:t>
            </a:r>
          </a:p>
          <a:p>
            <a:pPr marL="114300" indent="0" algn="just">
              <a:buNone/>
            </a:pPr>
            <a:r>
              <a:rPr lang="en-GB" dirty="0"/>
              <a:t>• How the world evolves independently</a:t>
            </a:r>
          </a:p>
          <a:p>
            <a:pPr marL="114300" indent="0" algn="just">
              <a:buNone/>
            </a:pPr>
            <a:r>
              <a:rPr lang="en-GB" dirty="0"/>
              <a:t>• How the agent’s action affect the world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14800"/>
            <a:ext cx="8458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818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table agent with internal state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977213"/>
              </p:ext>
            </p:extLst>
          </p:nvPr>
        </p:nvGraphicFramePr>
        <p:xfrm>
          <a:off x="457200" y="2590800"/>
          <a:ext cx="762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if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Then 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Saw an object a head and turned right and its now clear a head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Go straight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Saw an object a head and turned right and object a head again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Halt 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See no objects a head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Go straight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See an object a head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Turn randomly 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00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 smtClean="0"/>
              <a:t>Example Reflex Agent with Internal State</a:t>
            </a:r>
            <a:endParaRPr lang="en-GB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5224463" cy="211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0" y="3238047"/>
            <a:ext cx="7543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2F2B20"/>
                </a:solidFill>
              </a:rPr>
              <a:t>Action: left, right, straight, open-door</a:t>
            </a:r>
          </a:p>
          <a:p>
            <a:r>
              <a:rPr lang="en-GB" sz="2400" dirty="0">
                <a:solidFill>
                  <a:srgbClr val="2F2B20"/>
                </a:solidFill>
              </a:rPr>
              <a:t>Rules:</a:t>
            </a:r>
          </a:p>
          <a:p>
            <a:r>
              <a:rPr lang="en-GB" sz="2400" dirty="0">
                <a:solidFill>
                  <a:srgbClr val="2F2B20"/>
                </a:solidFill>
              </a:rPr>
              <a:t>1-If open(left)&amp; open ( right) &amp; open (straight) then</a:t>
            </a:r>
          </a:p>
          <a:p>
            <a:r>
              <a:rPr lang="en-GB" sz="2400" dirty="0">
                <a:solidFill>
                  <a:srgbClr val="2F2B20"/>
                </a:solidFill>
              </a:rPr>
              <a:t>      choose randomly between right and left</a:t>
            </a:r>
          </a:p>
          <a:p>
            <a:r>
              <a:rPr lang="en-GB" sz="2400" dirty="0">
                <a:solidFill>
                  <a:srgbClr val="2F2B20"/>
                </a:solidFill>
              </a:rPr>
              <a:t>2-if wall(left) &amp; open(right) &amp; open(straight) then </a:t>
            </a:r>
          </a:p>
          <a:p>
            <a:r>
              <a:rPr lang="en-GB" sz="2400" dirty="0">
                <a:solidFill>
                  <a:srgbClr val="2F2B20"/>
                </a:solidFill>
              </a:rPr>
              <a:t>      straight</a:t>
            </a:r>
          </a:p>
          <a:p>
            <a:r>
              <a:rPr lang="en-GB" sz="2400" dirty="0">
                <a:solidFill>
                  <a:srgbClr val="2F2B20"/>
                </a:solidFill>
              </a:rPr>
              <a:t>3-if wall(right) &amp; open(left) &amp; open(straight) then </a:t>
            </a:r>
          </a:p>
          <a:p>
            <a:r>
              <a:rPr lang="en-GB" sz="2400" dirty="0">
                <a:solidFill>
                  <a:srgbClr val="2F2B20"/>
                </a:solidFill>
              </a:rPr>
              <a:t>      straight</a:t>
            </a:r>
          </a:p>
          <a:p>
            <a:r>
              <a:rPr lang="en-GB" sz="2400" dirty="0">
                <a:solidFill>
                  <a:srgbClr val="2F2B20"/>
                </a:solidFill>
              </a:rPr>
              <a:t>4-if wall(right) &amp; open(left) &amp; wall(straight) then </a:t>
            </a:r>
          </a:p>
          <a:p>
            <a:r>
              <a:rPr lang="en-GB" sz="2400" dirty="0">
                <a:solidFill>
                  <a:srgbClr val="2F2B20"/>
                </a:solidFill>
              </a:rPr>
              <a:t>      left</a:t>
            </a:r>
          </a:p>
          <a:p>
            <a:endParaRPr lang="en-GB" sz="2400" dirty="0">
              <a:solidFill>
                <a:srgbClr val="2F2B20"/>
              </a:solidFill>
            </a:endParaRPr>
          </a:p>
          <a:p>
            <a:endParaRPr lang="en-GB" sz="2400" dirty="0">
              <a:solidFill>
                <a:srgbClr val="2F2B2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GB" sz="2400" dirty="0">
              <a:solidFill>
                <a:srgbClr val="2F2B2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GB" sz="2400" dirty="0">
              <a:solidFill>
                <a:srgbClr val="2F2B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72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 smtClean="0"/>
              <a:t>5-if </a:t>
            </a:r>
            <a:r>
              <a:rPr lang="en-GB" dirty="0"/>
              <a:t>wall(left) &amp; open(right) &amp; </a:t>
            </a:r>
            <a:r>
              <a:rPr lang="en-GB" dirty="0" smtClean="0"/>
              <a:t>wall(straight</a:t>
            </a:r>
            <a:r>
              <a:rPr lang="en-GB" dirty="0"/>
              <a:t>) then </a:t>
            </a:r>
          </a:p>
          <a:p>
            <a:pPr marL="114300" indent="0">
              <a:buNone/>
            </a:pPr>
            <a:r>
              <a:rPr lang="en-GB" dirty="0"/>
              <a:t>      </a:t>
            </a:r>
            <a:r>
              <a:rPr lang="en-GB" dirty="0" smtClean="0"/>
              <a:t>right</a:t>
            </a:r>
          </a:p>
          <a:p>
            <a:pPr marL="114300" indent="0">
              <a:buNone/>
            </a:pPr>
            <a:r>
              <a:rPr lang="en-GB" dirty="0" smtClean="0"/>
              <a:t>6-if </a:t>
            </a:r>
            <a:r>
              <a:rPr lang="en-GB" dirty="0"/>
              <a:t>wall(left) &amp; </a:t>
            </a:r>
            <a:r>
              <a:rPr lang="en-GB" dirty="0" smtClean="0"/>
              <a:t>door(right</a:t>
            </a:r>
            <a:r>
              <a:rPr lang="en-GB" dirty="0"/>
              <a:t>) &amp; </a:t>
            </a:r>
            <a:r>
              <a:rPr lang="en-GB" dirty="0" smtClean="0"/>
              <a:t>wall(straight</a:t>
            </a:r>
            <a:r>
              <a:rPr lang="en-GB" dirty="0"/>
              <a:t>) then </a:t>
            </a:r>
          </a:p>
          <a:p>
            <a:pPr marL="114300" indent="0">
              <a:buNone/>
            </a:pPr>
            <a:r>
              <a:rPr lang="en-GB" dirty="0"/>
              <a:t>      </a:t>
            </a:r>
            <a:r>
              <a:rPr lang="en-GB" dirty="0" smtClean="0"/>
              <a:t>open-door</a:t>
            </a:r>
          </a:p>
          <a:p>
            <a:pPr marL="114300" indent="0">
              <a:buNone/>
            </a:pPr>
            <a:r>
              <a:rPr lang="en-GB" dirty="0" smtClean="0"/>
              <a:t>7-if wall(right) </a:t>
            </a:r>
            <a:r>
              <a:rPr lang="en-GB" dirty="0"/>
              <a:t>&amp; </a:t>
            </a:r>
            <a:r>
              <a:rPr lang="en-GB" dirty="0" smtClean="0"/>
              <a:t>wall(left) </a:t>
            </a:r>
            <a:r>
              <a:rPr lang="en-GB" dirty="0"/>
              <a:t>&amp; open(straight) then </a:t>
            </a:r>
          </a:p>
          <a:p>
            <a:pPr marL="114300" indent="0">
              <a:buNone/>
            </a:pPr>
            <a:r>
              <a:rPr lang="en-GB" dirty="0"/>
              <a:t>      </a:t>
            </a:r>
            <a:r>
              <a:rPr lang="en-GB" dirty="0" smtClean="0"/>
              <a:t>straight</a:t>
            </a:r>
          </a:p>
          <a:p>
            <a:pPr marL="114300" indent="0">
              <a:buNone/>
            </a:pPr>
            <a:r>
              <a:rPr lang="en-GB" dirty="0" smtClean="0"/>
              <a:t>8-(Default)move randomly</a:t>
            </a: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5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Reflex Agents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45" y="1676400"/>
            <a:ext cx="751255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9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620000" cy="685800"/>
          </a:xfrm>
        </p:spPr>
        <p:txBody>
          <a:bodyPr/>
          <a:lstStyle/>
          <a:p>
            <a:pPr algn="ctr"/>
            <a:r>
              <a:rPr lang="en-GB" dirty="0"/>
              <a:t>Goal-based Agents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8458200" cy="5867400"/>
          </a:xfrm>
        </p:spPr>
        <p:txBody>
          <a:bodyPr/>
          <a:lstStyle/>
          <a:p>
            <a:pPr marL="114300" indent="0" algn="just">
              <a:buNone/>
            </a:pPr>
            <a:r>
              <a:rPr lang="en-GB" dirty="0"/>
              <a:t>Knowing something about the current state of the environment is not always enough to </a:t>
            </a:r>
            <a:r>
              <a:rPr lang="en-GB" dirty="0" smtClean="0"/>
              <a:t>decide what </a:t>
            </a:r>
            <a:r>
              <a:rPr lang="en-GB" dirty="0"/>
              <a:t>to do.</a:t>
            </a:r>
          </a:p>
          <a:p>
            <a:pPr marL="114300" indent="0" algn="just">
              <a:buNone/>
            </a:pPr>
            <a:r>
              <a:rPr lang="en-GB" dirty="0" smtClean="0"/>
              <a:t>• </a:t>
            </a:r>
            <a:r>
              <a:rPr lang="en-GB" dirty="0"/>
              <a:t>The action-decision process involves some sort of </a:t>
            </a:r>
            <a:r>
              <a:rPr lang="en-GB" dirty="0" smtClean="0"/>
              <a:t>goal information </a:t>
            </a:r>
            <a:r>
              <a:rPr lang="en-GB" dirty="0"/>
              <a:t>describing situations that are desirable</a:t>
            </a:r>
          </a:p>
          <a:p>
            <a:pPr marL="114300" indent="0" algn="just">
              <a:buNone/>
            </a:pPr>
            <a:r>
              <a:rPr lang="en-GB" dirty="0"/>
              <a:t>– Combine the goal information with the possible actions </a:t>
            </a:r>
            <a:r>
              <a:rPr lang="en-GB" dirty="0" smtClean="0"/>
              <a:t>proposed by </a:t>
            </a:r>
            <a:r>
              <a:rPr lang="en-GB" dirty="0"/>
              <a:t>the internal state to choose actions to achieve the goal</a:t>
            </a:r>
          </a:p>
          <a:p>
            <a:pPr marL="114300" indent="0" algn="just">
              <a:buNone/>
            </a:pPr>
            <a:r>
              <a:rPr lang="en-GB" dirty="0"/>
              <a:t>– </a:t>
            </a:r>
            <a:r>
              <a:rPr lang="en-GB" dirty="0">
                <a:solidFill>
                  <a:srgbClr val="FF0000"/>
                </a:solidFill>
              </a:rPr>
              <a:t>Search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planning</a:t>
            </a:r>
            <a:r>
              <a:rPr lang="en-GB" dirty="0"/>
              <a:t> in AI are devoted to finding the right </a:t>
            </a:r>
            <a:r>
              <a:rPr lang="en-GB" dirty="0" smtClean="0"/>
              <a:t>action sequences </a:t>
            </a:r>
            <a:r>
              <a:rPr lang="en-GB" dirty="0"/>
              <a:t>to achieve </a:t>
            </a:r>
            <a:r>
              <a:rPr lang="en-GB" dirty="0" smtClean="0"/>
              <a:t>the goals </a:t>
            </a:r>
          </a:p>
          <a:p>
            <a:pPr marL="114300" indent="0" algn="just">
              <a:buNone/>
            </a:pPr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5" y="3581400"/>
            <a:ext cx="7772400" cy="326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487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Utility-based Agents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382000" cy="5257800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GB" dirty="0" smtClean="0"/>
              <a:t>• </a:t>
            </a:r>
            <a:r>
              <a:rPr lang="en-GB" sz="2400" dirty="0"/>
              <a:t>Goal provides a crude binary distinction between “happy</a:t>
            </a:r>
            <a:r>
              <a:rPr lang="en-GB" sz="2400" dirty="0" smtClean="0"/>
              <a:t>” and </a:t>
            </a:r>
            <a:r>
              <a:rPr lang="en-GB" sz="2400" dirty="0"/>
              <a:t>“unhappy</a:t>
            </a:r>
            <a:r>
              <a:rPr lang="en-GB" sz="2400"/>
              <a:t>” </a:t>
            </a:r>
            <a:r>
              <a:rPr lang="en-GB" sz="2400" smtClean="0"/>
              <a:t>states</a:t>
            </a:r>
            <a:endParaRPr lang="en-GB" sz="2400" dirty="0"/>
          </a:p>
          <a:p>
            <a:pPr marL="114300" indent="0" algn="just">
              <a:buNone/>
            </a:pPr>
            <a:r>
              <a:rPr lang="en-GB" sz="2400" dirty="0"/>
              <a:t>• </a:t>
            </a:r>
            <a:r>
              <a:rPr lang="en-GB" sz="2400" b="1" dirty="0">
                <a:solidFill>
                  <a:srgbClr val="FF0000"/>
                </a:solidFill>
              </a:rPr>
              <a:t>Utility</a:t>
            </a:r>
            <a:r>
              <a:rPr lang="en-GB" sz="2400" dirty="0"/>
              <a:t>: maximize the agents expected </a:t>
            </a:r>
            <a:r>
              <a:rPr lang="en-GB" sz="2400" dirty="0" smtClean="0"/>
              <a:t>happiness </a:t>
            </a:r>
          </a:p>
          <a:p>
            <a:pPr marL="114300" indent="0" algn="just">
              <a:buNone/>
            </a:pPr>
            <a:r>
              <a:rPr lang="en-GB" sz="2400" dirty="0"/>
              <a:t>An agent’s</a:t>
            </a:r>
            <a:r>
              <a:rPr lang="en-GB" sz="2400" b="1" dirty="0">
                <a:solidFill>
                  <a:srgbClr val="FF0000"/>
                </a:solidFill>
              </a:rPr>
              <a:t> utility </a:t>
            </a:r>
            <a:r>
              <a:rPr lang="en-GB" sz="2400" dirty="0">
                <a:solidFill>
                  <a:srgbClr val="FF0000"/>
                </a:solidFill>
              </a:rPr>
              <a:t>function </a:t>
            </a:r>
            <a:r>
              <a:rPr lang="en-GB" sz="2400" dirty="0"/>
              <a:t>is essentially an </a:t>
            </a:r>
            <a:r>
              <a:rPr lang="en-GB" sz="2400" dirty="0" smtClean="0"/>
              <a:t>internalization of </a:t>
            </a:r>
            <a:r>
              <a:rPr lang="en-GB" sz="2400" dirty="0"/>
              <a:t>the performance measure.</a:t>
            </a:r>
          </a:p>
          <a:p>
            <a:pPr marL="114300" indent="0" algn="just">
              <a:buNone/>
            </a:pPr>
            <a:r>
              <a:rPr lang="en-GB" sz="2400" dirty="0"/>
              <a:t>– E.g., quicker, safer, more reliable for the taxis-driver agent</a:t>
            </a:r>
          </a:p>
          <a:p>
            <a:pPr marL="114300" indent="0" algn="just">
              <a:buNone/>
            </a:pPr>
            <a:r>
              <a:rPr lang="en-GB" sz="2400" dirty="0"/>
              <a:t>• Utility function</a:t>
            </a:r>
          </a:p>
          <a:p>
            <a:pPr marL="114300" indent="0" algn="just">
              <a:buNone/>
            </a:pPr>
            <a:r>
              <a:rPr lang="en-GB" sz="2400" dirty="0" smtClean="0"/>
              <a:t>	– </a:t>
            </a:r>
            <a:r>
              <a:rPr lang="en-GB" sz="2400" dirty="0"/>
              <a:t>Map a state (or a sequence of states) onto a real number </a:t>
            </a:r>
            <a:r>
              <a:rPr lang="en-GB" sz="2400" dirty="0" smtClean="0"/>
              <a:t>   	to describe </a:t>
            </a:r>
            <a:r>
              <a:rPr lang="en-GB" sz="2400" dirty="0"/>
              <a:t>to degree of happiness</a:t>
            </a:r>
          </a:p>
          <a:p>
            <a:pPr marL="114300" indent="0" algn="just">
              <a:buNone/>
            </a:pPr>
            <a:r>
              <a:rPr lang="en-GB" sz="2400" dirty="0" smtClean="0"/>
              <a:t>	– </a:t>
            </a:r>
            <a:r>
              <a:rPr lang="en-GB" sz="2400" dirty="0"/>
              <a:t>Explicit utility function provides the appropriate </a:t>
            </a:r>
            <a:r>
              <a:rPr lang="en-GB" sz="2400" dirty="0" smtClean="0"/>
              <a:t>trade off 	or uncertainties </a:t>
            </a:r>
            <a:r>
              <a:rPr lang="en-GB" sz="2400" dirty="0"/>
              <a:t>to be reached of several goals</a:t>
            </a:r>
          </a:p>
          <a:p>
            <a:pPr marL="114300" indent="0" algn="just">
              <a:buNone/>
            </a:pPr>
            <a:r>
              <a:rPr lang="en-GB" sz="2400" dirty="0" smtClean="0">
                <a:solidFill>
                  <a:srgbClr val="0000FF"/>
                </a:solidFill>
                <a:latin typeface="ComicSansMS"/>
              </a:rPr>
              <a:t>      </a:t>
            </a:r>
            <a:r>
              <a:rPr lang="en-GB" sz="2000" dirty="0" smtClean="0">
                <a:solidFill>
                  <a:srgbClr val="0000FF"/>
                </a:solidFill>
                <a:latin typeface="ComicSansMS"/>
              </a:rPr>
              <a:t>Make</a:t>
            </a:r>
            <a:r>
              <a:rPr lang="en-GB" sz="2400" dirty="0" smtClean="0">
                <a:solidFill>
                  <a:srgbClr val="0000FF"/>
                </a:solidFill>
                <a:latin typeface="ComicSansMS"/>
              </a:rPr>
              <a:t>     	      </a:t>
            </a:r>
            <a:r>
              <a:rPr lang="en-GB" sz="2400" dirty="0" smtClean="0"/>
              <a:t>• </a:t>
            </a:r>
            <a:r>
              <a:rPr lang="en-GB" sz="2400" dirty="0"/>
              <a:t>Conflict goals (speed/safety)</a:t>
            </a:r>
          </a:p>
          <a:p>
            <a:pPr marL="114300" indent="0" algn="just">
              <a:buNone/>
            </a:pPr>
            <a:r>
              <a:rPr lang="en-GB" sz="2000" dirty="0" smtClean="0">
                <a:solidFill>
                  <a:srgbClr val="0000FF"/>
                </a:solidFill>
                <a:latin typeface="ComicSansMS"/>
              </a:rPr>
              <a:t>rational decisions</a:t>
            </a:r>
            <a:r>
              <a:rPr lang="en-GB" sz="2000" dirty="0" smtClean="0"/>
              <a:t>     </a:t>
            </a:r>
            <a:r>
              <a:rPr lang="en-GB" sz="2400" dirty="0" smtClean="0"/>
              <a:t>• </a:t>
            </a:r>
            <a:r>
              <a:rPr lang="en-GB" sz="2400" dirty="0"/>
              <a:t>Likelihood of success among the goals</a:t>
            </a:r>
          </a:p>
        </p:txBody>
      </p:sp>
      <p:sp>
        <p:nvSpPr>
          <p:cNvPr id="4" name="Left Brace 3"/>
          <p:cNvSpPr/>
          <p:nvPr/>
        </p:nvSpPr>
        <p:spPr>
          <a:xfrm>
            <a:off x="748145" y="3810000"/>
            <a:ext cx="457200" cy="1385668"/>
          </a:xfrm>
          <a:prstGeom prst="leftBrac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F2B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313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Utility-based Agents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95" y="1874484"/>
            <a:ext cx="6853810" cy="4252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043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>
                <a:latin typeface="ArialMT"/>
              </a:rPr>
              <a:t>Learning Agents</a:t>
            </a:r>
            <a:br>
              <a:rPr lang="en-GB" sz="4800" dirty="0">
                <a:latin typeface="ArialMT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382000" cy="62484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Learning allows the agent to operate in initially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unknown environments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and to become more competent than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its initial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knowledge might allow</a:t>
            </a:r>
          </a:p>
          <a:p>
            <a:pPr marL="114300" indent="0" algn="just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Learning algorithms</a:t>
            </a:r>
          </a:p>
          <a:p>
            <a:pPr marL="114300" indent="0" algn="just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Create state-of-the-art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agent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A learning agent can be divided into four conceptual components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114300" indent="0" algn="just">
              <a:buNone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Learning element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making improvements</a:t>
            </a:r>
          </a:p>
          <a:p>
            <a:pPr marL="114300" indent="0" algn="just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Performance element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selecting external action</a:t>
            </a:r>
          </a:p>
          <a:p>
            <a:pPr marL="114300" indent="0" algn="just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Critic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determining how the performance element should be</a:t>
            </a:r>
          </a:p>
          <a:p>
            <a:pPr marL="114300" indent="0" algn="just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modified according to the learning standard</a:t>
            </a:r>
          </a:p>
          <a:p>
            <a:pPr marL="114300" indent="0" algn="just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• Supervised/Unsupervised</a:t>
            </a:r>
          </a:p>
          <a:p>
            <a:pPr marL="114300" indent="0" algn="just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Problem generator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It is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responsible for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suggesting actions that will lead to new and informative experiences.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075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15962"/>
          </a:xfrm>
        </p:spPr>
        <p:txBody>
          <a:bodyPr/>
          <a:lstStyle/>
          <a:p>
            <a:r>
              <a:rPr lang="en-GB" dirty="0"/>
              <a:t>Learning Agents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7239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81400" y="1325610"/>
            <a:ext cx="1829975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10" dirty="0">
                <a:solidFill>
                  <a:srgbClr val="FF0000"/>
                </a:solidFill>
              </a:rPr>
              <a:t>Reward/Penalty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3200400"/>
            <a:ext cx="2514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dirty="0">
                <a:solidFill>
                  <a:srgbClr val="FF0000"/>
                </a:solidFill>
              </a:rPr>
              <a:t>take in percepts</a:t>
            </a:r>
          </a:p>
          <a:p>
            <a:r>
              <a:rPr lang="en-GB" sz="1900" dirty="0">
                <a:solidFill>
                  <a:srgbClr val="FF0000"/>
                </a:solidFill>
              </a:rPr>
              <a:t>decide on actions</a:t>
            </a:r>
          </a:p>
        </p:txBody>
      </p:sp>
    </p:spTree>
    <p:extLst>
      <p:ext uri="{BB962C8B-B14F-4D97-AF65-F5344CB8AC3E}">
        <p14:creationId xmlns:p14="http://schemas.microsoft.com/office/powerpoint/2010/main" val="374879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15962"/>
          </a:xfrm>
        </p:spPr>
        <p:txBody>
          <a:bodyPr/>
          <a:lstStyle/>
          <a:p>
            <a:r>
              <a:rPr lang="en-GB" dirty="0"/>
              <a:t>Learning </a:t>
            </a:r>
            <a:r>
              <a:rPr lang="en-GB" dirty="0" smtClean="0"/>
              <a:t>Agents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305800" cy="57912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400" dirty="0" smtClean="0"/>
              <a:t>• </a:t>
            </a:r>
            <a:r>
              <a:rPr lang="en-GB" sz="2400" dirty="0"/>
              <a:t>For example, the taxis-driver agent makes a quick </a:t>
            </a:r>
            <a:r>
              <a:rPr lang="en-GB" sz="2400" dirty="0" smtClean="0"/>
              <a:t>left turn </a:t>
            </a:r>
            <a:r>
              <a:rPr lang="en-GB" sz="2400" dirty="0"/>
              <a:t>across three lines if traffic</a:t>
            </a:r>
          </a:p>
          <a:p>
            <a:pPr marL="114300" indent="0" algn="just">
              <a:buNone/>
            </a:pPr>
            <a:r>
              <a:rPr lang="en-GB" sz="2400" dirty="0" smtClean="0"/>
              <a:t>   – </a:t>
            </a:r>
            <a:r>
              <a:rPr lang="en-GB" sz="2400" dirty="0"/>
              <a:t>The critic observes the shocking language from other drivers</a:t>
            </a:r>
          </a:p>
          <a:p>
            <a:pPr marL="114300" indent="0" algn="just">
              <a:buNone/>
            </a:pPr>
            <a:r>
              <a:rPr lang="en-GB" sz="2400" dirty="0" smtClean="0"/>
              <a:t>   – </a:t>
            </a:r>
            <a:r>
              <a:rPr lang="en-GB" sz="2400" dirty="0"/>
              <a:t>And the learning element is able to formulate a rule saying </a:t>
            </a:r>
            <a:r>
              <a:rPr lang="en-GB" sz="2400" dirty="0" smtClean="0"/>
              <a:t>                                                  	this was </a:t>
            </a:r>
            <a:r>
              <a:rPr lang="en-GB" sz="2400" dirty="0"/>
              <a:t>a bad action</a:t>
            </a:r>
          </a:p>
          <a:p>
            <a:pPr marL="114300" indent="0" algn="just">
              <a:buNone/>
            </a:pPr>
            <a:r>
              <a:rPr lang="en-GB" sz="2400" dirty="0" smtClean="0"/>
              <a:t>   – </a:t>
            </a:r>
            <a:r>
              <a:rPr lang="en-GB" sz="2400" dirty="0"/>
              <a:t>Then the performance element is modified by install the new </a:t>
            </a:r>
            <a:r>
              <a:rPr lang="en-GB" sz="2400" dirty="0" smtClean="0"/>
              <a:t>	rule</a:t>
            </a:r>
            <a:endParaRPr lang="en-GB" sz="2400" dirty="0"/>
          </a:p>
          <a:p>
            <a:pPr marL="114300" indent="0" algn="just">
              <a:buNone/>
            </a:pPr>
            <a:r>
              <a:rPr lang="en-GB" sz="2400" dirty="0"/>
              <a:t>• Besides, the problem generator might identify </a:t>
            </a:r>
            <a:r>
              <a:rPr lang="en-GB" sz="2400" dirty="0" smtClean="0"/>
              <a:t>certain areas </a:t>
            </a:r>
            <a:r>
              <a:rPr lang="en-GB" sz="2400" dirty="0"/>
              <a:t>if </a:t>
            </a:r>
            <a:r>
              <a:rPr lang="en-GB" sz="2400" dirty="0" smtClean="0"/>
              <a:t>behaviour </a:t>
            </a:r>
            <a:r>
              <a:rPr lang="en-GB" sz="2400" dirty="0"/>
              <a:t>in need of improvement and </a:t>
            </a:r>
            <a:r>
              <a:rPr lang="en-GB" sz="2400" dirty="0" smtClean="0"/>
              <a:t>suggest experiments</a:t>
            </a:r>
            <a:endParaRPr lang="en-GB" sz="2400" dirty="0"/>
          </a:p>
          <a:p>
            <a:pPr marL="114300" indent="0" algn="just">
              <a:buNone/>
            </a:pPr>
            <a:r>
              <a:rPr lang="en-GB" sz="2400" dirty="0" smtClean="0"/>
              <a:t>   – </a:t>
            </a:r>
            <a:r>
              <a:rPr lang="en-GB" sz="2400" dirty="0"/>
              <a:t>Such as trying out the brakes on different road surface </a:t>
            </a:r>
            <a:r>
              <a:rPr lang="en-GB" sz="2400" dirty="0" smtClean="0"/>
              <a:t>under 	different </a:t>
            </a:r>
            <a:r>
              <a:rPr lang="en-GB" sz="2400" dirty="0"/>
              <a:t>conditions</a:t>
            </a:r>
          </a:p>
        </p:txBody>
      </p:sp>
    </p:spTree>
    <p:extLst>
      <p:ext uri="{BB962C8B-B14F-4D97-AF65-F5344CB8AC3E}">
        <p14:creationId xmlns:p14="http://schemas.microsoft.com/office/powerpoint/2010/main" val="7913456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526</Words>
  <Application>Microsoft Office PowerPoint</Application>
  <PresentationFormat>On-screen Show (4:3)</PresentationFormat>
  <Paragraphs>80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Adjacency</vt:lpstr>
      <vt:lpstr>PowerPoint Presentation</vt:lpstr>
      <vt:lpstr>Model-based Reflex Agents</vt:lpstr>
      <vt:lpstr>Example table agent with internal state</vt:lpstr>
      <vt:lpstr>Example Reflex Agent with Internal State</vt:lpstr>
      <vt:lpstr>PowerPoint Presentation</vt:lpstr>
      <vt:lpstr>Model-based Reflex Agents</vt:lpstr>
      <vt:lpstr>Goal-based Agents </vt:lpstr>
      <vt:lpstr>Utility-based Agents </vt:lpstr>
      <vt:lpstr>Utility-based Agents</vt:lpstr>
      <vt:lpstr>Learning Agents </vt:lpstr>
      <vt:lpstr>Learning Agents</vt:lpstr>
      <vt:lpstr>Learning Agents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lec.Najwan Abed</dc:title>
  <dc:creator>najtena2003@outlook.com</dc:creator>
  <cp:lastModifiedBy>Dr-Sawsan Kamal</cp:lastModifiedBy>
  <cp:revision>2</cp:revision>
  <dcterms:created xsi:type="dcterms:W3CDTF">2020-03-18T20:10:41Z</dcterms:created>
  <dcterms:modified xsi:type="dcterms:W3CDTF">2021-12-06T07:37:36Z</dcterms:modified>
</cp:coreProperties>
</file>