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sldIdLst>
    <p:sldId id="256" r:id="rId3"/>
    <p:sldId id="259" r:id="rId4"/>
    <p:sldId id="261" r:id="rId5"/>
    <p:sldId id="262" r:id="rId6"/>
    <p:sldId id="260" r:id="rId7"/>
    <p:sldId id="264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7" autoAdjust="0"/>
    <p:restoredTop sz="94660"/>
  </p:normalViewPr>
  <p:slideViewPr>
    <p:cSldViewPr>
      <p:cViewPr>
        <p:scale>
          <a:sx n="76" d="100"/>
          <a:sy n="76" d="100"/>
        </p:scale>
        <p:origin x="-1170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D19A60-419D-48A9-8825-96E3D7117874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F2587-B772-451A-AC01-518ECE3F0B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3628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543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9245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9428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8165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566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1474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7008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114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650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7587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0909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22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444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9455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87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13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642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7972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681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4319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686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272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73F9C-D0B7-4090-8E7D-6CDA7588A0E1}" type="datetimeFigureOut">
              <a:rPr lang="en-GB" smtClean="0"/>
              <a:t>08/01/2022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FF076-7E60-4B1F-B7E5-DB3CF75EF9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650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>
              <a:solidFill>
                <a:srgbClr val="DFDCB7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DFDCB7"/>
                </a:solidFill>
              </a:rPr>
              <a:pPr/>
              <a:t>1/8/2022</a:t>
            </a:fld>
            <a:endParaRPr lang="en-US">
              <a:solidFill>
                <a:srgbClr val="DFDC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63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345704"/>
          </a:xfrm>
        </p:spPr>
        <p:txBody>
          <a:bodyPr/>
          <a:lstStyle/>
          <a:p>
            <a:r>
              <a:rPr lang="en-GB" dirty="0" smtClean="0"/>
              <a:t>Lecture nine</a:t>
            </a:r>
            <a:endParaRPr lang="en-GB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626" y="692696"/>
            <a:ext cx="7010399" cy="174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689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60648"/>
            <a:ext cx="8280920" cy="1143000"/>
          </a:xfrm>
        </p:spPr>
        <p:txBody>
          <a:bodyPr/>
          <a:lstStyle/>
          <a:p>
            <a:r>
              <a:rPr lang="en-GB" sz="4000" b="1" dirty="0"/>
              <a:t>Best First </a:t>
            </a:r>
            <a:r>
              <a:rPr lang="en-GB" sz="4000" b="1" dirty="0" smtClean="0"/>
              <a:t>Search(</a:t>
            </a:r>
            <a:r>
              <a:rPr lang="en-GB" sz="4000" b="1" dirty="0"/>
              <a:t>Informed search </a:t>
            </a:r>
            <a:r>
              <a:rPr lang="en-GB" sz="4000" b="1" dirty="0" smtClean="0"/>
              <a:t>):</a:t>
            </a:r>
            <a:r>
              <a:rPr lang="en-GB" sz="4000" b="1" dirty="0"/>
              <a:t/>
            </a:r>
            <a:br>
              <a:rPr lang="en-GB" sz="4000" b="1" dirty="0"/>
            </a:br>
            <a:endParaRPr lang="en-GB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 algn="just">
              <a:buNone/>
            </a:pPr>
            <a:r>
              <a:rPr lang="en-GB" sz="2800" dirty="0" smtClean="0"/>
              <a:t>In </a:t>
            </a:r>
            <a:r>
              <a:rPr lang="en-GB" sz="2800" dirty="0"/>
              <a:t>general, heuristic search requires more informed algorithms, this is provided by </a:t>
            </a:r>
            <a:r>
              <a:rPr lang="en-GB" sz="2800" dirty="0" smtClean="0"/>
              <a:t>best first </a:t>
            </a:r>
            <a:r>
              <a:rPr lang="en-GB" sz="2800" dirty="0"/>
              <a:t>search. </a:t>
            </a:r>
            <a:r>
              <a:rPr lang="en-GB" sz="2800" dirty="0" smtClean="0"/>
              <a:t>Best first </a:t>
            </a:r>
            <a:r>
              <a:rPr lang="en-GB" sz="2800" dirty="0"/>
              <a:t>search is away of combining the advantage of both </a:t>
            </a:r>
            <a:r>
              <a:rPr lang="en-GB" sz="2800" dirty="0" smtClean="0"/>
              <a:t>depth first </a:t>
            </a:r>
            <a:r>
              <a:rPr lang="en-GB" sz="2800" dirty="0"/>
              <a:t>and </a:t>
            </a:r>
            <a:r>
              <a:rPr lang="en-GB" sz="2800" dirty="0" smtClean="0"/>
              <a:t>breadth first </a:t>
            </a:r>
            <a:r>
              <a:rPr lang="en-GB" sz="2800" dirty="0"/>
              <a:t>search into a single method (breadth + evaluation function). </a:t>
            </a:r>
            <a:endParaRPr lang="en-GB" sz="2800" dirty="0" smtClean="0"/>
          </a:p>
          <a:p>
            <a:pPr marL="114300" indent="0" algn="just">
              <a:buNone/>
            </a:pPr>
            <a:r>
              <a:rPr lang="en-GB" sz="2800" dirty="0"/>
              <a:t>Informed search methods are more efficient, low in cost and high in performance as compared to the uninformed search methods. </a:t>
            </a:r>
          </a:p>
        </p:txBody>
      </p:sp>
    </p:spTree>
    <p:extLst>
      <p:ext uri="{BB962C8B-B14F-4D97-AF65-F5344CB8AC3E}">
        <p14:creationId xmlns:p14="http://schemas.microsoft.com/office/powerpoint/2010/main" val="2211507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7620000" cy="1143000"/>
          </a:xfrm>
        </p:spPr>
        <p:txBody>
          <a:bodyPr/>
          <a:lstStyle/>
          <a:p>
            <a:r>
              <a:rPr lang="en-US" sz="3200" b="1" dirty="0" smtClean="0"/>
              <a:t>Algorithm BFS</a:t>
            </a:r>
            <a:r>
              <a:rPr lang="en-GB" sz="3200" dirty="0"/>
              <a:t/>
            </a:r>
            <a:br>
              <a:rPr lang="en-GB" sz="3200" dirty="0"/>
            </a:b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7620000" cy="513204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US" sz="2400" dirty="0" smtClean="0"/>
              <a:t>1- </a:t>
            </a:r>
            <a:r>
              <a:rPr lang="en-US" sz="2400" dirty="0"/>
              <a:t>Start with open containing just the initial state.</a:t>
            </a:r>
            <a:endParaRPr lang="en-GB" sz="2400" dirty="0"/>
          </a:p>
          <a:p>
            <a:pPr marL="114300" indent="0">
              <a:buNone/>
            </a:pPr>
            <a:r>
              <a:rPr lang="en-US" sz="2400" dirty="0"/>
              <a:t>2- </a:t>
            </a:r>
            <a:r>
              <a:rPr lang="en-US" sz="2400" dirty="0" smtClean="0"/>
              <a:t>if the list is empty ,stop and return failure.</a:t>
            </a:r>
          </a:p>
          <a:p>
            <a:pPr marL="114300" indent="0">
              <a:buNone/>
            </a:pPr>
            <a:r>
              <a:rPr lang="en-US" sz="2400" dirty="0" smtClean="0"/>
              <a:t>3-remove the node </a:t>
            </a:r>
            <a:r>
              <a:rPr lang="en-US" sz="2400" b="1" dirty="0" smtClean="0">
                <a:solidFill>
                  <a:srgbClr val="FF0000"/>
                </a:solidFill>
              </a:rPr>
              <a:t>n</a:t>
            </a:r>
            <a:r>
              <a:rPr lang="en-US" sz="2400" dirty="0" smtClean="0"/>
              <a:t> from </a:t>
            </a:r>
            <a:r>
              <a:rPr lang="en-US" sz="2400" b="1" dirty="0" smtClean="0"/>
              <a:t>open</a:t>
            </a:r>
            <a:r>
              <a:rPr lang="en-US" sz="2400" dirty="0" smtClean="0"/>
              <a:t> which has the lowest value of h(n),place it in the </a:t>
            </a:r>
            <a:r>
              <a:rPr lang="en-US" sz="2400" b="1" dirty="0" smtClean="0"/>
              <a:t>close.</a:t>
            </a:r>
          </a:p>
          <a:p>
            <a:pPr marL="114300" indent="0">
              <a:buNone/>
            </a:pPr>
            <a:r>
              <a:rPr lang="en-US" sz="2400" dirty="0" smtClean="0"/>
              <a:t>4- expand the node n and generate the children of n.</a:t>
            </a:r>
          </a:p>
          <a:p>
            <a:pPr marL="114300" indent="0">
              <a:buNone/>
            </a:pPr>
            <a:r>
              <a:rPr lang="en-US" sz="2400" dirty="0" smtClean="0"/>
              <a:t>5-check each child of node n and find whether any node is a goal node or not then return success and terminate the search.</a:t>
            </a:r>
          </a:p>
          <a:p>
            <a:pPr marL="114300" indent="0">
              <a:buNone/>
            </a:pPr>
            <a:r>
              <a:rPr lang="en-US" sz="2400" dirty="0" smtClean="0"/>
              <a:t>6- for each child node algorithm checks for evaluation function f(n) and then check if the node has been in either </a:t>
            </a:r>
            <a:r>
              <a:rPr lang="en-US" sz="2400" b="1" dirty="0" smtClean="0"/>
              <a:t>open or close </a:t>
            </a:r>
            <a:r>
              <a:rPr lang="en-US" sz="2400" dirty="0" smtClean="0"/>
              <a:t> if the node has not been in both list add it o open list.</a:t>
            </a:r>
          </a:p>
          <a:p>
            <a:pPr marL="114300" indent="0">
              <a:buNone/>
            </a:pPr>
            <a:r>
              <a:rPr lang="en-US" sz="2400" dirty="0" smtClean="0"/>
              <a:t>7-return to step 2.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317422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0648"/>
            <a:ext cx="7620000" cy="6140152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GB" sz="2800" b="1" dirty="0"/>
              <a:t>Advantages</a:t>
            </a:r>
            <a:r>
              <a:rPr lang="en-GB" sz="2800" dirty="0"/>
              <a:t>:</a:t>
            </a:r>
            <a:br>
              <a:rPr lang="en-GB" sz="2800" dirty="0"/>
            </a:br>
            <a:r>
              <a:rPr lang="en-GB" sz="2800" dirty="0"/>
              <a:t>1. Can switch between BFS and DFS, thus gaining the advantages of both.</a:t>
            </a:r>
            <a:br>
              <a:rPr lang="en-GB" sz="2800" dirty="0"/>
            </a:br>
            <a:r>
              <a:rPr lang="en-GB" sz="2800" dirty="0"/>
              <a:t>2. More efficient when compared to </a:t>
            </a:r>
            <a:r>
              <a:rPr lang="en-GB" sz="2800" dirty="0" smtClean="0"/>
              <a:t>DFS or </a:t>
            </a:r>
            <a:r>
              <a:rPr lang="en-GB" sz="2800" dirty="0"/>
              <a:t>BFS</a:t>
            </a:r>
            <a:r>
              <a:rPr lang="en-GB" sz="2800" dirty="0" smtClean="0"/>
              <a:t>.</a:t>
            </a:r>
          </a:p>
          <a:p>
            <a:pPr marL="114300" indent="0">
              <a:buNone/>
            </a:pPr>
            <a:r>
              <a:rPr lang="en-GB" sz="2800" b="1" dirty="0"/>
              <a:t>Disadvantages:</a:t>
            </a:r>
            <a:r>
              <a:rPr lang="en-GB" sz="2800" dirty="0"/>
              <a:t/>
            </a:r>
            <a:br>
              <a:rPr lang="en-GB" sz="2800" dirty="0"/>
            </a:br>
            <a:r>
              <a:rPr lang="en-GB" sz="2800" dirty="0"/>
              <a:t>1. Chances of getting stuck in a loop are higher</a:t>
            </a:r>
            <a:r>
              <a:rPr lang="en-GB" sz="2800" dirty="0" smtClean="0"/>
              <a:t>.</a:t>
            </a:r>
          </a:p>
          <a:p>
            <a:pPr marL="114300" indent="0">
              <a:buNone/>
            </a:pPr>
            <a:r>
              <a:rPr lang="en-GB" sz="2800" dirty="0" smtClean="0"/>
              <a:t>2. The algorithm is not optimal.</a:t>
            </a:r>
          </a:p>
          <a:p>
            <a:pPr marL="114300" indent="0">
              <a:buNone/>
            </a:pPr>
            <a:r>
              <a:rPr lang="en-GB" sz="2800" dirty="0" smtClean="0"/>
              <a:t>3. It can behave as an unguided DFS in the worst case scenario. 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166669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2000" y="685800"/>
            <a:ext cx="7162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2F2B20"/>
                </a:solidFill>
              </a:rPr>
              <a:t>Best first search algorithm (with no cost function)</a:t>
            </a:r>
          </a:p>
        </p:txBody>
      </p:sp>
      <p:pic>
        <p:nvPicPr>
          <p:cNvPr id="3" name="Content Placeholder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1772816"/>
            <a:ext cx="3240360" cy="382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2342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4052709"/>
              </p:ext>
            </p:extLst>
          </p:nvPr>
        </p:nvGraphicFramePr>
        <p:xfrm>
          <a:off x="2195736" y="1484784"/>
          <a:ext cx="43204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/>
                <a:gridCol w="28083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Node 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Heuristic function h(n)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40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B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32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C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25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35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19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F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17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H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10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225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590844"/>
              </p:ext>
            </p:extLst>
          </p:nvPr>
        </p:nvGraphicFramePr>
        <p:xfrm>
          <a:off x="1403648" y="188634"/>
          <a:ext cx="6624737" cy="207552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987029"/>
                <a:gridCol w="987029"/>
                <a:gridCol w="2063367"/>
                <a:gridCol w="2587312"/>
              </a:tblGrid>
              <a:tr h="34592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/>
                          <a:ea typeface="SimSun"/>
                        </a:rPr>
                        <a:t> </a:t>
                      </a:r>
                      <a:endParaRPr lang="en-GB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 smtClean="0">
                          <a:effectLst/>
                          <a:latin typeface="Times New Roman"/>
                          <a:ea typeface="Times New Roman"/>
                        </a:rPr>
                        <a:t>x</a:t>
                      </a:r>
                      <a:endParaRPr lang="en-GB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/>
                          <a:ea typeface="SimSun"/>
                        </a:rPr>
                        <a:t>OPEN</a:t>
                      </a:r>
                      <a:endParaRPr lang="en-GB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/>
                          <a:ea typeface="SimSun"/>
                        </a:rPr>
                        <a:t>CLOSE</a:t>
                      </a:r>
                      <a:endParaRPr lang="en-GB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92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SimSun"/>
                        </a:rPr>
                        <a:t>1</a:t>
                      </a:r>
                      <a:endParaRPr lang="en-GB" sz="14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GB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/>
                          <a:ea typeface="SimSun"/>
                        </a:rPr>
                        <a:t>[</a:t>
                      </a:r>
                      <a:r>
                        <a:rPr lang="en-US" sz="1400" b="1" dirty="0" smtClean="0">
                          <a:effectLst/>
                          <a:latin typeface="Times New Roman"/>
                          <a:ea typeface="SimSun"/>
                        </a:rPr>
                        <a:t>A40]</a:t>
                      </a:r>
                      <a:endParaRPr lang="en-GB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Times New Roman"/>
                          <a:ea typeface="SimSun"/>
                        </a:rPr>
                        <a:t>[ </a:t>
                      </a:r>
                      <a:r>
                        <a:rPr lang="en-US" sz="1400" b="1" dirty="0">
                          <a:effectLst/>
                          <a:latin typeface="Times New Roman"/>
                          <a:ea typeface="SimSun"/>
                        </a:rPr>
                        <a:t>]</a:t>
                      </a:r>
                      <a:endParaRPr lang="en-GB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92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SimSun"/>
                        </a:rPr>
                        <a:t>2</a:t>
                      </a:r>
                      <a:endParaRPr lang="en-GB" sz="14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 smtClean="0">
                          <a:effectLst/>
                          <a:latin typeface="Times New Roman"/>
                          <a:ea typeface="Times New Roman"/>
                        </a:rPr>
                        <a:t>A</a:t>
                      </a:r>
                      <a:endParaRPr lang="en-GB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Times New Roman"/>
                          <a:ea typeface="SimSun"/>
                        </a:rPr>
                        <a:t>[B32 ,C25,D35]</a:t>
                      </a:r>
                      <a:endParaRPr lang="en-GB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Times New Roman"/>
                          <a:ea typeface="SimSun"/>
                        </a:rPr>
                        <a:t>[A]</a:t>
                      </a:r>
                      <a:endParaRPr lang="en-GB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92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SimSun"/>
                        </a:rPr>
                        <a:t>3</a:t>
                      </a:r>
                      <a:endParaRPr lang="en-GB" sz="14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 smtClean="0">
                          <a:effectLst/>
                          <a:latin typeface="Times New Roman"/>
                          <a:ea typeface="Times New Roman"/>
                        </a:rPr>
                        <a:t>C</a:t>
                      </a:r>
                      <a:endParaRPr lang="en-GB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Times New Roman"/>
                          <a:ea typeface="SimSun"/>
                        </a:rPr>
                        <a:t>[B32,D35,E19,F17]</a:t>
                      </a:r>
                      <a:endParaRPr lang="en-GB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Times New Roman"/>
                          <a:ea typeface="SimSun"/>
                        </a:rPr>
                        <a:t>[C, </a:t>
                      </a:r>
                      <a:r>
                        <a:rPr lang="en-US" sz="1400" b="1" dirty="0">
                          <a:effectLst/>
                          <a:latin typeface="Times New Roman"/>
                          <a:ea typeface="SimSun"/>
                        </a:rPr>
                        <a:t>A]</a:t>
                      </a:r>
                      <a:endParaRPr lang="en-GB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92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SimSun"/>
                        </a:rPr>
                        <a:t>4</a:t>
                      </a:r>
                      <a:endParaRPr lang="en-GB" sz="14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 smtClean="0">
                          <a:effectLst/>
                          <a:latin typeface="Times New Roman"/>
                          <a:ea typeface="Times New Roman"/>
                        </a:rPr>
                        <a:t>F</a:t>
                      </a:r>
                      <a:endParaRPr lang="en-GB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Times New Roman"/>
                          <a:ea typeface="SimSun"/>
                        </a:rPr>
                        <a:t>[B32,D35,E19,G0]</a:t>
                      </a:r>
                      <a:endParaRPr lang="en-GB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Times New Roman"/>
                          <a:ea typeface="SimSun"/>
                        </a:rPr>
                        <a:t>[F,C,A]</a:t>
                      </a:r>
                      <a:endParaRPr lang="en-GB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592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>
                          <a:effectLst/>
                          <a:latin typeface="Times New Roman"/>
                          <a:ea typeface="SimSun"/>
                        </a:rPr>
                        <a:t>5</a:t>
                      </a:r>
                      <a:endParaRPr lang="en-GB" sz="14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 smtClean="0">
                          <a:effectLst/>
                          <a:latin typeface="Times New Roman"/>
                          <a:ea typeface="Times New Roman"/>
                        </a:rPr>
                        <a:t>G</a:t>
                      </a:r>
                      <a:endParaRPr lang="en-GB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Times New Roman"/>
                          <a:ea typeface="SimSun"/>
                        </a:rPr>
                        <a:t>[B32,D35,E19]</a:t>
                      </a:r>
                      <a:endParaRPr lang="en-GB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1" dirty="0" smtClean="0">
                          <a:effectLst/>
                          <a:latin typeface="Times New Roman"/>
                          <a:ea typeface="SimSun"/>
                        </a:rPr>
                        <a:t>[G,F,C,A]</a:t>
                      </a:r>
                      <a:endParaRPr lang="en-GB" sz="14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0512" marR="6051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1520" y="3140968"/>
            <a:ext cx="524996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 smtClean="0"/>
              <a:t>Start state=A</a:t>
            </a:r>
          </a:p>
          <a:p>
            <a:r>
              <a:rPr lang="en-GB" sz="3200" dirty="0" smtClean="0"/>
              <a:t>Goal state=G</a:t>
            </a:r>
          </a:p>
          <a:p>
            <a:r>
              <a:rPr lang="en-GB" sz="3200" dirty="0" smtClean="0"/>
              <a:t>Path solution :A C F G</a:t>
            </a:r>
          </a:p>
          <a:p>
            <a:r>
              <a:rPr lang="en-GB" sz="3200" dirty="0" smtClean="0"/>
              <a:t>Optimal solution=40+25+17+0</a:t>
            </a:r>
          </a:p>
          <a:p>
            <a:r>
              <a:rPr lang="en-GB" sz="3200" smtClean="0"/>
              <a:t>                              =82</a:t>
            </a:r>
            <a:endParaRPr lang="en-GB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6833" y="3035300"/>
            <a:ext cx="3236913" cy="382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237686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20665</TotalTime>
  <Words>295</Words>
  <Application>Microsoft Office PowerPoint</Application>
  <PresentationFormat>On-screen Show (4:3)</PresentationFormat>
  <Paragraphs>63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Office Theme</vt:lpstr>
      <vt:lpstr>Adjacency</vt:lpstr>
      <vt:lpstr>PowerPoint Presentation</vt:lpstr>
      <vt:lpstr>Best First Search(Informed search ): </vt:lpstr>
      <vt:lpstr>Algorithm BFS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 lec.Najwan Abed</dc:title>
  <dc:creator>najtena2003@outlook.com</dc:creator>
  <cp:lastModifiedBy>Maher</cp:lastModifiedBy>
  <cp:revision>20</cp:revision>
  <dcterms:created xsi:type="dcterms:W3CDTF">2020-03-18T20:17:23Z</dcterms:created>
  <dcterms:modified xsi:type="dcterms:W3CDTF">2022-01-08T17:28:46Z</dcterms:modified>
</cp:coreProperties>
</file>