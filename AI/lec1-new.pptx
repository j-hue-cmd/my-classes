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8" r:id="rId8"/>
    <p:sldId id="269" r:id="rId9"/>
    <p:sldId id="270" r:id="rId10"/>
    <p:sldId id="263" r:id="rId11"/>
    <p:sldId id="264" r:id="rId12"/>
    <p:sldId id="265" r:id="rId13"/>
    <p:sldId id="266" r:id="rId14"/>
    <p:sldId id="267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-996" y="-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10/31/2025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996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10/31/2025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955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10/31/2025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997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10/31/2025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338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10/31/2025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93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10/31/2025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530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10/31/2025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751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10/31/2025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573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10/31/2025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7194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10/31/2025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978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10/31/2025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937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10/31/2025</a:t>
            </a:fld>
            <a:endParaRPr lang="en-US">
              <a:solidFill>
                <a:srgbClr val="DFDCB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4256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209801"/>
            <a:ext cx="7010399" cy="174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89700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1" y="0"/>
            <a:ext cx="8186738" cy="670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10511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526" y="2108593"/>
            <a:ext cx="4572000" cy="2026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81000"/>
            <a:ext cx="4905375" cy="74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107224"/>
            <a:ext cx="6729812" cy="2547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364" y="1123950"/>
            <a:ext cx="6581775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39497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8472488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16131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Course materials </a:t>
            </a:r>
            <a:endParaRPr lang="en-GB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00200"/>
            <a:ext cx="685800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781300"/>
            <a:ext cx="6553200" cy="87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33323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Evaluation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200" dirty="0" smtClean="0"/>
              <a:t>Final exam (50%)</a:t>
            </a:r>
          </a:p>
          <a:p>
            <a:r>
              <a:rPr lang="en-GB" sz="3200" dirty="0" smtClean="0"/>
              <a:t>2 midterm exam (15%)</a:t>
            </a:r>
          </a:p>
          <a:p>
            <a:r>
              <a:rPr lang="en-GB" sz="3200" dirty="0" smtClean="0"/>
              <a:t>Quizzes (10%)</a:t>
            </a:r>
          </a:p>
          <a:p>
            <a:r>
              <a:rPr lang="en-GB" sz="3200" dirty="0" smtClean="0"/>
              <a:t>Labs (15%)</a:t>
            </a:r>
          </a:p>
          <a:p>
            <a:r>
              <a:rPr lang="en-GB" sz="3200" dirty="0" smtClean="0"/>
              <a:t>Final lab (10%)</a:t>
            </a:r>
          </a:p>
          <a:p>
            <a:r>
              <a:rPr lang="en-GB" sz="3200" dirty="0">
                <a:solidFill>
                  <a:srgbClr val="000000"/>
                </a:solidFill>
                <a:latin typeface="Microsoft Sans Serif"/>
              </a:rPr>
              <a:t>To pass: at least 50% 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709248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0"/>
            <a:ext cx="7620000" cy="706090"/>
          </a:xfrm>
        </p:spPr>
        <p:txBody>
          <a:bodyPr/>
          <a:lstStyle/>
          <a:p>
            <a:pPr algn="ctr"/>
            <a:r>
              <a:rPr lang="en-GB" b="1" dirty="0" smtClean="0"/>
              <a:t>Syllabus 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92697"/>
            <a:ext cx="7620000" cy="6165304"/>
          </a:xfrm>
        </p:spPr>
        <p:txBody>
          <a:bodyPr>
            <a:noAutofit/>
          </a:bodyPr>
          <a:lstStyle/>
          <a:p>
            <a:r>
              <a:rPr lang="en-GB" sz="2000" dirty="0" smtClean="0"/>
              <a:t>Definition  of Artificial Intelligence.</a:t>
            </a:r>
          </a:p>
          <a:p>
            <a:r>
              <a:rPr lang="en-GB" sz="2000" dirty="0" smtClean="0"/>
              <a:t>AI as Study and Design of Intelligent Agents.</a:t>
            </a:r>
          </a:p>
          <a:p>
            <a:r>
              <a:rPr lang="en-GB" sz="2000" dirty="0" smtClean="0"/>
              <a:t>Robots vs. Other Intelligent Agents.</a:t>
            </a:r>
          </a:p>
          <a:p>
            <a:r>
              <a:rPr lang="en-GB" sz="2000" dirty="0" smtClean="0"/>
              <a:t>Definition  of An agent .</a:t>
            </a:r>
          </a:p>
          <a:p>
            <a:r>
              <a:rPr lang="en-GB" sz="2000" dirty="0" smtClean="0"/>
              <a:t>Rational agent .</a:t>
            </a:r>
          </a:p>
          <a:p>
            <a:r>
              <a:rPr lang="en-GB" sz="2000" dirty="0" smtClean="0"/>
              <a:t>Environment types.</a:t>
            </a:r>
          </a:p>
          <a:p>
            <a:r>
              <a:rPr lang="en-GB" sz="2000" dirty="0" smtClean="0"/>
              <a:t>THE STRUCTURE OF AGENTS.</a:t>
            </a:r>
          </a:p>
          <a:p>
            <a:r>
              <a:rPr lang="en-GB" sz="2000" dirty="0" smtClean="0"/>
              <a:t>table driven agent.</a:t>
            </a:r>
          </a:p>
          <a:p>
            <a:r>
              <a:rPr lang="en-GB" sz="2000" dirty="0" smtClean="0"/>
              <a:t>Simple reflex agents</a:t>
            </a:r>
          </a:p>
          <a:p>
            <a:r>
              <a:rPr lang="en-GB" sz="2000" dirty="0" smtClean="0"/>
              <a:t> Model-based reflex agents</a:t>
            </a:r>
          </a:p>
          <a:p>
            <a:r>
              <a:rPr lang="en-GB" sz="2000" dirty="0" smtClean="0"/>
              <a:t> Goal-based agents</a:t>
            </a:r>
          </a:p>
          <a:p>
            <a:r>
              <a:rPr lang="en-GB" sz="2000" dirty="0" smtClean="0"/>
              <a:t> Utility-based agents</a:t>
            </a:r>
          </a:p>
          <a:p>
            <a:r>
              <a:rPr lang="en-GB" sz="2000" dirty="0" smtClean="0"/>
              <a:t>Learning Agents</a:t>
            </a:r>
          </a:p>
          <a:p>
            <a:r>
              <a:rPr lang="en-GB" sz="2000" dirty="0" smtClean="0"/>
              <a:t>Well-defined problems and solutions</a:t>
            </a:r>
          </a:p>
          <a:p>
            <a:r>
              <a:rPr lang="en-GB" sz="2000" dirty="0"/>
              <a:t>State Space</a:t>
            </a:r>
            <a:endParaRPr lang="en-GB" sz="2000" dirty="0" smtClean="0"/>
          </a:p>
          <a:p>
            <a:r>
              <a:rPr lang="en-GB" sz="2000" dirty="0"/>
              <a:t>Uninformed Search </a:t>
            </a:r>
            <a:endParaRPr lang="en-GB" sz="2000" dirty="0" smtClean="0"/>
          </a:p>
          <a:p>
            <a:r>
              <a:rPr lang="en-GB" sz="2000" dirty="0"/>
              <a:t>Heuristic </a:t>
            </a:r>
            <a:r>
              <a:rPr lang="en-GB" sz="2000" dirty="0" smtClean="0"/>
              <a:t>Search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398252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0648"/>
            <a:ext cx="7620000" cy="6140152"/>
          </a:xfrm>
        </p:spPr>
        <p:txBody>
          <a:bodyPr>
            <a:normAutofit fontScale="85000" lnSpcReduction="20000"/>
          </a:bodyPr>
          <a:lstStyle/>
          <a:p>
            <a:pPr marL="114300" indent="0">
              <a:buNone/>
            </a:pPr>
            <a:r>
              <a:rPr lang="en-US" sz="2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(A.I):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field of study that encompasses computational techniques for performing tasks that apparently require intelligence or knowledge if performed by humans, such as diagnosing problems in automobiles, computers, and people.</a:t>
            </a:r>
          </a:p>
          <a:p>
            <a:pPr marL="11430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11430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technology of information processing concerned with the processes of reasoning, learning and perception.</a:t>
            </a:r>
          </a:p>
          <a:p>
            <a:pPr marL="11430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11430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it can be defined by other simple words:</a:t>
            </a:r>
          </a:p>
          <a:p>
            <a:pPr marL="11430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A.I: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study of how to make computers do thing, which at the moment people do better (getting of computers to do things that seem to be intelligent).</a:t>
            </a:r>
          </a:p>
          <a:p>
            <a:pPr marL="11430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11430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A.I has three important areas:</a:t>
            </a:r>
          </a:p>
          <a:p>
            <a:pPr lvl="0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representation.</a:t>
            </a:r>
          </a:p>
          <a:p>
            <a:pPr lvl="0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Search.</a:t>
            </a:r>
          </a:p>
          <a:p>
            <a:pPr lvl="0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Perception and inference.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429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0648"/>
            <a:ext cx="7620000" cy="6140152"/>
          </a:xfrm>
        </p:spPr>
        <p:txBody>
          <a:bodyPr>
            <a:normAutofit fontScale="92500" lnSpcReduction="20000"/>
          </a:bodyPr>
          <a:lstStyle/>
          <a:p>
            <a:pPr marL="114300" indent="0">
              <a:buNone/>
            </a:pP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A.I includes: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Getting computers to communicate with us in human language (Natural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anguage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2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Getting computers to remember complicated facts &amp; draw conclusions from them (inference).</a:t>
            </a:r>
          </a:p>
          <a:p>
            <a:pPr lvl="2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Getting computers to plan sequence of actions to accomplish goals (planning).</a:t>
            </a:r>
          </a:p>
          <a:p>
            <a:pPr lvl="2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Getting computers to offer us advice based on complicated rules for vision situations (expert systems).</a:t>
            </a:r>
          </a:p>
          <a:p>
            <a:pPr lvl="2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Getting computers to look through cameras (vision).</a:t>
            </a:r>
          </a:p>
          <a:p>
            <a:pPr lvl="2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Getting computers to move themselves &amp; objects (robotics).</a:t>
            </a:r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879972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>
                <a:solidFill>
                  <a:srgbClr val="000000"/>
                </a:solidFill>
                <a:latin typeface="Microsoft Sans Serif"/>
              </a:rPr>
              <a:t>What is Artificial Intelligence?</a:t>
            </a:r>
            <a:br>
              <a:rPr lang="en-GB" sz="3600" dirty="0">
                <a:solidFill>
                  <a:srgbClr val="000000"/>
                </a:solidFill>
                <a:latin typeface="Microsoft Sans Serif"/>
              </a:rPr>
            </a:b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sz="3200" dirty="0" smtClean="0">
                <a:solidFill>
                  <a:srgbClr val="000000"/>
                </a:solidFill>
                <a:latin typeface="Microsoft Sans Serif"/>
              </a:rPr>
              <a:t>Some </a:t>
            </a:r>
            <a:r>
              <a:rPr lang="en-GB" sz="3200" dirty="0">
                <a:solidFill>
                  <a:srgbClr val="000000"/>
                </a:solidFill>
                <a:latin typeface="Microsoft Sans Serif"/>
              </a:rPr>
              <a:t>definitions that have been proposed</a:t>
            </a:r>
          </a:p>
          <a:p>
            <a:pPr marL="114300" indent="0" algn="just">
              <a:buNone/>
            </a:pPr>
            <a:r>
              <a:rPr lang="en-GB" sz="2800" dirty="0">
                <a:solidFill>
                  <a:srgbClr val="000000"/>
                </a:solidFill>
                <a:latin typeface="Microsoft Sans Serif"/>
              </a:rPr>
              <a:t>1.Systems that </a:t>
            </a:r>
            <a:r>
              <a:rPr lang="en-GB" sz="2800" dirty="0" smtClean="0">
                <a:solidFill>
                  <a:srgbClr val="000000"/>
                </a:solidFill>
                <a:latin typeface="Microsoft Sans Serif"/>
              </a:rPr>
              <a:t>think like </a:t>
            </a:r>
            <a:r>
              <a:rPr lang="en-GB" sz="2800" dirty="0">
                <a:solidFill>
                  <a:srgbClr val="000000"/>
                </a:solidFill>
                <a:latin typeface="Microsoft Sans Serif"/>
              </a:rPr>
              <a:t>humans</a:t>
            </a:r>
          </a:p>
          <a:p>
            <a:pPr marL="114300" indent="0" algn="just">
              <a:buNone/>
            </a:pPr>
            <a:r>
              <a:rPr lang="en-GB" sz="2800" dirty="0">
                <a:solidFill>
                  <a:srgbClr val="000000"/>
                </a:solidFill>
                <a:latin typeface="Microsoft Sans Serif"/>
              </a:rPr>
              <a:t>2.Systems that act like humans</a:t>
            </a:r>
          </a:p>
          <a:p>
            <a:pPr marL="114300" indent="0" algn="just">
              <a:buNone/>
            </a:pPr>
            <a:r>
              <a:rPr lang="en-GB" sz="2800" dirty="0">
                <a:solidFill>
                  <a:srgbClr val="000000"/>
                </a:solidFill>
                <a:latin typeface="Microsoft Sans Serif"/>
              </a:rPr>
              <a:t>3.Systems that think rationally</a:t>
            </a:r>
          </a:p>
          <a:p>
            <a:pPr marL="114300" indent="0" algn="just">
              <a:buNone/>
            </a:pPr>
            <a:r>
              <a:rPr lang="en-GB" sz="2800" dirty="0">
                <a:solidFill>
                  <a:srgbClr val="000000"/>
                </a:solidFill>
                <a:latin typeface="Microsoft Sans Serif"/>
              </a:rPr>
              <a:t>4.Systems that act rationally</a:t>
            </a:r>
          </a:p>
          <a:p>
            <a:pPr marL="114300" indent="0">
              <a:buNone/>
            </a:pPr>
            <a:endParaRPr lang="en-GB" sz="2000" dirty="0">
              <a:solidFill>
                <a:srgbClr val="000000"/>
              </a:solidFill>
              <a:latin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2752271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620000" cy="1143000"/>
          </a:xfrm>
        </p:spPr>
        <p:txBody>
          <a:bodyPr/>
          <a:lstStyle/>
          <a:p>
            <a:pPr algn="ctr"/>
            <a:r>
              <a:rPr lang="en-GB" sz="3600" dirty="0">
                <a:solidFill>
                  <a:srgbClr val="000000"/>
                </a:solidFill>
                <a:latin typeface="Microsoft Sans Serif"/>
              </a:rPr>
              <a:t>Thinking Like Humans(Thinking Humanly)</a:t>
            </a:r>
            <a:br>
              <a:rPr lang="en-GB" sz="3600" dirty="0">
                <a:solidFill>
                  <a:srgbClr val="000000"/>
                </a:solidFill>
                <a:latin typeface="Microsoft Sans Serif"/>
              </a:rPr>
            </a:b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GB" sz="2400" dirty="0" smtClean="0">
                <a:solidFill>
                  <a:srgbClr val="000000"/>
                </a:solidFill>
                <a:latin typeface="Microsoft Sans Serif"/>
              </a:rPr>
              <a:t>Model </a:t>
            </a:r>
            <a:r>
              <a:rPr lang="en-GB" sz="2400" dirty="0">
                <a:solidFill>
                  <a:srgbClr val="000000"/>
                </a:solidFill>
                <a:latin typeface="Microsoft Sans Serif"/>
              </a:rPr>
              <a:t>the cognitive functions and </a:t>
            </a:r>
            <a:r>
              <a:rPr lang="en-GB" sz="2400" dirty="0" smtClean="0">
                <a:solidFill>
                  <a:srgbClr val="000000"/>
                </a:solidFill>
                <a:latin typeface="Microsoft Sans Serif"/>
              </a:rPr>
              <a:t>behaviours of humans. Human </a:t>
            </a:r>
            <a:r>
              <a:rPr lang="en-GB" sz="2400" dirty="0">
                <a:solidFill>
                  <a:srgbClr val="000000"/>
                </a:solidFill>
                <a:latin typeface="Microsoft Sans Serif"/>
              </a:rPr>
              <a:t>beings are our best example of intelligence</a:t>
            </a:r>
          </a:p>
          <a:p>
            <a:pPr marL="114300" indent="0">
              <a:buNone/>
            </a:pPr>
            <a:r>
              <a:rPr lang="en-GB" sz="2400" dirty="0">
                <a:solidFill>
                  <a:srgbClr val="000000"/>
                </a:solidFill>
                <a:latin typeface="Microsoft Sans Serif"/>
              </a:rPr>
              <a:t>We need to get inside the actual workings of human minds.</a:t>
            </a:r>
          </a:p>
          <a:p>
            <a:pPr marL="114300" indent="0">
              <a:buNone/>
            </a:pPr>
            <a:r>
              <a:rPr lang="en-GB" sz="2400" dirty="0">
                <a:solidFill>
                  <a:srgbClr val="000000"/>
                </a:solidFill>
                <a:latin typeface="Microsoft Sans Serif"/>
              </a:rPr>
              <a:t>There are three ways to do this: </a:t>
            </a:r>
            <a:endParaRPr lang="en-GB" sz="2400" dirty="0" smtClean="0">
              <a:solidFill>
                <a:srgbClr val="000000"/>
              </a:solidFill>
              <a:latin typeface="Microsoft Sans Serif"/>
            </a:endParaRPr>
          </a:p>
          <a:p>
            <a:pPr marL="571500" indent="-457200">
              <a:buFont typeface="+mj-lt"/>
              <a:buAutoNum type="arabicPeriod"/>
            </a:pPr>
            <a:r>
              <a:rPr lang="en-GB" sz="2400" dirty="0" smtClean="0">
                <a:solidFill>
                  <a:srgbClr val="000000"/>
                </a:solidFill>
                <a:latin typeface="Microsoft Sans Serif"/>
              </a:rPr>
              <a:t>through </a:t>
            </a:r>
            <a:r>
              <a:rPr lang="en-GB" sz="2400" dirty="0">
                <a:solidFill>
                  <a:srgbClr val="000000"/>
                </a:solidFill>
                <a:latin typeface="Microsoft Sans Serif"/>
              </a:rPr>
              <a:t>introspection—trying to catch our own thoughts </a:t>
            </a:r>
            <a:r>
              <a:rPr lang="en-GB" sz="2400" dirty="0" smtClean="0">
                <a:solidFill>
                  <a:srgbClr val="000000"/>
                </a:solidFill>
                <a:latin typeface="Microsoft Sans Serif"/>
              </a:rPr>
              <a:t>as they </a:t>
            </a:r>
            <a:r>
              <a:rPr lang="en-GB" sz="2400" dirty="0">
                <a:solidFill>
                  <a:srgbClr val="000000"/>
                </a:solidFill>
                <a:latin typeface="Microsoft Sans Serif"/>
              </a:rPr>
              <a:t>go by</a:t>
            </a:r>
            <a:r>
              <a:rPr lang="en-GB" sz="2400" dirty="0" smtClean="0">
                <a:solidFill>
                  <a:srgbClr val="000000"/>
                </a:solidFill>
                <a:latin typeface="Microsoft Sans Serif"/>
              </a:rPr>
              <a:t>;</a:t>
            </a:r>
          </a:p>
          <a:p>
            <a:pPr marL="571500" indent="-457200">
              <a:buFont typeface="+mj-lt"/>
              <a:buAutoNum type="arabicPeriod"/>
            </a:pPr>
            <a:r>
              <a:rPr lang="en-GB" sz="2400" dirty="0" smtClean="0">
                <a:solidFill>
                  <a:srgbClr val="000000"/>
                </a:solidFill>
                <a:latin typeface="Microsoft Sans Serif"/>
              </a:rPr>
              <a:t> </a:t>
            </a:r>
            <a:r>
              <a:rPr lang="en-GB" sz="2400" dirty="0">
                <a:solidFill>
                  <a:srgbClr val="000000"/>
                </a:solidFill>
                <a:latin typeface="Microsoft Sans Serif"/>
              </a:rPr>
              <a:t>through psychological experiments—observing a person in action; </a:t>
            </a:r>
            <a:endParaRPr lang="en-GB" sz="2400" dirty="0" smtClean="0">
              <a:solidFill>
                <a:srgbClr val="000000"/>
              </a:solidFill>
              <a:latin typeface="Microsoft Sans Serif"/>
            </a:endParaRPr>
          </a:p>
          <a:p>
            <a:pPr marL="571500" indent="-457200">
              <a:buFont typeface="+mj-lt"/>
              <a:buAutoNum type="arabicPeriod"/>
            </a:pPr>
            <a:r>
              <a:rPr lang="en-GB" sz="2400" dirty="0" smtClean="0">
                <a:solidFill>
                  <a:srgbClr val="000000"/>
                </a:solidFill>
                <a:latin typeface="Microsoft Sans Serif"/>
              </a:rPr>
              <a:t>and through brain </a:t>
            </a:r>
            <a:r>
              <a:rPr lang="en-GB" sz="2400" dirty="0">
                <a:solidFill>
                  <a:srgbClr val="000000"/>
                </a:solidFill>
                <a:latin typeface="Microsoft Sans Serif"/>
              </a:rPr>
              <a:t>imaging—observing the brain in action.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1350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800" dirty="0">
                <a:solidFill>
                  <a:srgbClr val="000000"/>
                </a:solidFill>
                <a:latin typeface="Microsoft Sans Serif"/>
              </a:rPr>
              <a:t>Acting Like Humans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endParaRPr lang="en-GB" sz="1100" dirty="0">
              <a:solidFill>
                <a:srgbClr val="000000"/>
              </a:solidFill>
              <a:latin typeface="Microsoft Sans Serif"/>
            </a:endParaRPr>
          </a:p>
          <a:p>
            <a:pPr marL="114300" indent="0">
              <a:buNone/>
            </a:pPr>
            <a:r>
              <a:rPr lang="en-GB" sz="2400" dirty="0" smtClean="0">
                <a:solidFill>
                  <a:srgbClr val="000000"/>
                </a:solidFill>
                <a:latin typeface="Microsoft Sans Serif"/>
              </a:rPr>
              <a:t>Turing </a:t>
            </a:r>
            <a:r>
              <a:rPr lang="en-GB" sz="2400" dirty="0">
                <a:solidFill>
                  <a:srgbClr val="000000"/>
                </a:solidFill>
                <a:latin typeface="Microsoft Sans Serif"/>
              </a:rPr>
              <a:t>test proposed by Alan Turing </a:t>
            </a:r>
            <a:r>
              <a:rPr lang="en-GB" sz="2400" dirty="0" smtClean="0">
                <a:solidFill>
                  <a:srgbClr val="000000"/>
                </a:solidFill>
                <a:latin typeface="Microsoft Sans Serif"/>
              </a:rPr>
              <a:t>(</a:t>
            </a:r>
            <a:r>
              <a:rPr lang="en-GB" sz="2400" dirty="0">
                <a:solidFill>
                  <a:srgbClr val="000000"/>
                </a:solidFill>
                <a:latin typeface="Microsoft Sans Serif"/>
              </a:rPr>
              <a:t>1950)</a:t>
            </a:r>
          </a:p>
          <a:p>
            <a:pPr marL="114300" indent="0">
              <a:buNone/>
            </a:pPr>
            <a:r>
              <a:rPr lang="en-GB" sz="2400" dirty="0">
                <a:solidFill>
                  <a:srgbClr val="000000"/>
                </a:solidFill>
                <a:latin typeface="Microsoft Sans Serif"/>
              </a:rPr>
              <a:t>•</a:t>
            </a:r>
            <a:r>
              <a:rPr lang="en-GB" sz="2000" dirty="0">
                <a:solidFill>
                  <a:srgbClr val="000000"/>
                </a:solidFill>
                <a:latin typeface="Microsoft Sans Serif"/>
              </a:rPr>
              <a:t>operational definition of intelligent </a:t>
            </a:r>
            <a:r>
              <a:rPr lang="en-GB" sz="2000" dirty="0" smtClean="0">
                <a:solidFill>
                  <a:srgbClr val="000000"/>
                </a:solidFill>
                <a:latin typeface="Microsoft Sans Serif"/>
              </a:rPr>
              <a:t>behaviour</a:t>
            </a:r>
            <a:endParaRPr lang="en-GB" sz="2000" dirty="0">
              <a:solidFill>
                <a:srgbClr val="000000"/>
              </a:solidFill>
              <a:latin typeface="Microsoft Sans Serif"/>
            </a:endParaRPr>
          </a:p>
          <a:p>
            <a:pPr marL="114300" indent="0">
              <a:buNone/>
            </a:pPr>
            <a:r>
              <a:rPr lang="en-GB" sz="2400" dirty="0">
                <a:solidFill>
                  <a:srgbClr val="000000"/>
                </a:solidFill>
                <a:latin typeface="Microsoft Sans Serif"/>
              </a:rPr>
              <a:t>•</a:t>
            </a:r>
            <a:r>
              <a:rPr lang="en-GB" sz="2000" dirty="0">
                <a:solidFill>
                  <a:srgbClr val="000000"/>
                </a:solidFill>
                <a:latin typeface="Microsoft Sans Serif"/>
              </a:rPr>
              <a:t>Can a human interrogator tell whether (written) responses to her (written) questions come from a human or a machine?</a:t>
            </a:r>
          </a:p>
          <a:p>
            <a:pPr marL="114300" indent="0">
              <a:buNone/>
            </a:pPr>
            <a:r>
              <a:rPr lang="en-GB" sz="2400" dirty="0">
                <a:solidFill>
                  <a:srgbClr val="000000"/>
                </a:solidFill>
                <a:latin typeface="Microsoft Sans Serif"/>
              </a:rPr>
              <a:t>•No system has fully passed the test yet</a:t>
            </a:r>
          </a:p>
          <a:p>
            <a:pPr marL="114300" indent="0">
              <a:buNone/>
            </a:pPr>
            <a:r>
              <a:rPr lang="en-GB" sz="2400" dirty="0" smtClean="0">
                <a:solidFill>
                  <a:srgbClr val="000000"/>
                </a:solidFill>
                <a:latin typeface="Microsoft Sans Serif"/>
              </a:rPr>
              <a:t>•</a:t>
            </a:r>
            <a:r>
              <a:rPr lang="en-GB" sz="2400" dirty="0">
                <a:solidFill>
                  <a:srgbClr val="000000"/>
                </a:solidFill>
                <a:latin typeface="Microsoft Sans Serif"/>
              </a:rPr>
              <a:t>Is acting like humans really what we want?</a:t>
            </a:r>
          </a:p>
          <a:p>
            <a:pPr marL="114300" indent="0">
              <a:buNone/>
            </a:pPr>
            <a:r>
              <a:rPr lang="en-GB" sz="2400" dirty="0">
                <a:solidFill>
                  <a:srgbClr val="000000"/>
                </a:solidFill>
                <a:latin typeface="Microsoft Sans Serif"/>
              </a:rPr>
              <a:t>•</a:t>
            </a:r>
            <a:r>
              <a:rPr lang="en-GB" sz="2000" dirty="0">
                <a:solidFill>
                  <a:srgbClr val="000000"/>
                </a:solidFill>
                <a:latin typeface="Microsoft Sans Serif"/>
              </a:rPr>
              <a:t>Humans often think/act in ways we don’t consider intelligent</a:t>
            </a:r>
          </a:p>
          <a:p>
            <a:pPr marL="114300" indent="0">
              <a:buNone/>
            </a:pPr>
            <a:endParaRPr lang="en-GB" sz="2000" dirty="0">
              <a:solidFill>
                <a:srgbClr val="000000"/>
              </a:solidFill>
              <a:latin typeface="Microsoft Sans Serif"/>
            </a:endParaRPr>
          </a:p>
          <a:p>
            <a:pPr marL="114300" indent="0">
              <a:buNone/>
            </a:pPr>
            <a:endParaRPr lang="en-GB" sz="2000" dirty="0">
              <a:solidFill>
                <a:srgbClr val="000000"/>
              </a:solidFill>
              <a:latin typeface="Microsoft Sans Serif"/>
            </a:endParaRPr>
          </a:p>
          <a:p>
            <a:pPr marL="11430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6790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sz="4800" dirty="0">
                <a:solidFill>
                  <a:srgbClr val="000000"/>
                </a:solidFill>
                <a:latin typeface="Microsoft Sans Serif"/>
              </a:rPr>
              <a:t>Thinking Rationally</a:t>
            </a:r>
            <a:br>
              <a:rPr lang="en-GB" sz="4800" dirty="0">
                <a:solidFill>
                  <a:srgbClr val="000000"/>
                </a:solidFill>
                <a:latin typeface="Microsoft Sans Serif"/>
              </a:rPr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8382000" cy="5029200"/>
          </a:xfrm>
        </p:spPr>
        <p:txBody>
          <a:bodyPr>
            <a:noAutofit/>
          </a:bodyPr>
          <a:lstStyle/>
          <a:p>
            <a:pPr marL="114300" indent="0" algn="just">
              <a:buNone/>
            </a:pPr>
            <a:r>
              <a:rPr lang="en-GB" sz="3200" dirty="0" smtClean="0">
                <a:solidFill>
                  <a:srgbClr val="000000"/>
                </a:solidFill>
                <a:latin typeface="Microsoft Sans Serif"/>
              </a:rPr>
              <a:t>•</a:t>
            </a:r>
            <a:r>
              <a:rPr lang="en-GB" sz="3200" dirty="0">
                <a:solidFill>
                  <a:srgbClr val="FF0000"/>
                </a:solidFill>
                <a:latin typeface="Microsoft Sans Serif"/>
              </a:rPr>
              <a:t>Rationality</a:t>
            </a:r>
            <a:r>
              <a:rPr lang="en-GB" sz="3200" dirty="0" smtClean="0">
                <a:solidFill>
                  <a:srgbClr val="000000"/>
                </a:solidFill>
                <a:latin typeface="Microsoft Sans Serif"/>
              </a:rPr>
              <a:t>: an </a:t>
            </a:r>
            <a:r>
              <a:rPr lang="en-GB" sz="3200" dirty="0">
                <a:solidFill>
                  <a:srgbClr val="000000"/>
                </a:solidFill>
                <a:latin typeface="Microsoft Sans Serif"/>
              </a:rPr>
              <a:t>abstract ideal of intelligence, rather than “whatever humans think/do”</a:t>
            </a:r>
          </a:p>
          <a:p>
            <a:pPr marL="114300" indent="0" algn="just">
              <a:buNone/>
            </a:pPr>
            <a:r>
              <a:rPr lang="en-GB" sz="3200" dirty="0">
                <a:solidFill>
                  <a:srgbClr val="000000"/>
                </a:solidFill>
                <a:latin typeface="Microsoft Sans Serif"/>
              </a:rPr>
              <a:t>•Ancient Greeks invented syllogisms: argument structures that always yield correct conclusions given correct premises</a:t>
            </a:r>
          </a:p>
          <a:p>
            <a:pPr marL="114300" indent="0" algn="just">
              <a:buNone/>
            </a:pPr>
            <a:r>
              <a:rPr lang="en-GB" sz="3200" dirty="0">
                <a:solidFill>
                  <a:srgbClr val="000000"/>
                </a:solidFill>
                <a:latin typeface="Microsoft Sans Serif"/>
              </a:rPr>
              <a:t>•This led to logic, and probabilistic </a:t>
            </a:r>
            <a:r>
              <a:rPr lang="en-GB" sz="3200" dirty="0" smtClean="0">
                <a:solidFill>
                  <a:srgbClr val="000000"/>
                </a:solidFill>
                <a:latin typeface="Microsoft Sans Serif"/>
              </a:rPr>
              <a:t>reasoning.</a:t>
            </a:r>
            <a:endParaRPr lang="en-GB" sz="3200" dirty="0">
              <a:solidFill>
                <a:srgbClr val="000000"/>
              </a:solidFill>
              <a:latin typeface="Microsoft Sans Serif"/>
            </a:endParaRPr>
          </a:p>
          <a:p>
            <a:pPr marL="114300" indent="0" algn="just">
              <a:buNone/>
            </a:pP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311154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715962"/>
          </a:xfrm>
        </p:spPr>
        <p:txBody>
          <a:bodyPr/>
          <a:lstStyle/>
          <a:p>
            <a:pPr algn="ctr"/>
            <a:r>
              <a:rPr lang="en-GB" sz="4800" dirty="0">
                <a:solidFill>
                  <a:srgbClr val="000000"/>
                </a:solidFill>
                <a:latin typeface="Microsoft Sans Serif"/>
              </a:rPr>
              <a:t>Acting Rationally</a:t>
            </a:r>
            <a:br>
              <a:rPr lang="en-GB" sz="4800" dirty="0">
                <a:solidFill>
                  <a:srgbClr val="000000"/>
                </a:solidFill>
                <a:latin typeface="Microsoft Sans Serif"/>
              </a:rPr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14400"/>
            <a:ext cx="8305800" cy="5486400"/>
          </a:xfrm>
        </p:spPr>
        <p:txBody>
          <a:bodyPr>
            <a:normAutofit/>
          </a:bodyPr>
          <a:lstStyle/>
          <a:p>
            <a:pPr marL="114300" indent="0" algn="just">
              <a:buNone/>
            </a:pPr>
            <a:r>
              <a:rPr lang="en-GB" sz="3200" dirty="0" smtClean="0">
                <a:solidFill>
                  <a:srgbClr val="000000"/>
                </a:solidFill>
                <a:latin typeface="Microsoft Sans Serif"/>
              </a:rPr>
              <a:t>We </a:t>
            </a:r>
            <a:r>
              <a:rPr lang="en-GB" sz="3200" dirty="0">
                <a:solidFill>
                  <a:srgbClr val="000000"/>
                </a:solidFill>
                <a:latin typeface="Microsoft Sans Serif"/>
              </a:rPr>
              <a:t>will emphasize this view of AI</a:t>
            </a:r>
          </a:p>
          <a:p>
            <a:pPr marL="114300" indent="0" algn="just">
              <a:buNone/>
            </a:pPr>
            <a:r>
              <a:rPr lang="en-GB" sz="3200" dirty="0">
                <a:solidFill>
                  <a:srgbClr val="000000"/>
                </a:solidFill>
                <a:latin typeface="Microsoft Sans Serif"/>
              </a:rPr>
              <a:t>•</a:t>
            </a:r>
            <a:r>
              <a:rPr lang="en-GB" sz="2800" dirty="0">
                <a:solidFill>
                  <a:srgbClr val="000000"/>
                </a:solidFill>
                <a:latin typeface="Microsoft Sans Serif"/>
              </a:rPr>
              <a:t>Rationality is more cleanly </a:t>
            </a:r>
            <a:r>
              <a:rPr lang="en-GB" sz="2800" dirty="0" smtClean="0">
                <a:solidFill>
                  <a:srgbClr val="000000"/>
                </a:solidFill>
                <a:latin typeface="Microsoft Sans Serif"/>
              </a:rPr>
              <a:t>defined than </a:t>
            </a:r>
            <a:r>
              <a:rPr lang="en-GB" sz="2800" dirty="0">
                <a:solidFill>
                  <a:srgbClr val="000000"/>
                </a:solidFill>
                <a:latin typeface="Microsoft Sans Serif"/>
              </a:rPr>
              <a:t>human behaviour, so</a:t>
            </a:r>
          </a:p>
          <a:p>
            <a:pPr marL="114300" indent="0" algn="just">
              <a:buNone/>
            </a:pPr>
            <a:r>
              <a:rPr lang="en-GB" sz="2400" dirty="0">
                <a:solidFill>
                  <a:srgbClr val="000000"/>
                </a:solidFill>
                <a:latin typeface="Wingdings"/>
              </a:rPr>
              <a:t></a:t>
            </a:r>
            <a:r>
              <a:rPr lang="en-GB" sz="2400" dirty="0">
                <a:solidFill>
                  <a:srgbClr val="000000"/>
                </a:solidFill>
                <a:latin typeface="Microsoft Sans Serif"/>
              </a:rPr>
              <a:t>it's a better design objective</a:t>
            </a:r>
          </a:p>
          <a:p>
            <a:pPr marL="114300" indent="0" algn="just">
              <a:buNone/>
            </a:pPr>
            <a:r>
              <a:rPr lang="en-GB" sz="2400" dirty="0">
                <a:solidFill>
                  <a:srgbClr val="000000"/>
                </a:solidFill>
                <a:latin typeface="Wingdings"/>
              </a:rPr>
              <a:t></a:t>
            </a:r>
            <a:r>
              <a:rPr lang="en-GB" sz="2400" dirty="0">
                <a:solidFill>
                  <a:srgbClr val="000000"/>
                </a:solidFill>
                <a:latin typeface="Microsoft Sans Serif"/>
              </a:rPr>
              <a:t>in cases where human behaviour is not rational, often we'd prefer rationality</a:t>
            </a:r>
          </a:p>
          <a:p>
            <a:pPr marL="114300" indent="0" algn="just">
              <a:buNone/>
            </a:pPr>
            <a:r>
              <a:rPr lang="en-GB" sz="2000" dirty="0">
                <a:solidFill>
                  <a:srgbClr val="000000"/>
                </a:solidFill>
                <a:latin typeface="Microsoft Sans Serif"/>
              </a:rPr>
              <a:t>–Example: you wouldn't want a shopping agent to make impulsive purchases!</a:t>
            </a:r>
          </a:p>
          <a:p>
            <a:pPr marL="114300" indent="0" algn="just">
              <a:buNone/>
            </a:pPr>
            <a:r>
              <a:rPr lang="en-GB" sz="2400" dirty="0">
                <a:solidFill>
                  <a:srgbClr val="000000"/>
                </a:solidFill>
                <a:latin typeface="Wingdings"/>
              </a:rPr>
              <a:t></a:t>
            </a:r>
            <a:r>
              <a:rPr lang="en-GB" sz="2400" dirty="0">
                <a:solidFill>
                  <a:srgbClr val="000000"/>
                </a:solidFill>
                <a:latin typeface="Microsoft Sans Serif"/>
              </a:rPr>
              <a:t>And once we have a rational agent, we can always tweak it to make it irrational!</a:t>
            </a:r>
          </a:p>
          <a:p>
            <a:pPr marL="114300" indent="0" algn="just">
              <a:buNone/>
            </a:pPr>
            <a:r>
              <a:rPr lang="en-GB" sz="3200" dirty="0">
                <a:solidFill>
                  <a:srgbClr val="000000"/>
                </a:solidFill>
                <a:latin typeface="Microsoft Sans Serif"/>
              </a:rPr>
              <a:t>•</a:t>
            </a:r>
            <a:r>
              <a:rPr lang="en-GB" sz="2800" dirty="0">
                <a:solidFill>
                  <a:srgbClr val="000000"/>
                </a:solidFill>
                <a:latin typeface="Microsoft Sans Serif"/>
              </a:rPr>
              <a:t>It's easier to define rational action than rational thought</a:t>
            </a:r>
          </a:p>
          <a:p>
            <a:pPr algn="just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02555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521</Words>
  <Application>Microsoft Office PowerPoint</Application>
  <PresentationFormat>عرض على الشاشة (3:4)‏</PresentationFormat>
  <Paragraphs>82</Paragraphs>
  <Slides>14</Slides>
  <Notes>0</Notes>
  <HiddenSlides>0</HiddenSlides>
  <MMClips>0</MMClip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14</vt:i4>
      </vt:variant>
    </vt:vector>
  </HeadingPairs>
  <TitlesOfParts>
    <vt:vector size="15" baseType="lpstr">
      <vt:lpstr>Adjacency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Course materials </vt:lpstr>
      <vt:lpstr>Evaluation </vt:lpstr>
      <vt:lpstr>Syllabus </vt:lpstr>
      <vt:lpstr>عرض تقديمي في PowerPoint</vt:lpstr>
      <vt:lpstr>عرض تقديمي في PowerPoint</vt:lpstr>
      <vt:lpstr>What is Artificial Intelligence? </vt:lpstr>
      <vt:lpstr>Thinking Like Humans(Thinking Humanly) </vt:lpstr>
      <vt:lpstr>Acting Like Humans</vt:lpstr>
      <vt:lpstr>Thinking Rationally </vt:lpstr>
      <vt:lpstr>Acting Rationally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najtena2003@outlook.com</dc:creator>
  <cp:lastModifiedBy>Maher</cp:lastModifiedBy>
  <cp:revision>8</cp:revision>
  <dcterms:created xsi:type="dcterms:W3CDTF">2020-03-18T19:46:01Z</dcterms:created>
  <dcterms:modified xsi:type="dcterms:W3CDTF">2025-10-31T10:34:41Z</dcterms:modified>
</cp:coreProperties>
</file>