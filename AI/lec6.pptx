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990FC8-3D50-47B5-8A9E-B71F1F8AEE08}" type="datetimeFigureOut">
              <a:rPr lang="en-GB" smtClean="0"/>
              <a:t>11/12/2021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9577E-411D-4731-9488-65E81743E7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9577E-411D-4731-9488-65E81743E72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038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DFEFF-3E22-4D78-8715-7D96414B0A02}" type="slidenum">
              <a:rPr lang="en-GB" smtClean="0">
                <a:solidFill>
                  <a:prstClr val="black"/>
                </a:solidFill>
              </a:rPr>
              <a:pPr/>
              <a:t>7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869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FD093-9B5A-4914-BE42-98A65533DBFD}" type="datetimeFigureOut">
              <a:rPr lang="en-GB" smtClean="0"/>
              <a:t>11/12/2021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B7E4-A351-45A7-976F-E9F882D12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62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FD093-9B5A-4914-BE42-98A65533DBFD}" type="datetimeFigureOut">
              <a:rPr lang="en-GB" smtClean="0"/>
              <a:t>11/12/2021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B7E4-A351-45A7-976F-E9F882D12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28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FD093-9B5A-4914-BE42-98A65533DBFD}" type="datetimeFigureOut">
              <a:rPr lang="en-GB" smtClean="0"/>
              <a:t>11/12/2021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B7E4-A351-45A7-976F-E9F882D12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582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FD093-9B5A-4914-BE42-98A65533DBFD}" type="datetimeFigureOut">
              <a:rPr lang="en-GB" smtClean="0"/>
              <a:t>11/12/2021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B7E4-A351-45A7-976F-E9F882D12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92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FD093-9B5A-4914-BE42-98A65533DBFD}" type="datetimeFigureOut">
              <a:rPr lang="en-GB" smtClean="0"/>
              <a:t>11/12/2021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B7E4-A351-45A7-976F-E9F882D12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79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FD093-9B5A-4914-BE42-98A65533DBFD}" type="datetimeFigureOut">
              <a:rPr lang="en-GB" smtClean="0"/>
              <a:t>11/12/2021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B7E4-A351-45A7-976F-E9F882D12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430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FD093-9B5A-4914-BE42-98A65533DBFD}" type="datetimeFigureOut">
              <a:rPr lang="en-GB" smtClean="0"/>
              <a:t>11/12/2021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B7E4-A351-45A7-976F-E9F882D12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448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FD093-9B5A-4914-BE42-98A65533DBFD}" type="datetimeFigureOut">
              <a:rPr lang="en-GB" smtClean="0"/>
              <a:t>11/12/2021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B7E4-A351-45A7-976F-E9F882D12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4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FD093-9B5A-4914-BE42-98A65533DBFD}" type="datetimeFigureOut">
              <a:rPr lang="en-GB" smtClean="0"/>
              <a:t>11/12/2021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B7E4-A351-45A7-976F-E9F882D12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781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FD093-9B5A-4914-BE42-98A65533DBFD}" type="datetimeFigureOut">
              <a:rPr lang="en-GB" smtClean="0"/>
              <a:t>11/12/2021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B7E4-A351-45A7-976F-E9F882D12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79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FD093-9B5A-4914-BE42-98A65533DBFD}" type="datetimeFigureOut">
              <a:rPr lang="en-GB" smtClean="0"/>
              <a:t>11/12/2021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DB7E4-A351-45A7-976F-E9F882D12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714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12/11/2021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4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12/11/2021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44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12/11/2021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8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12/11/2021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583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12/11/2021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72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12/11/2021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68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12/11/2021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03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12/11/2021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745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12/11/2021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751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12/11/2021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1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12/11/2021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42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FD093-9B5A-4914-BE42-98A65533DBFD}" type="datetimeFigureOut">
              <a:rPr lang="en-GB" smtClean="0"/>
              <a:t>11/12/2021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DB7E4-A351-45A7-976F-E9F882D12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363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12/11/2021</a:t>
            </a:fld>
            <a:endParaRPr lang="en-US">
              <a:solidFill>
                <a:srgbClr val="DFD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39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345704"/>
          </a:xfrm>
        </p:spPr>
        <p:txBody>
          <a:bodyPr/>
          <a:lstStyle/>
          <a:p>
            <a:r>
              <a:rPr lang="en-GB" dirty="0" smtClean="0"/>
              <a:t>Lecture six</a:t>
            </a:r>
            <a:endParaRPr lang="en-GB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626" y="692696"/>
            <a:ext cx="7010399" cy="174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38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Problem-Solving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 algn="just">
              <a:buNone/>
            </a:pPr>
            <a:r>
              <a:rPr lang="en-GB" sz="2400" dirty="0">
                <a:latin typeface="ArialMT"/>
              </a:rPr>
              <a:t>Problem-solving agents : a kind of goal-based agents</a:t>
            </a:r>
          </a:p>
          <a:p>
            <a:pPr marL="114300" indent="0" algn="just">
              <a:buNone/>
            </a:pPr>
            <a:r>
              <a:rPr lang="en-GB" sz="2400" dirty="0" smtClean="0">
                <a:latin typeface="ArialMT"/>
              </a:rPr>
              <a:t>Decide </a:t>
            </a:r>
            <a:r>
              <a:rPr lang="en-GB" sz="2400" dirty="0">
                <a:latin typeface="ArialMT"/>
              </a:rPr>
              <a:t>what to do by finding sequences of actions </a:t>
            </a:r>
            <a:r>
              <a:rPr lang="en-GB" sz="2400" dirty="0" smtClean="0">
                <a:latin typeface="ArialMT"/>
              </a:rPr>
              <a:t>that lead to </a:t>
            </a:r>
            <a:r>
              <a:rPr lang="en-GB" sz="2400" dirty="0">
                <a:latin typeface="ArialMT"/>
              </a:rPr>
              <a:t>desired </a:t>
            </a:r>
            <a:r>
              <a:rPr lang="en-GB" sz="2400" dirty="0" smtClean="0">
                <a:latin typeface="ArialMT"/>
              </a:rPr>
              <a:t>solutions</a:t>
            </a:r>
          </a:p>
          <a:p>
            <a:pPr marL="114300" indent="0" algn="just">
              <a:buNone/>
            </a:pPr>
            <a:endParaRPr lang="en-GB" sz="2400" dirty="0">
              <a:latin typeface="ArialMT"/>
            </a:endParaRPr>
          </a:p>
          <a:p>
            <a:pPr marL="114300" indent="0" algn="just">
              <a:buNone/>
            </a:pPr>
            <a:r>
              <a:rPr lang="en-GB" sz="2400" b="1" dirty="0">
                <a:latin typeface="Times-Bold"/>
              </a:rPr>
              <a:t>Goal </a:t>
            </a:r>
            <a:r>
              <a:rPr lang="en-GB" sz="2400" b="1" dirty="0" smtClean="0">
                <a:latin typeface="Times-Bold"/>
              </a:rPr>
              <a:t>formulation </a:t>
            </a:r>
            <a:r>
              <a:rPr lang="en-GB" sz="2400" dirty="0" smtClean="0">
                <a:latin typeface="Times-Bold"/>
              </a:rPr>
              <a:t>a</a:t>
            </a:r>
            <a:r>
              <a:rPr lang="en-GB" sz="2400" dirty="0" smtClean="0">
                <a:latin typeface="ArialMT"/>
              </a:rPr>
              <a:t>gent’s performance measure</a:t>
            </a:r>
            <a:r>
              <a:rPr lang="en-GB" sz="2400" dirty="0">
                <a:latin typeface="ArialMT"/>
              </a:rPr>
              <a:t>, is the first step in problem solving</a:t>
            </a:r>
            <a:r>
              <a:rPr lang="en-GB" sz="2400" dirty="0" smtClean="0">
                <a:latin typeface="ArialMT"/>
              </a:rPr>
              <a:t>.</a:t>
            </a:r>
          </a:p>
          <a:p>
            <a:pPr marL="114300" indent="0" algn="just">
              <a:buNone/>
            </a:pPr>
            <a:r>
              <a:rPr lang="en-GB" sz="2400" b="1" dirty="0">
                <a:latin typeface="Times-Bold"/>
              </a:rPr>
              <a:t>Problem formulation </a:t>
            </a:r>
            <a:r>
              <a:rPr lang="en-GB" sz="2400" dirty="0">
                <a:latin typeface="Times-Roman"/>
              </a:rPr>
              <a:t>is the process of deciding what </a:t>
            </a:r>
            <a:r>
              <a:rPr lang="en-GB" sz="2400" dirty="0" smtClean="0">
                <a:latin typeface="Times-Roman"/>
              </a:rPr>
              <a:t>actions and </a:t>
            </a:r>
            <a:r>
              <a:rPr lang="en-GB" sz="2400" dirty="0">
                <a:latin typeface="Times-Roman"/>
              </a:rPr>
              <a:t>states to consider, given a goal</a:t>
            </a:r>
            <a:r>
              <a:rPr lang="en-GB" sz="2400" dirty="0" smtClean="0">
                <a:latin typeface="Times-Roman"/>
              </a:rPr>
              <a:t>.</a:t>
            </a:r>
          </a:p>
          <a:p>
            <a:pPr marL="114300" indent="0" algn="just">
              <a:buNone/>
            </a:pPr>
            <a:r>
              <a:rPr lang="en-GB" sz="2400" dirty="0"/>
              <a:t>Take a problem as input and return a solution in the </a:t>
            </a:r>
            <a:r>
              <a:rPr lang="en-GB" sz="2400" dirty="0" smtClean="0"/>
              <a:t>form of </a:t>
            </a:r>
            <a:r>
              <a:rPr lang="en-GB" sz="2400" dirty="0"/>
              <a:t>an action sequence</a:t>
            </a:r>
          </a:p>
          <a:p>
            <a:pPr marL="114300" indent="0">
              <a:buNone/>
            </a:pPr>
            <a:r>
              <a:rPr lang="en-GB" sz="2400" dirty="0"/>
              <a:t>– Formulate → Search → Execution</a:t>
            </a:r>
            <a:endParaRPr lang="en-GB" sz="2400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3687167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 simplified road map of part of Romania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76962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14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924800" cy="1325562"/>
          </a:xfrm>
        </p:spPr>
        <p:txBody>
          <a:bodyPr/>
          <a:lstStyle/>
          <a:p>
            <a:pPr algn="just"/>
            <a:r>
              <a:rPr lang="en-GB" sz="2000" dirty="0"/>
              <a:t>A simple problem-solving agent. It first formulates a goal and a problem</a:t>
            </a:r>
            <a:r>
              <a:rPr lang="en-GB" sz="2000" dirty="0" smtClean="0"/>
              <a:t>, searches </a:t>
            </a:r>
            <a:r>
              <a:rPr lang="en-GB" sz="2000" dirty="0"/>
              <a:t>for a sequence of actions that would solve the problem, and then executes the </a:t>
            </a:r>
            <a:r>
              <a:rPr lang="en-GB" sz="2000" dirty="0" smtClean="0"/>
              <a:t>actions one </a:t>
            </a:r>
            <a:r>
              <a:rPr lang="en-GB" sz="2000" dirty="0"/>
              <a:t>at a time. When this is complete, it formulates another goal and starts over.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8077199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445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ArialMT"/>
              </a:rPr>
              <a:t>The task environment is</a:t>
            </a:r>
            <a:br>
              <a:rPr lang="en-GB" sz="3200" dirty="0">
                <a:latin typeface="ArialMT"/>
              </a:rPr>
            </a:b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7620000" cy="533400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GB" sz="2800" dirty="0" smtClean="0">
                <a:latin typeface="ArialMT"/>
              </a:rPr>
              <a:t>– </a:t>
            </a:r>
            <a:r>
              <a:rPr lang="en-GB" sz="2800" dirty="0">
                <a:latin typeface="ArialMT"/>
              </a:rPr>
              <a:t>Static</a:t>
            </a:r>
          </a:p>
          <a:p>
            <a:pPr marL="114300" indent="0">
              <a:buNone/>
            </a:pPr>
            <a:r>
              <a:rPr lang="en-GB" sz="2400" dirty="0">
                <a:latin typeface="ArialMT"/>
              </a:rPr>
              <a:t>• The environment will not change when formulating and solving </a:t>
            </a:r>
            <a:r>
              <a:rPr lang="en-GB" sz="2400" dirty="0" smtClean="0">
                <a:latin typeface="ArialMT"/>
              </a:rPr>
              <a:t>the problem</a:t>
            </a:r>
            <a:endParaRPr lang="en-GB" sz="2400" dirty="0">
              <a:latin typeface="ArialMT"/>
            </a:endParaRPr>
          </a:p>
          <a:p>
            <a:pPr marL="114300" indent="0">
              <a:buNone/>
            </a:pPr>
            <a:r>
              <a:rPr lang="en-GB" sz="2800" dirty="0">
                <a:latin typeface="ArialMT"/>
              </a:rPr>
              <a:t>– Observable</a:t>
            </a:r>
          </a:p>
          <a:p>
            <a:pPr marL="114300" indent="0">
              <a:buNone/>
            </a:pPr>
            <a:r>
              <a:rPr lang="en-GB" sz="2400" dirty="0">
                <a:latin typeface="ArialMT"/>
              </a:rPr>
              <a:t>• The initial state and goal state are known</a:t>
            </a:r>
          </a:p>
          <a:p>
            <a:pPr marL="114300" indent="0">
              <a:buNone/>
            </a:pPr>
            <a:r>
              <a:rPr lang="en-GB" sz="2800" dirty="0">
                <a:latin typeface="ArialMT"/>
              </a:rPr>
              <a:t>– Discrete</a:t>
            </a:r>
          </a:p>
          <a:p>
            <a:pPr marL="114300" indent="0">
              <a:buNone/>
            </a:pPr>
            <a:r>
              <a:rPr lang="en-GB" sz="2400" dirty="0">
                <a:latin typeface="ArialMT"/>
              </a:rPr>
              <a:t>• The environment is discrete when </a:t>
            </a:r>
            <a:r>
              <a:rPr lang="en-GB" sz="2400" dirty="0" smtClean="0">
                <a:latin typeface="ArialMT"/>
              </a:rPr>
              <a:t>enumerating alternative courses of </a:t>
            </a:r>
            <a:r>
              <a:rPr lang="en-GB" sz="2400" dirty="0">
                <a:latin typeface="ArialMT"/>
              </a:rPr>
              <a:t>action</a:t>
            </a:r>
          </a:p>
          <a:p>
            <a:pPr marL="114300" indent="0">
              <a:buNone/>
            </a:pPr>
            <a:r>
              <a:rPr lang="en-GB" sz="2800" dirty="0">
                <a:latin typeface="ArialMT"/>
              </a:rPr>
              <a:t>– Deterministic</a:t>
            </a:r>
          </a:p>
          <a:p>
            <a:pPr marL="114300" indent="0">
              <a:buNone/>
            </a:pPr>
            <a:r>
              <a:rPr lang="en-GB" sz="2400" dirty="0">
                <a:latin typeface="ArialMT"/>
              </a:rPr>
              <a:t>• Solution(s) are single sequences of actions</a:t>
            </a:r>
          </a:p>
          <a:p>
            <a:pPr marL="114300" indent="0">
              <a:buNone/>
            </a:pPr>
            <a:r>
              <a:rPr lang="en-GB" sz="2400" dirty="0">
                <a:latin typeface="ArialMT"/>
              </a:rPr>
              <a:t>• Solution(s) are executed without paying attention to the percepts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454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458200" cy="6858000"/>
          </a:xfrm>
        </p:spPr>
        <p:txBody>
          <a:bodyPr>
            <a:normAutofit lnSpcReduction="10000"/>
          </a:bodyPr>
          <a:lstStyle/>
          <a:p>
            <a:pPr marL="114300" indent="0" algn="just">
              <a:buNone/>
            </a:pPr>
            <a:r>
              <a:rPr lang="en-GB" sz="2400" dirty="0">
                <a:latin typeface="Times-Roman"/>
              </a:rPr>
              <a:t>The process </a:t>
            </a:r>
            <a:r>
              <a:rPr lang="en-GB" sz="2400" dirty="0" smtClean="0">
                <a:latin typeface="Times-Roman"/>
              </a:rPr>
              <a:t>of </a:t>
            </a:r>
            <a:r>
              <a:rPr lang="en-GB" sz="2400" dirty="0">
                <a:latin typeface="Times-Roman"/>
              </a:rPr>
              <a:t>looking for a sequence of actions that reaches the goal is called </a:t>
            </a:r>
            <a:r>
              <a:rPr lang="en-GB" sz="2400" b="1" dirty="0" smtClean="0">
                <a:latin typeface="Times-Bold"/>
              </a:rPr>
              <a:t>search</a:t>
            </a:r>
          </a:p>
          <a:p>
            <a:pPr marL="114300" indent="0" algn="just">
              <a:buNone/>
            </a:pPr>
            <a:r>
              <a:rPr lang="en-GB" sz="2400" dirty="0">
                <a:latin typeface="Times-Roman"/>
              </a:rPr>
              <a:t>A search algorithm takes a problem as input and returns a </a:t>
            </a:r>
            <a:r>
              <a:rPr lang="en-GB" sz="2400" b="1" dirty="0">
                <a:latin typeface="Times-Bold"/>
              </a:rPr>
              <a:t>solution </a:t>
            </a:r>
            <a:r>
              <a:rPr lang="en-GB" sz="2400" dirty="0">
                <a:latin typeface="Times-Roman"/>
              </a:rPr>
              <a:t>in the form of an </a:t>
            </a:r>
            <a:r>
              <a:rPr lang="en-GB" sz="2400" dirty="0" smtClean="0">
                <a:latin typeface="Times-Roman"/>
              </a:rPr>
              <a:t>action sequence</a:t>
            </a:r>
            <a:r>
              <a:rPr lang="en-GB" sz="2400" dirty="0">
                <a:latin typeface="Times-Roman"/>
              </a:rPr>
              <a:t>. Once a solution is found, the actions it recommends can be carried out. </a:t>
            </a:r>
            <a:r>
              <a:rPr lang="en-GB" sz="2400" dirty="0" smtClean="0">
                <a:latin typeface="Times-Roman"/>
              </a:rPr>
              <a:t>This is </a:t>
            </a:r>
            <a:r>
              <a:rPr lang="en-GB" sz="2400" dirty="0">
                <a:latin typeface="Times-Roman"/>
              </a:rPr>
              <a:t>called the </a:t>
            </a:r>
            <a:r>
              <a:rPr lang="en-GB" sz="2400" b="1" dirty="0">
                <a:latin typeface="Times-Bold"/>
              </a:rPr>
              <a:t>execution </a:t>
            </a:r>
            <a:r>
              <a:rPr lang="en-GB" sz="2400" b="1" dirty="0" smtClean="0">
                <a:latin typeface="Times-Roman"/>
              </a:rPr>
              <a:t>phase</a:t>
            </a:r>
          </a:p>
          <a:p>
            <a:pPr marL="114300" indent="0" algn="just">
              <a:buNone/>
            </a:pPr>
            <a:r>
              <a:rPr lang="en-GB" sz="2800" b="1" dirty="0">
                <a:latin typeface="Times-Roman"/>
              </a:rPr>
              <a:t>Well-defined problems and solutions</a:t>
            </a:r>
          </a:p>
          <a:p>
            <a:pPr marL="114300" indent="0" algn="just">
              <a:buNone/>
            </a:pPr>
            <a:r>
              <a:rPr lang="en-GB" sz="2400" dirty="0" smtClean="0">
                <a:latin typeface="Times-Roman"/>
              </a:rPr>
              <a:t>A </a:t>
            </a:r>
            <a:r>
              <a:rPr lang="en-GB" sz="2400" b="1" dirty="0">
                <a:latin typeface="Times-Bold"/>
              </a:rPr>
              <a:t>problem </a:t>
            </a:r>
            <a:r>
              <a:rPr lang="en-GB" sz="2400" dirty="0">
                <a:latin typeface="Times-Roman"/>
              </a:rPr>
              <a:t>can be defined formally by five </a:t>
            </a:r>
            <a:r>
              <a:rPr lang="en-GB" sz="2400" dirty="0" smtClean="0">
                <a:latin typeface="Times-Roman"/>
              </a:rPr>
              <a:t>components:</a:t>
            </a:r>
          </a:p>
          <a:p>
            <a:pPr algn="just"/>
            <a:r>
              <a:rPr lang="en-GB" sz="2400" dirty="0">
                <a:latin typeface="Times-Roman"/>
              </a:rPr>
              <a:t>The </a:t>
            </a:r>
            <a:r>
              <a:rPr lang="en-GB" sz="2400" b="1" dirty="0">
                <a:solidFill>
                  <a:srgbClr val="FF0000"/>
                </a:solidFill>
                <a:latin typeface="Times-Bold"/>
              </a:rPr>
              <a:t>initial state </a:t>
            </a:r>
            <a:r>
              <a:rPr lang="en-GB" sz="2400" dirty="0">
                <a:latin typeface="Times-Roman"/>
              </a:rPr>
              <a:t>that the agent starts in</a:t>
            </a:r>
            <a:r>
              <a:rPr lang="en-GB" sz="2400" dirty="0" smtClean="0">
                <a:latin typeface="Times-Roman"/>
              </a:rPr>
              <a:t>.</a:t>
            </a:r>
          </a:p>
          <a:p>
            <a:pPr algn="just"/>
            <a:r>
              <a:rPr lang="en-GB" sz="2400" b="1" dirty="0" smtClean="0">
                <a:solidFill>
                  <a:srgbClr val="FF0000"/>
                </a:solidFill>
                <a:latin typeface="Times-Roman"/>
              </a:rPr>
              <a:t>Actions</a:t>
            </a:r>
            <a:r>
              <a:rPr lang="en-GB" sz="2400" dirty="0" smtClean="0">
                <a:latin typeface="Times-Roman"/>
              </a:rPr>
              <a:t>  A description </a:t>
            </a:r>
            <a:r>
              <a:rPr lang="en-GB" sz="2400" dirty="0">
                <a:latin typeface="Times-Roman"/>
              </a:rPr>
              <a:t>of the possible actions </a:t>
            </a:r>
            <a:r>
              <a:rPr lang="en-GB" sz="2400" dirty="0" smtClean="0">
                <a:latin typeface="Times-Roman"/>
              </a:rPr>
              <a:t>available </a:t>
            </a:r>
            <a:r>
              <a:rPr lang="en-GB" sz="2400" dirty="0">
                <a:latin typeface="Times-Roman"/>
              </a:rPr>
              <a:t>to the agent(functions that map states to other states)</a:t>
            </a:r>
            <a:endParaRPr lang="en-GB" sz="2400" dirty="0" smtClean="0">
              <a:latin typeface="Times-Roman"/>
            </a:endParaRPr>
          </a:p>
          <a:p>
            <a:pPr algn="just"/>
            <a:r>
              <a:rPr lang="en-GB" sz="2400" dirty="0">
                <a:latin typeface="Times-Roman"/>
              </a:rPr>
              <a:t>A description of what each action does; the formal name for this is the </a:t>
            </a:r>
            <a:r>
              <a:rPr lang="en-GB" sz="2400" b="1" dirty="0" smtClean="0">
                <a:solidFill>
                  <a:srgbClr val="FF0000"/>
                </a:solidFill>
                <a:latin typeface="Times-Roman"/>
              </a:rPr>
              <a:t>transition model</a:t>
            </a:r>
          </a:p>
          <a:p>
            <a:pPr algn="just"/>
            <a:r>
              <a:rPr lang="en-GB" sz="2400" dirty="0" smtClean="0">
                <a:latin typeface="Times-Roman"/>
              </a:rPr>
              <a:t>The </a:t>
            </a:r>
            <a:r>
              <a:rPr lang="en-GB" sz="2400" b="1" dirty="0">
                <a:solidFill>
                  <a:srgbClr val="FF0000"/>
                </a:solidFill>
                <a:latin typeface="Times-Bold"/>
              </a:rPr>
              <a:t>goal </a:t>
            </a:r>
            <a:r>
              <a:rPr lang="en-GB" sz="2400" b="1" dirty="0" smtClean="0">
                <a:solidFill>
                  <a:srgbClr val="FF0000"/>
                </a:solidFill>
                <a:latin typeface="Times-Bold"/>
              </a:rPr>
              <a:t>test</a:t>
            </a:r>
            <a:r>
              <a:rPr lang="en-GB" sz="2400" dirty="0" smtClean="0">
                <a:latin typeface="Times-Roman"/>
              </a:rPr>
              <a:t>, </a:t>
            </a:r>
            <a:r>
              <a:rPr lang="en-GB" sz="2400" dirty="0">
                <a:latin typeface="Times-Roman"/>
              </a:rPr>
              <a:t>which determines whether a given state is a goal state.</a:t>
            </a:r>
            <a:endParaRPr lang="en-GB" sz="2400" dirty="0" smtClean="0">
              <a:latin typeface="Times-Roman"/>
            </a:endParaRPr>
          </a:p>
          <a:p>
            <a:pPr algn="just"/>
            <a:r>
              <a:rPr lang="en-GB" sz="2400" dirty="0">
                <a:latin typeface="Times-Roman"/>
              </a:rPr>
              <a:t>A </a:t>
            </a:r>
            <a:r>
              <a:rPr lang="en-GB" sz="2400" b="1" dirty="0">
                <a:solidFill>
                  <a:srgbClr val="FF0000"/>
                </a:solidFill>
                <a:latin typeface="Times-Bold"/>
              </a:rPr>
              <a:t>path </a:t>
            </a:r>
            <a:r>
              <a:rPr lang="en-GB" sz="2400" b="1" dirty="0" smtClean="0">
                <a:solidFill>
                  <a:srgbClr val="FF0000"/>
                </a:solidFill>
                <a:latin typeface="Times-Bold"/>
              </a:rPr>
              <a:t>cost </a:t>
            </a:r>
            <a:r>
              <a:rPr lang="en-GB" sz="2400" dirty="0">
                <a:latin typeface="Times-Roman"/>
              </a:rPr>
              <a:t>function that assigns a numeric cost to each path</a:t>
            </a:r>
            <a:r>
              <a:rPr lang="en-GB" sz="2400" dirty="0" smtClean="0">
                <a:latin typeface="Times-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989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7620000" cy="563562"/>
          </a:xfrm>
        </p:spPr>
        <p:txBody>
          <a:bodyPr/>
          <a:lstStyle/>
          <a:p>
            <a:r>
              <a:rPr lang="en-GB" dirty="0"/>
              <a:t>What is a Solution?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7924800" cy="6248400"/>
          </a:xfrm>
        </p:spPr>
        <p:txBody>
          <a:bodyPr>
            <a:normAutofit fontScale="92500"/>
          </a:bodyPr>
          <a:lstStyle/>
          <a:p>
            <a:pPr marL="114300" indent="0" algn="just">
              <a:buNone/>
            </a:pPr>
            <a:r>
              <a:rPr lang="en-GB" sz="2400" dirty="0" smtClean="0"/>
              <a:t>A </a:t>
            </a:r>
            <a:r>
              <a:rPr lang="en-GB" sz="2400" dirty="0"/>
              <a:t>sequence of actions that will transform the </a:t>
            </a:r>
            <a:r>
              <a:rPr lang="en-GB" sz="2400" dirty="0" smtClean="0"/>
              <a:t>initial state(s</a:t>
            </a:r>
            <a:r>
              <a:rPr lang="en-GB" sz="2400" dirty="0"/>
              <a:t>) into the goal state(s</a:t>
            </a:r>
            <a:r>
              <a:rPr lang="en-GB" sz="2400" dirty="0" smtClean="0"/>
              <a:t>),</a:t>
            </a:r>
          </a:p>
          <a:p>
            <a:pPr marL="114300" indent="0" algn="just">
              <a:buNone/>
            </a:pPr>
            <a:r>
              <a:rPr lang="en-GB" sz="2400" dirty="0"/>
              <a:t>– A path from one of the initial states to one of the goal states</a:t>
            </a:r>
          </a:p>
          <a:p>
            <a:pPr marL="114300" indent="0" algn="just">
              <a:buNone/>
            </a:pPr>
            <a:r>
              <a:rPr lang="en-GB" sz="2400" dirty="0"/>
              <a:t>– </a:t>
            </a:r>
            <a:r>
              <a:rPr lang="en-GB" sz="2400" dirty="0" smtClean="0"/>
              <a:t>Optimal </a:t>
            </a:r>
            <a:r>
              <a:rPr lang="en-GB" sz="2400" dirty="0"/>
              <a:t>solution: e.g., the path with lowest path </a:t>
            </a:r>
            <a:r>
              <a:rPr lang="en-GB" sz="2400" dirty="0" smtClean="0"/>
              <a:t>cost</a:t>
            </a:r>
          </a:p>
          <a:p>
            <a:pPr marL="114300" indent="0" algn="ctr">
              <a:buNone/>
            </a:pPr>
            <a:r>
              <a:rPr lang="en-GB" sz="2600" dirty="0">
                <a:solidFill>
                  <a:srgbClr val="FF0000"/>
                </a:solidFill>
                <a:latin typeface="ArialMT"/>
              </a:rPr>
              <a:t>Example: Romania</a:t>
            </a:r>
          </a:p>
          <a:p>
            <a:pPr marL="114300" indent="0">
              <a:buNone/>
            </a:pPr>
            <a:r>
              <a:rPr lang="en-GB" sz="2600" dirty="0">
                <a:latin typeface="ArialMT"/>
              </a:rPr>
              <a:t>• Current town/state</a:t>
            </a:r>
          </a:p>
          <a:p>
            <a:pPr marL="114300" indent="0">
              <a:buNone/>
            </a:pPr>
            <a:r>
              <a:rPr lang="en-GB" sz="2600" dirty="0">
                <a:latin typeface="ArialMT"/>
              </a:rPr>
              <a:t>– </a:t>
            </a:r>
            <a:r>
              <a:rPr lang="en-GB" dirty="0">
                <a:latin typeface="ArialMT"/>
              </a:rPr>
              <a:t>Arad</a:t>
            </a:r>
          </a:p>
          <a:p>
            <a:pPr marL="114300" indent="0">
              <a:buNone/>
            </a:pPr>
            <a:r>
              <a:rPr lang="en-GB" sz="2600" dirty="0">
                <a:latin typeface="ArialMT"/>
              </a:rPr>
              <a:t>• Formulated Goal</a:t>
            </a:r>
          </a:p>
          <a:p>
            <a:pPr marL="114300" indent="0">
              <a:buNone/>
            </a:pPr>
            <a:r>
              <a:rPr lang="en-GB" sz="2600" dirty="0">
                <a:latin typeface="ArialMT"/>
              </a:rPr>
              <a:t>– </a:t>
            </a:r>
            <a:r>
              <a:rPr lang="en-GB" dirty="0">
                <a:latin typeface="ArialMT"/>
              </a:rPr>
              <a:t>Bucharest</a:t>
            </a:r>
          </a:p>
          <a:p>
            <a:pPr marL="114300" indent="0">
              <a:buNone/>
            </a:pPr>
            <a:r>
              <a:rPr lang="en-GB" sz="2600" dirty="0">
                <a:latin typeface="ArialMT"/>
              </a:rPr>
              <a:t>• Formulated Problem</a:t>
            </a:r>
          </a:p>
          <a:p>
            <a:pPr marL="114300" indent="0">
              <a:buNone/>
            </a:pPr>
            <a:r>
              <a:rPr lang="en-GB" sz="2600" dirty="0">
                <a:latin typeface="ArialMT"/>
              </a:rPr>
              <a:t>– </a:t>
            </a:r>
            <a:r>
              <a:rPr lang="en-GB" dirty="0">
                <a:latin typeface="ArialMT"/>
              </a:rPr>
              <a:t>World states: various cites</a:t>
            </a:r>
          </a:p>
          <a:p>
            <a:pPr marL="114300" indent="0">
              <a:buNone/>
            </a:pPr>
            <a:r>
              <a:rPr lang="en-GB" dirty="0">
                <a:latin typeface="ArialMT"/>
              </a:rPr>
              <a:t>– Actions: drive between cities</a:t>
            </a:r>
          </a:p>
          <a:p>
            <a:pPr marL="114300" indent="0">
              <a:buNone/>
            </a:pPr>
            <a:r>
              <a:rPr lang="en-GB" sz="2600" dirty="0">
                <a:latin typeface="ArialMT"/>
              </a:rPr>
              <a:t>• Formulated Solution</a:t>
            </a:r>
          </a:p>
          <a:p>
            <a:pPr marL="114300" indent="0">
              <a:buNone/>
            </a:pPr>
            <a:r>
              <a:rPr lang="en-GB" sz="2600" dirty="0">
                <a:latin typeface="ArialMT"/>
              </a:rPr>
              <a:t>– </a:t>
            </a:r>
            <a:r>
              <a:rPr lang="en-GB" dirty="0">
                <a:latin typeface="ArialMT"/>
              </a:rPr>
              <a:t>Sequences of cities</a:t>
            </a:r>
            <a:r>
              <a:rPr lang="en-GB" dirty="0" smtClean="0">
                <a:latin typeface="ArialMT"/>
              </a:rPr>
              <a:t>, e.g</a:t>
            </a:r>
            <a:r>
              <a:rPr lang="en-GB" dirty="0">
                <a:latin typeface="ArialMT"/>
              </a:rPr>
              <a:t>., Arad </a:t>
            </a:r>
            <a:r>
              <a:rPr lang="en-GB" dirty="0">
                <a:latin typeface="PMingLiU"/>
              </a:rPr>
              <a:t>→ </a:t>
            </a:r>
            <a:r>
              <a:rPr lang="en-GB" dirty="0">
                <a:latin typeface="ArialMT"/>
              </a:rPr>
              <a:t>Sibiu </a:t>
            </a:r>
            <a:r>
              <a:rPr lang="en-GB" dirty="0">
                <a:latin typeface="PMingLiU"/>
              </a:rPr>
              <a:t>→ </a:t>
            </a:r>
            <a:r>
              <a:rPr lang="en-GB" dirty="0" err="1">
                <a:latin typeface="ArialMT"/>
              </a:rPr>
              <a:t>Rimnicu</a:t>
            </a:r>
            <a:r>
              <a:rPr lang="en-GB" dirty="0">
                <a:latin typeface="ArialMT"/>
              </a:rPr>
              <a:t> </a:t>
            </a:r>
            <a:r>
              <a:rPr lang="en-GB" dirty="0" err="1">
                <a:latin typeface="ArialMT"/>
              </a:rPr>
              <a:t>Vilcea</a:t>
            </a:r>
            <a:r>
              <a:rPr lang="en-GB" dirty="0">
                <a:latin typeface="ArialMT"/>
              </a:rPr>
              <a:t> </a:t>
            </a:r>
            <a:r>
              <a:rPr lang="en-GB" dirty="0">
                <a:latin typeface="PMingLiU"/>
              </a:rPr>
              <a:t>→ </a:t>
            </a:r>
            <a:r>
              <a:rPr lang="en-GB" dirty="0">
                <a:latin typeface="ArialMT"/>
              </a:rPr>
              <a:t>Pitesti </a:t>
            </a:r>
            <a:r>
              <a:rPr lang="en-GB" dirty="0">
                <a:latin typeface="PMingLiU"/>
              </a:rPr>
              <a:t>→</a:t>
            </a:r>
            <a:r>
              <a:rPr lang="en-GB" dirty="0">
                <a:latin typeface="ArialMT"/>
              </a:rPr>
              <a:t>Bucharest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3697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855"/>
            <a:ext cx="7620000" cy="748145"/>
          </a:xfrm>
        </p:spPr>
        <p:txBody>
          <a:bodyPr/>
          <a:lstStyle/>
          <a:p>
            <a:r>
              <a:rPr lang="en-GB" dirty="0"/>
              <a:t>Example Toy Problems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8458200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762000" y="3419050"/>
            <a:ext cx="2040082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2200" b="1" dirty="0">
                <a:solidFill>
                  <a:srgbClr val="2F2B20"/>
                </a:solidFill>
              </a:rPr>
              <a:t>Actions</a:t>
            </a:r>
          </a:p>
        </p:txBody>
      </p:sp>
    </p:spTree>
    <p:extLst>
      <p:ext uri="{BB962C8B-B14F-4D97-AF65-F5344CB8AC3E}">
        <p14:creationId xmlns:p14="http://schemas.microsoft.com/office/powerpoint/2010/main" val="3557810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214745"/>
            <a:ext cx="8458199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124200"/>
            <a:ext cx="2286000" cy="509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1783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4582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955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Problems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7620000" cy="53340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400" dirty="0" smtClean="0"/>
              <a:t>• </a:t>
            </a:r>
            <a:r>
              <a:rPr lang="en-GB" sz="2400" dirty="0"/>
              <a:t>Real-world Problems</a:t>
            </a:r>
          </a:p>
          <a:p>
            <a:pPr marL="114300" indent="0">
              <a:buNone/>
            </a:pPr>
            <a:r>
              <a:rPr lang="en-GB" sz="2400" dirty="0"/>
              <a:t>– Route-finding problem/touring problem</a:t>
            </a:r>
          </a:p>
          <a:p>
            <a:pPr marL="114300" indent="0">
              <a:buNone/>
            </a:pPr>
            <a:r>
              <a:rPr lang="en-GB" sz="2400" dirty="0"/>
              <a:t>– Traveling salesperson problem</a:t>
            </a:r>
          </a:p>
          <a:p>
            <a:pPr marL="114300" indent="0">
              <a:buNone/>
            </a:pPr>
            <a:r>
              <a:rPr lang="en-GB" sz="2400" dirty="0"/>
              <a:t>– VLSI layout</a:t>
            </a:r>
          </a:p>
          <a:p>
            <a:pPr marL="114300" indent="0">
              <a:buNone/>
            </a:pPr>
            <a:r>
              <a:rPr lang="en-GB" sz="2400" dirty="0"/>
              <a:t>– Robot navigation</a:t>
            </a:r>
          </a:p>
          <a:p>
            <a:pPr marL="114300" indent="0">
              <a:buNone/>
            </a:pPr>
            <a:r>
              <a:rPr lang="en-GB" sz="2400" dirty="0"/>
              <a:t>– Automatic assembly sequencing</a:t>
            </a:r>
          </a:p>
          <a:p>
            <a:pPr marL="114300" indent="0">
              <a:buNone/>
            </a:pPr>
            <a:r>
              <a:rPr lang="en-GB" sz="2400" dirty="0"/>
              <a:t>– Speech recognition</a:t>
            </a:r>
          </a:p>
          <a:p>
            <a:pPr marL="114300" indent="0">
              <a:buNone/>
            </a:pPr>
            <a:r>
              <a:rPr lang="en-GB" sz="2400" dirty="0"/>
              <a:t>– …..</a:t>
            </a:r>
          </a:p>
        </p:txBody>
      </p:sp>
    </p:spTree>
    <p:extLst>
      <p:ext uri="{BB962C8B-B14F-4D97-AF65-F5344CB8AC3E}">
        <p14:creationId xmlns:p14="http://schemas.microsoft.com/office/powerpoint/2010/main" val="423524968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9558</TotalTime>
  <Words>473</Words>
  <Application>Microsoft Office PowerPoint</Application>
  <PresentationFormat>On-screen Show (4:3)</PresentationFormat>
  <Paragraphs>57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Office Theme</vt:lpstr>
      <vt:lpstr>Adjacency</vt:lpstr>
      <vt:lpstr>PowerPoint Presentation</vt:lpstr>
      <vt:lpstr>Problem-Solving Agents</vt:lpstr>
      <vt:lpstr>A simplified road map of part of Romania</vt:lpstr>
      <vt:lpstr>A simple problem-solving agent. It first formulates a goal and a problem, searches for a sequence of actions that would solve the problem, and then executes the actions one at a time. When this is complete, it formulates another goal and starts over.</vt:lpstr>
      <vt:lpstr>The task environment is </vt:lpstr>
      <vt:lpstr>PowerPoint Presentation</vt:lpstr>
      <vt:lpstr>What is a Solution? </vt:lpstr>
      <vt:lpstr>Example Toy Problems</vt:lpstr>
      <vt:lpstr>PowerPoint Presentation</vt:lpstr>
      <vt:lpstr>PowerPoint Presentation</vt:lpstr>
      <vt:lpstr>Example Problems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 lec.Najwan Abed</dc:title>
  <dc:creator>najtena2003@outlook.com</dc:creator>
  <cp:lastModifiedBy>Maher</cp:lastModifiedBy>
  <cp:revision>5</cp:revision>
  <dcterms:created xsi:type="dcterms:W3CDTF">2020-03-18T20:12:50Z</dcterms:created>
  <dcterms:modified xsi:type="dcterms:W3CDTF">2021-12-11T19:53:06Z</dcterms:modified>
</cp:coreProperties>
</file>