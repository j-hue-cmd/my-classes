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61" r:id="rId4"/>
    <p:sldId id="262" r:id="rId5"/>
    <p:sldId id="257" r:id="rId6"/>
    <p:sldId id="258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19A60-419D-48A9-8825-96E3D7117874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F2587-B772-451A-AC01-518ECE3F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62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DFEFF-3E22-4D78-8715-7D96414B0A02}" type="slidenum">
              <a:rPr lang="en-GB" smtClean="0">
                <a:solidFill>
                  <a:prstClr val="black"/>
                </a:solidFill>
              </a:rPr>
              <a:pPr/>
              <a:t>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33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54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24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42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16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6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47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0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11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65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58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909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22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4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45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87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3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64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97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8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31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68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7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65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6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</p:spPr>
        <p:txBody>
          <a:bodyPr/>
          <a:lstStyle/>
          <a:p>
            <a:r>
              <a:rPr lang="en-GB" dirty="0" smtClean="0"/>
              <a:t>Lecture eight </a:t>
            </a:r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26" y="692696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8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 Search: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620000" cy="52578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400" dirty="0" smtClean="0"/>
              <a:t>In </a:t>
            </a:r>
            <a:r>
              <a:rPr lang="en-GB" sz="2400" dirty="0"/>
              <a:t>state space search, heuristics are formalized as rules for choosing those branches in a state space that are most likely to lead to acceptable problem solution.</a:t>
            </a:r>
          </a:p>
          <a:p>
            <a:pPr marL="114300" indent="0" algn="just">
              <a:buNone/>
            </a:pPr>
            <a:r>
              <a:rPr lang="en-GB" sz="2400" dirty="0"/>
              <a:t>A.I problem solves employ heuristics in two basic situations:</a:t>
            </a:r>
          </a:p>
          <a:p>
            <a:pPr marL="114300" indent="0" algn="just">
              <a:buNone/>
            </a:pPr>
            <a:r>
              <a:rPr lang="en-GB" sz="2400" dirty="0"/>
              <a:t>1- A problem may not have an exact solution because of inherent ambiguities in the problem statement or available data. Vision systems and medical diagnoses systems are of this kind.</a:t>
            </a:r>
          </a:p>
          <a:p>
            <a:pPr marL="114300" indent="0" algn="just">
              <a:buNone/>
            </a:pPr>
            <a:r>
              <a:rPr lang="en-GB" sz="2400" dirty="0"/>
              <a:t>2- A problem may have an exact solution, but the computational cost of finding it may be prohibitive.</a:t>
            </a:r>
          </a:p>
          <a:p>
            <a:pPr marL="114300" indent="0" algn="just">
              <a:buNone/>
            </a:pPr>
            <a:r>
              <a:rPr lang="en-GB" sz="2400" dirty="0"/>
              <a:t>Heuristics can lead a search algorithm to a suboptimal solution or fail to find any solution.</a:t>
            </a:r>
          </a:p>
        </p:txBody>
      </p:sp>
    </p:spTree>
    <p:extLst>
      <p:ext uri="{BB962C8B-B14F-4D97-AF65-F5344CB8AC3E}">
        <p14:creationId xmlns:p14="http://schemas.microsoft.com/office/powerpoint/2010/main" val="154309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924800" cy="6477000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GB" sz="2400" b="1" i="1" dirty="0"/>
              <a:t>Heuristic search principle:</a:t>
            </a:r>
          </a:p>
          <a:p>
            <a:pPr marL="114300" indent="0" algn="just">
              <a:buNone/>
            </a:pPr>
            <a:r>
              <a:rPr lang="en-GB" dirty="0"/>
              <a:t>To implement the heuristic search we need:</a:t>
            </a:r>
          </a:p>
          <a:p>
            <a:pPr marL="114300" indent="0" algn="just">
              <a:buNone/>
            </a:pPr>
            <a:r>
              <a:rPr lang="en-GB" dirty="0"/>
              <a:t>1- Heuristic function.</a:t>
            </a:r>
          </a:p>
          <a:p>
            <a:pPr marL="114300" indent="0" algn="just">
              <a:buNone/>
            </a:pPr>
            <a:r>
              <a:rPr lang="en-GB" dirty="0"/>
              <a:t>2- Algorithm.</a:t>
            </a:r>
          </a:p>
          <a:p>
            <a:pPr marL="114300" indent="0" algn="just">
              <a:buNone/>
            </a:pPr>
            <a:endParaRPr lang="en-GB" dirty="0"/>
          </a:p>
          <a:p>
            <a:pPr marL="114300" indent="0" algn="just">
              <a:buNone/>
            </a:pPr>
            <a:r>
              <a:rPr lang="en-GB" b="1" dirty="0"/>
              <a:t>Heuristic Function </a:t>
            </a:r>
            <a:r>
              <a:rPr lang="en-GB" dirty="0"/>
              <a:t>may be defined as the time needed to reach the goal.</a:t>
            </a:r>
          </a:p>
          <a:p>
            <a:pPr marL="114300" indent="0" algn="just">
              <a:buNone/>
            </a:pPr>
            <a:endParaRPr lang="en-GB" dirty="0"/>
          </a:p>
          <a:p>
            <a:pPr marL="114300" indent="0" algn="just">
              <a:buNone/>
            </a:pPr>
            <a:r>
              <a:rPr lang="en-GB" sz="2400" b="1" dirty="0"/>
              <a:t>Heuristic Search Algorithms:</a:t>
            </a:r>
          </a:p>
          <a:p>
            <a:pPr marL="114300" indent="0" algn="just">
              <a:buNone/>
            </a:pPr>
            <a:r>
              <a:rPr lang="en-GB" dirty="0"/>
              <a:t>The strategy used for controlling a search is often critical in determining how effective are heuristic function is solving a particular problem.</a:t>
            </a:r>
          </a:p>
          <a:p>
            <a:pPr marL="114300" indent="0" algn="just">
              <a:buNone/>
            </a:pPr>
            <a:r>
              <a:rPr lang="en-GB" sz="2400" b="1" i="1" dirty="0"/>
              <a:t>Hill Climbing:</a:t>
            </a:r>
          </a:p>
          <a:p>
            <a:pPr marL="114300" indent="0" algn="just">
              <a:buNone/>
            </a:pPr>
            <a:r>
              <a:rPr lang="en-GB" dirty="0"/>
              <a:t>Hill-climbing strategies expand the current state in the search and evaluate its children. The best child is selected for further expansion. Search halts when it reaches a state that is better than any of its children. </a:t>
            </a:r>
          </a:p>
          <a:p>
            <a:pPr marL="11430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272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Problems With Hill </a:t>
            </a:r>
            <a:r>
              <a:rPr lang="en-GB" sz="3200" dirty="0" smtClean="0"/>
              <a:t>Climbing </a:t>
            </a:r>
            <a:r>
              <a:rPr lang="en-GB" sz="3200" dirty="0"/>
              <a:t>Search: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305800" cy="57150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dirty="0" smtClean="0"/>
              <a:t>Hill </a:t>
            </a:r>
            <a:r>
              <a:rPr lang="en-GB" dirty="0"/>
              <a:t>Climbing may fail due to one or more of the following reasons:</a:t>
            </a:r>
          </a:p>
          <a:p>
            <a:pPr marL="114300" indent="0" algn="just">
              <a:buNone/>
            </a:pPr>
            <a:r>
              <a:rPr lang="en-GB" dirty="0"/>
              <a:t>1- A local maxima.</a:t>
            </a:r>
          </a:p>
          <a:p>
            <a:pPr marL="114300" indent="0" algn="just">
              <a:buNone/>
            </a:pPr>
            <a:r>
              <a:rPr lang="en-GB" dirty="0"/>
              <a:t>2- Plateau.</a:t>
            </a:r>
          </a:p>
          <a:p>
            <a:pPr marL="114300" indent="0" algn="just">
              <a:buNone/>
            </a:pPr>
            <a:r>
              <a:rPr lang="en-GB" dirty="0"/>
              <a:t>3- Ridge.</a:t>
            </a:r>
          </a:p>
          <a:p>
            <a:pPr marL="114300" indent="0" algn="just">
              <a:buNone/>
            </a:pPr>
            <a:r>
              <a:rPr lang="en-GB" dirty="0"/>
              <a:t>A local maxima is a state that is better than all of its </a:t>
            </a:r>
            <a:r>
              <a:rPr lang="en-GB" dirty="0" err="1"/>
              <a:t>neighbors</a:t>
            </a:r>
            <a:r>
              <a:rPr lang="en-GB" dirty="0"/>
              <a:t> but is not better than some other states father away. At local maxima all moves appear to make things worse.</a:t>
            </a:r>
          </a:p>
          <a:p>
            <a:pPr marL="114300" indent="0" algn="just">
              <a:buNone/>
            </a:pPr>
            <a:endParaRPr lang="en-GB" dirty="0"/>
          </a:p>
          <a:p>
            <a:pPr marL="114300" indent="0" algn="just">
              <a:buNone/>
            </a:pPr>
            <a:r>
              <a:rPr lang="en-GB" dirty="0"/>
              <a:t>A Plateau is a flat area of the search space in which a number of states have the same best value. On a plateau, it is not possible to determine the best direction in which to move.</a:t>
            </a:r>
          </a:p>
          <a:p>
            <a:pPr marL="114300" indent="0" algn="just">
              <a:buNone/>
            </a:pPr>
            <a:r>
              <a:rPr lang="en-GB" dirty="0"/>
              <a:t>A ridge is an area of the search space that is higher than surrounding areas, but that cannot be traversed by a single move in any one direction.</a:t>
            </a:r>
          </a:p>
        </p:txBody>
      </p:sp>
    </p:spTree>
    <p:extLst>
      <p:ext uri="{BB962C8B-B14F-4D97-AF65-F5344CB8AC3E}">
        <p14:creationId xmlns:p14="http://schemas.microsoft.com/office/powerpoint/2010/main" val="218558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Possible Solution:</a:t>
            </a:r>
            <a:r>
              <a:rPr lang="en-GB" sz="3200" dirty="0"/>
              <a:t/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620000" cy="51816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400" dirty="0" smtClean="0"/>
              <a:t>1- </a:t>
            </a:r>
            <a:r>
              <a:rPr lang="en-GB" sz="2400" dirty="0"/>
              <a:t>Backtrack to some earlier node and start the search from here. To implement this strategy, maintain a list of all visited nodes and take the next most promising.</a:t>
            </a:r>
          </a:p>
          <a:p>
            <a:pPr marL="114300" indent="0" algn="just">
              <a:buNone/>
            </a:pPr>
            <a:r>
              <a:rPr lang="en-GB" sz="2400" dirty="0"/>
              <a:t>2- Make a jump in some direction to try to get to a new section of the search space. This is a good strategy in dealing with a plateau. This can be done by applying a rule many times.</a:t>
            </a:r>
          </a:p>
          <a:p>
            <a:pPr marL="114300" indent="0" algn="just">
              <a:buNone/>
            </a:pPr>
            <a:r>
              <a:rPr lang="en-GB" sz="2400" dirty="0"/>
              <a:t>3- Apply two or more rules before doing the test. this corresponds to moving in several directions at once. This is a good strategy for dealing with ridges.</a:t>
            </a:r>
          </a:p>
          <a:p>
            <a:pPr marL="114300" indent="0" algn="just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9506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First Search: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GB" dirty="0" smtClean="0"/>
              <a:t>In </a:t>
            </a:r>
            <a:r>
              <a:rPr lang="en-GB" dirty="0"/>
              <a:t>general, heuristic search requires more informed algorithms, this is provided by </a:t>
            </a:r>
            <a:r>
              <a:rPr lang="en-GB" dirty="0" err="1"/>
              <a:t>best_first</a:t>
            </a:r>
            <a:r>
              <a:rPr lang="en-GB" dirty="0"/>
              <a:t> search. </a:t>
            </a:r>
            <a:r>
              <a:rPr lang="en-GB" dirty="0" err="1"/>
              <a:t>Best_first</a:t>
            </a:r>
            <a:r>
              <a:rPr lang="en-GB" dirty="0"/>
              <a:t> search is away of combining the advantage of both </a:t>
            </a:r>
            <a:r>
              <a:rPr lang="en-GB" dirty="0" err="1"/>
              <a:t>depth_first</a:t>
            </a:r>
            <a:r>
              <a:rPr lang="en-GB" dirty="0"/>
              <a:t> and </a:t>
            </a:r>
            <a:r>
              <a:rPr lang="en-GB" dirty="0" err="1"/>
              <a:t>breadth_first</a:t>
            </a:r>
            <a:r>
              <a:rPr lang="en-GB" dirty="0"/>
              <a:t> search into a single method (breadth + evaluation function). </a:t>
            </a:r>
          </a:p>
        </p:txBody>
      </p:sp>
    </p:spTree>
    <p:extLst>
      <p:ext uri="{BB962C8B-B14F-4D97-AF65-F5344CB8AC3E}">
        <p14:creationId xmlns:p14="http://schemas.microsoft.com/office/powerpoint/2010/main" val="221150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I-last ver\BestFS.bmp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15620"/>
            <a:ext cx="5888505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2000" y="685800"/>
            <a:ext cx="716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2F2B20"/>
                </a:solidFill>
              </a:rPr>
              <a:t>Best first search algorithm (with no cost function)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712458" y="4876800"/>
            <a:ext cx="3810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030621" y="5552933"/>
            <a:ext cx="469142" cy="53340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rgbClr val="2F2B20"/>
                </a:solidFill>
              </a:rPr>
              <a:t>I 22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733800"/>
            <a:ext cx="506413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Oval 10"/>
          <p:cNvSpPr/>
          <p:nvPr/>
        </p:nvSpPr>
        <p:spPr>
          <a:xfrm>
            <a:off x="2862642" y="4419600"/>
            <a:ext cx="469142" cy="53340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rgbClr val="2F2B20"/>
                </a:solidFill>
              </a:rPr>
              <a:t>M 42</a:t>
            </a:r>
          </a:p>
        </p:txBody>
      </p:sp>
    </p:spTree>
    <p:extLst>
      <p:ext uri="{BB962C8B-B14F-4D97-AF65-F5344CB8AC3E}">
        <p14:creationId xmlns:p14="http://schemas.microsoft.com/office/powerpoint/2010/main" val="405234243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9929</TotalTime>
  <Words>520</Words>
  <Application>Microsoft Office PowerPoint</Application>
  <PresentationFormat>On-screen Show (4:3)</PresentationFormat>
  <Paragraphs>37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Adjacency</vt:lpstr>
      <vt:lpstr>PowerPoint Presentation</vt:lpstr>
      <vt:lpstr>Heuristic Search: </vt:lpstr>
      <vt:lpstr>PowerPoint Presentation</vt:lpstr>
      <vt:lpstr>Problems With Hill Climbing Search: </vt:lpstr>
      <vt:lpstr>Possible Solution: </vt:lpstr>
      <vt:lpstr>Best First Search: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lec.Najwan Abed</dc:title>
  <dc:creator>najtena2003@outlook.com</dc:creator>
  <cp:lastModifiedBy>Maher</cp:lastModifiedBy>
  <cp:revision>4</cp:revision>
  <dcterms:created xsi:type="dcterms:W3CDTF">2020-03-18T20:17:23Z</dcterms:created>
  <dcterms:modified xsi:type="dcterms:W3CDTF">2022-01-08T17:28:22Z</dcterms:modified>
</cp:coreProperties>
</file>