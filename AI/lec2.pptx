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96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57A25-839F-4317-B6C9-51ABF6FE8582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B8B26-5950-4DCF-A8C4-CECAAD56E9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530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DFEFF-3E22-4D78-8715-7D96414B0A02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57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07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08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5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10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69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65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55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78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24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90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15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3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64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66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80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85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09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6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68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3037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25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4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0B9DE-3DC0-49F7-8019-16B455A0F367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E9818-C36D-4A93-BF58-57501F9FD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67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69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841648"/>
          </a:xfrm>
        </p:spPr>
        <p:txBody>
          <a:bodyPr>
            <a:normAutofit/>
          </a:bodyPr>
          <a:lstStyle/>
          <a:p>
            <a:r>
              <a:rPr lang="en-GB" dirty="0" smtClean="0"/>
              <a:t>Lecture two 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1124744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70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800" dirty="0">
                <a:solidFill>
                  <a:srgbClr val="000000"/>
                </a:solidFill>
                <a:latin typeface="Microsoft Sans Serif"/>
              </a:rPr>
              <a:t>AI as Study and Design of Intelligent Agents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305800" cy="4953000"/>
          </a:xfrm>
        </p:spPr>
        <p:txBody>
          <a:bodyPr>
            <a:normAutofit/>
          </a:bodyPr>
          <a:lstStyle/>
          <a:p>
            <a:pPr algn="just"/>
            <a:endParaRPr lang="en-GB" sz="2800" dirty="0">
              <a:solidFill>
                <a:srgbClr val="000000"/>
              </a:solidFill>
              <a:latin typeface="Microsoft Sans Serif"/>
            </a:endParaRPr>
          </a:p>
          <a:p>
            <a:pPr marL="114300" indent="0" algn="just">
              <a:buNone/>
            </a:pPr>
            <a:r>
              <a:rPr lang="en-GB" sz="3200" b="1" dirty="0">
                <a:solidFill>
                  <a:srgbClr val="FF0000"/>
                </a:solidFill>
                <a:latin typeface="Microsoft Sans Serif"/>
              </a:rPr>
              <a:t>Intelligent agents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: </a:t>
            </a:r>
            <a:r>
              <a:rPr lang="en-GB" sz="2800" dirty="0" err="1">
                <a:solidFill>
                  <a:srgbClr val="000000"/>
                </a:solidFill>
                <a:latin typeface="Microsoft Sans Serif"/>
              </a:rPr>
              <a:t>artifacts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 that act rationally in their environment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•Their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actions are appropriate for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their goals and circumstances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•They are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flexible to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changing environments and goals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•They 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learn from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experience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•They  make  appropriate choices given perceptual limitations and limited resources</a:t>
            </a:r>
          </a:p>
          <a:p>
            <a:pPr marL="114300" indent="0" algn="just">
              <a:buNone/>
            </a:pPr>
            <a:endParaRPr lang="en-GB" sz="2800" dirty="0">
              <a:solidFill>
                <a:srgbClr val="000000"/>
              </a:solidFill>
              <a:latin typeface="Microsoft Sans Serif"/>
            </a:endParaRPr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0328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dirty="0">
                <a:solidFill>
                  <a:srgbClr val="000000"/>
                </a:solidFill>
                <a:latin typeface="Microsoft Sans Serif"/>
              </a:rPr>
              <a:t>Robots vs. Other Intelligent Agents</a:t>
            </a:r>
            <a:br>
              <a:rPr lang="en-GB" sz="4000" dirty="0">
                <a:solidFill>
                  <a:srgbClr val="000000"/>
                </a:solidFill>
                <a:latin typeface="Microsoft Sans Serif"/>
              </a:rPr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534400" cy="5867400"/>
          </a:xfrm>
        </p:spPr>
        <p:txBody>
          <a:bodyPr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en-GB" sz="2800" dirty="0" smtClean="0">
                <a:solidFill>
                  <a:srgbClr val="000000"/>
                </a:solidFill>
                <a:latin typeface="Arial"/>
              </a:rPr>
              <a:t>•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In AI, artificial agents that have a physical presence in the world are usually known as </a:t>
            </a:r>
            <a:r>
              <a:rPr lang="en-GB" sz="2800" dirty="0" smtClean="0">
                <a:solidFill>
                  <a:srgbClr val="FF0000"/>
                </a:solidFill>
                <a:latin typeface="Microsoft Sans Serif"/>
              </a:rPr>
              <a:t>robots.</a:t>
            </a:r>
            <a:endParaRPr lang="en-GB" sz="2800" dirty="0">
              <a:solidFill>
                <a:srgbClr val="FF0000"/>
              </a:solidFill>
              <a:latin typeface="Microsoft Sans Serif"/>
            </a:endParaRP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Robotics is the field primarily concerned with the implementation of the physical aspects of a robot</a:t>
            </a:r>
          </a:p>
          <a:p>
            <a:pPr marL="114300" indent="0" algn="just">
              <a:buNone/>
            </a:pPr>
            <a:r>
              <a:rPr lang="en-GB" sz="2400" dirty="0" smtClean="0">
                <a:solidFill>
                  <a:srgbClr val="000000"/>
                </a:solidFill>
                <a:latin typeface="Wingdings"/>
              </a:rPr>
              <a:t> 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I.e., perception of and action in the physical environment</a:t>
            </a:r>
          </a:p>
          <a:p>
            <a:pPr marL="114300" indent="0" algn="just">
              <a:buNone/>
            </a:pPr>
            <a:r>
              <a:rPr lang="en-GB" sz="2400" dirty="0" smtClean="0">
                <a:solidFill>
                  <a:srgbClr val="000000"/>
                </a:solidFill>
                <a:latin typeface="Wingdings"/>
              </a:rPr>
              <a:t> 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Sensors and actuators</a:t>
            </a:r>
          </a:p>
          <a:p>
            <a:pPr marL="114300" indent="0" algn="just">
              <a:buNone/>
            </a:pPr>
            <a:r>
              <a:rPr lang="en-GB" sz="2800" dirty="0" smtClean="0">
                <a:solidFill>
                  <a:srgbClr val="FF0000"/>
                </a:solidFill>
                <a:latin typeface="Microsoft Sans Serif"/>
              </a:rPr>
              <a:t>software agents :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Agents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without a physical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presence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They also interact with an environment, but not the physical world</a:t>
            </a:r>
            <a:endParaRPr lang="en-GB" sz="2800" dirty="0">
              <a:solidFill>
                <a:srgbClr val="FF0000"/>
              </a:solidFill>
              <a:latin typeface="Microsoft Sans Serif"/>
            </a:endParaRP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E.g. desktop assistants, decision support systems, web crawlers, text-based translation systems, intelligent tutoring systems, 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etc.</a:t>
            </a:r>
            <a:endParaRPr lang="en-GB" sz="2400" dirty="0">
              <a:solidFill>
                <a:srgbClr val="000000"/>
              </a:solidFill>
              <a:latin typeface="Microsoft Sans Serif"/>
            </a:endParaRPr>
          </a:p>
          <a:p>
            <a:pPr marL="114300" indent="0" algn="just">
              <a:buNone/>
            </a:pPr>
            <a:r>
              <a:rPr lang="en-GB" sz="2800" dirty="0" smtClean="0">
                <a:solidFill>
                  <a:srgbClr val="000000"/>
                </a:solidFill>
                <a:latin typeface="Arial"/>
              </a:rPr>
              <a:t>•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Software agents and robots 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differ in their interaction with the environment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share all other fundamental components of intelligent 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behaviour</a:t>
            </a:r>
            <a:endParaRPr lang="en-GB" sz="2400" dirty="0">
              <a:solidFill>
                <a:srgbClr val="000000"/>
              </a:solidFill>
              <a:latin typeface="Microsoft Sans Serif"/>
            </a:endParaRPr>
          </a:p>
          <a:p>
            <a:pPr marL="11430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21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9153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27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620000" cy="60960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 agent </a:t>
            </a:r>
            <a:r>
              <a:rPr lang="en-GB" sz="2700" dirty="0">
                <a:latin typeface="Times New Roman" pitchFamily="18" charset="0"/>
                <a:cs typeface="Times New Roman" pitchFamily="18" charset="0"/>
              </a:rPr>
              <a:t>is anything that can be ENVIRONMENT viewed as perceiving its environment through sensors </a:t>
            </a:r>
            <a:r>
              <a:rPr lang="en-GB" sz="2700" dirty="0" smtClean="0">
                <a:latin typeface="Times New Roman" pitchFamily="18" charset="0"/>
                <a:cs typeface="Times New Roman" pitchFamily="18" charset="0"/>
              </a:rPr>
              <a:t>and SENSOR </a:t>
            </a:r>
            <a:r>
              <a:rPr lang="en-GB" sz="2700" dirty="0">
                <a:latin typeface="Times New Roman" pitchFamily="18" charset="0"/>
                <a:cs typeface="Times New Roman" pitchFamily="18" charset="0"/>
              </a:rPr>
              <a:t>acting upon that environment through </a:t>
            </a:r>
            <a:r>
              <a:rPr lang="en-GB" sz="2700" dirty="0" smtClean="0">
                <a:latin typeface="Times New Roman" pitchFamily="18" charset="0"/>
                <a:cs typeface="Times New Roman" pitchFamily="18" charset="0"/>
              </a:rPr>
              <a:t>actuators.</a:t>
            </a:r>
          </a:p>
          <a:p>
            <a:pPr marL="114300" indent="0" algn="just">
              <a:buNone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04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7620000" cy="571500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69389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825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153400" cy="64008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term </a:t>
            </a:r>
            <a:r>
              <a:rPr lang="en-GB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percept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to refer to the agent’s perceptual inputs at any given instant. </a:t>
            </a:r>
            <a:r>
              <a:rPr lang="en-GB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 agent’s </a:t>
            </a:r>
            <a:r>
              <a:rPr lang="en-GB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percept sequence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 is the complete history of everything the agent has ever perceived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Mathematically speaking, we say that an agent’s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behaviour is described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by the </a:t>
            </a:r>
            <a:r>
              <a:rPr lang="en-GB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agent function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maps any given percept sequence to an action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agent function for an artificial agent will be implemented by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GB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agent </a:t>
            </a:r>
            <a:r>
              <a:rPr lang="en-GB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. It is important to keep these two ideas distinct. The 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agent function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an abstract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mathematical description; the 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agent program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is a concrete implementation,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running within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some physical system.</a:t>
            </a:r>
          </a:p>
        </p:txBody>
      </p:sp>
    </p:spTree>
    <p:extLst>
      <p:ext uri="{BB962C8B-B14F-4D97-AF65-F5344CB8AC3E}">
        <p14:creationId xmlns:p14="http://schemas.microsoft.com/office/powerpoint/2010/main" val="369543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848600" cy="60960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To illustrate these ideas, we use a very simple example—the vacuum-cleaner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world shown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in Figure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(A).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This world is so simple that we can describe everything that happens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; it’s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also a made-up world, so we can invent many variations. This particular world has just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two locations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 squares A and B. The vacuum agent perceives which square it is in and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whether there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is dirt in the square. It can choose to move left, move right, suck up the dirt, or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do nothing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. One very simple agent function is the following: if the current square is dirty,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then suck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; otherwise, move to the other square. A partial tabulation of this agent function is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shown in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Figure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6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773" y="152400"/>
            <a:ext cx="4038600" cy="17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1905000"/>
            <a:ext cx="746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2F2B20"/>
                </a:solidFill>
              </a:rPr>
              <a:t>Figure (A) A vacuum-cleaner world with just two locations.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366665"/>
            <a:ext cx="8382000" cy="3805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8600" y="601980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2F2B20"/>
                </a:solidFill>
              </a:rPr>
              <a:t>Figure (B)Partial tabulation of a simple agent function for the vacuum-cleaner world</a:t>
            </a:r>
          </a:p>
        </p:txBody>
      </p:sp>
    </p:spTree>
    <p:extLst>
      <p:ext uri="{BB962C8B-B14F-4D97-AF65-F5344CB8AC3E}">
        <p14:creationId xmlns:p14="http://schemas.microsoft.com/office/powerpoint/2010/main" val="379192606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469</Words>
  <Application>Microsoft Office PowerPoint</Application>
  <PresentationFormat>عرض على الشاشة (3:4)‏</PresentationFormat>
  <Paragraphs>26</Paragraphs>
  <Slides>9</Slides>
  <Notes>1</Notes>
  <HiddenSlides>0</HiddenSlides>
  <MMClips>0</MMClips>
  <ScaleCrop>false</ScaleCrop>
  <HeadingPairs>
    <vt:vector size="4" baseType="variant">
      <vt:variant>
        <vt:lpstr>نسق</vt:lpstr>
      </vt:variant>
      <vt:variant>
        <vt:i4>2</vt:i4>
      </vt:variant>
      <vt:variant>
        <vt:lpstr>عناوين الشرائح</vt:lpstr>
      </vt:variant>
      <vt:variant>
        <vt:i4>9</vt:i4>
      </vt:variant>
    </vt:vector>
  </HeadingPairs>
  <TitlesOfParts>
    <vt:vector size="11" baseType="lpstr">
      <vt:lpstr>Office Theme</vt:lpstr>
      <vt:lpstr>Adjacency</vt:lpstr>
      <vt:lpstr>عرض تقديمي في PowerPoint</vt:lpstr>
      <vt:lpstr>AI as Study and Design of Intelligent Agents</vt:lpstr>
      <vt:lpstr>Robots vs. Other Intelligent Agents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najtena2003@outlook.com</dc:creator>
  <cp:lastModifiedBy>Maher</cp:lastModifiedBy>
  <cp:revision>2</cp:revision>
  <dcterms:created xsi:type="dcterms:W3CDTF">2020-03-18T19:52:39Z</dcterms:created>
  <dcterms:modified xsi:type="dcterms:W3CDTF">2025-10-31T10:35:17Z</dcterms:modified>
</cp:coreProperties>
</file>